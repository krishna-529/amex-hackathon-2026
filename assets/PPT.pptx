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6" r:id="rId17"/>
    <p:sldId id="267" r:id="rId18"/>
    <p:sldId id="262" r:id="rId8"/>
    <p:sldId id="263" r:id="rId9"/>
    <p:sldId id="264" r:id="rId10"/>
    <p:sldId id="268" r:id="rId19"/>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3.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persona, not the product: 'Priya's connection just died in Frankfurt. Today she loses three hours. We give her four minutes.' Then the three cover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this slide is from the Indian regulator, not a US proxy. The IndiGo December 2025 meltdown is the one the room will remember — 2,507 cancellations in three days and a 22.2 crore penalty.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task-mapping strip exists to score Relevance, which is the first Round 1 criterion. Point at it and say: 'every task in your brief has an owner in our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say. First: the model never has authority — sub-agents propose, OPA admits, the executor acts. Second: everything is held before it is bought, which is why we can wait 90 seconds for the Card Member without risking the seat.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gap between band 3 and band 5. 'The agent has no route to a payment API. That is a network fact, not a promise.' Then read the invariant.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India's regime is duty-of-care in kind — meals, hotel, transfers, re-accommodation — not cash. That is precisely what an agent can EXECUTE rather than file. Force majeure removes the cash slab but never the care obligation; that asymmetry is encoded in the last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lines to deliver here. First: the challenge page recommends Amadeus, and Amadeus switched off its free tier ten days ago — we checked. Second: our burst design point is the IndiGo December meltdown, a real Indian event, not a hypothetical storm.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Pool A is quoted in dollars because the only public cost-per-contact benchmark is Gartner's global one. Say plainly that Indian contact-centre cost is lower, so this is an upper bound — that honesty is worth more than a fabricated rupee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interaction claim: if the traveller does nothing, the plan still executes — that is the difference between an assistant and a concierge. The delivery strip shows we know where we are on the competition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two-sentence thesis, not the metrics. Say thank you out loud and then stop talking — the corner mark is there so you do not have to fill the silence. 'Notification problem versus execution problem' is the line you want repeated back in the judges' room. The three-minute demo shot list lives in the Claude Code prompt, not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B3D"/>
        </a:solidFill>
      </p:bgPr>
    </p:bg>
    <p:spTree>
      <p:nvGrpSpPr>
        <p:cNvPr id="1" name=""/>
        <p:cNvGrpSpPr/>
        <p:nvPr/>
      </p:nvGrpSpPr>
      <p:grpSpPr>
        <a:xfrm>
          <a:off x="0" y="0"/>
          <a:ext cx="0" cy="0"/>
          <a:chOff x="0" y="0"/>
          <a:chExt cx="0" cy="0"/>
        </a:xfrm>
      </p:grpSpPr>
      <p:sp>
        <p:nvSpPr>
          <p:cNvPr id="2" name="Shape 0"/>
          <p:cNvSpPr/>
          <p:nvPr/>
        </p:nvSpPr>
        <p:spPr>
          <a:xfrm rot="1080000">
            <a:off x="-2926080" y="-2377440"/>
            <a:ext cx="7680960" cy="7680960"/>
          </a:xfrm>
          <a:prstGeom prst="roundRect">
            <a:avLst>
              <a:gd name="adj" fmla="val 5952"/>
            </a:avLst>
          </a:prstGeom>
          <a:solidFill>
            <a:srgbClr val="0E2450"/>
          </a:solidFill>
          <a:ln w="12700">
            <a:solidFill>
              <a:srgbClr val="333333"/>
            </a:solidFill>
            <a:prstDash val="solid"/>
          </a:ln>
        </p:spPr>
        <p:txBody>
          <a:bodyPr/>
          <a:p/>
        </p:txBody>
      </p:sp>
      <p:sp>
        <p:nvSpPr>
          <p:cNvPr id="3" name="Shape 1"/>
          <p:cNvSpPr/>
          <p:nvPr/>
        </p:nvSpPr>
        <p:spPr>
          <a:xfrm>
            <a:off x="8321040" y="-1737360"/>
            <a:ext cx="6035040" cy="6035040"/>
          </a:xfrm>
          <a:prstGeom prst="ellipse">
            <a:avLst/>
          </a:prstGeom>
          <a:solidFill>
            <a:srgbClr val="10275A"/>
          </a:solidFill>
          <a:ln w="12700">
            <a:solidFill>
              <a:srgbClr val="333333"/>
            </a:solidFill>
            <a:prstDash val="solid"/>
          </a:ln>
        </p:spPr>
        <p:txBody>
          <a:bodyPr/>
          <a:p/>
        </p:txBody>
      </p:sp>
      <p:sp>
        <p:nvSpPr>
          <p:cNvPr id="4" name="Shape 2"/>
          <p:cNvSpPr/>
          <p:nvPr/>
        </p:nvSpPr>
        <p:spPr>
          <a:xfrm>
            <a:off x="9509760" y="-548640"/>
            <a:ext cx="3566160" cy="3566160"/>
          </a:xfrm>
          <a:prstGeom prst="ellipse">
            <a:avLst/>
          </a:prstGeom>
          <a:solidFill>
            <a:srgbClr val="16336F"/>
          </a:solidFill>
          <a:ln w="12700">
            <a:solidFill>
              <a:srgbClr val="333333"/>
            </a:solidFill>
            <a:prstDash val="solid"/>
          </a:ln>
        </p:spPr>
        <p:txBody>
          <a:bodyPr/>
          <a:p/>
        </p:txBody>
      </p:sp>
      <p:sp>
        <p:nvSpPr>
          <p:cNvPr id="5" name="Text 3"/>
          <p:cNvSpPr/>
          <p:nvPr/>
        </p:nvSpPr>
        <p:spPr>
          <a:xfrm>
            <a:off x="457200" y="1188720"/>
            <a:ext cx="10515600" cy="256032"/>
          </a:xfrm>
          <a:prstGeom prst="rect">
            <a:avLst/>
          </a:prstGeom>
          <a:noFill/>
          <a:ln/>
        </p:spPr>
        <p:txBody>
          <a:bodyPr wrap="square" lIns="0" tIns="0" rIns="0" bIns="0" rtlCol="0" anchor="ctr"/>
          <a:lstStyle/>
          <a:p>
            <a:pPr indent="0" marL="0">
              <a:buNone/>
            </a:pPr>
            <a:r>
              <a:rPr lang="en-US" sz="1050" b="1" spc="240" kern="0" dirty="0">
                <a:solidFill>
                  <a:srgbClr val="3D9CFF"/>
                </a:solidFill>
                <a:latin typeface="Calibri" pitchFamily="34" charset="0"/>
                <a:ea typeface="Calibri" pitchFamily="34" charset="-122"/>
                <a:cs typeface="Calibri" pitchFamily="34" charset="-120"/>
              </a:rPr>
              <a:t>CODESTREET 2026  ·  AMERICAN EXPRESS  ·  ROUND 1</a:t>
            </a:r>
            <a:endParaRPr lang="en-US" sz="1050" dirty="0"/>
          </a:p>
        </p:txBody>
      </p:sp>
      <p:sp>
        <p:nvSpPr>
          <p:cNvPr id="6" name="Text 4"/>
          <p:cNvSpPr/>
          <p:nvPr/>
        </p:nvSpPr>
        <p:spPr>
          <a:xfrm>
            <a:off x="457200" y="1591056"/>
            <a:ext cx="8778240" cy="1691640"/>
          </a:xfrm>
          <a:prstGeom prst="rect">
            <a:avLst/>
          </a:prstGeom>
          <a:noFill/>
          <a:ln/>
        </p:spPr>
        <p:txBody>
          <a:bodyPr wrap="square" lIns="0" tIns="0" rIns="0" bIns="0" rtlCol="0" anchor="ctr"/>
          <a:lstStyle/>
          <a:p>
            <a:pPr indent="0" marL="0">
              <a:lnSpc>
                <a:spcPts val="4600"/>
              </a:lnSpc>
              <a:buNone/>
            </a:pPr>
            <a:r>
              <a:rPr lang="en-US" sz="4400" b="1" dirty="0">
                <a:solidFill>
                  <a:srgbClr val="FFFFFF"/>
                </a:solidFill>
                <a:latin typeface="Cambria" pitchFamily="34" charset="0"/>
                <a:ea typeface="Cambria" pitchFamily="34" charset="-122"/>
                <a:cs typeface="Cambria" pitchFamily="34" charset="-120"/>
              </a:rPr>
              <a:t>Autonomous Travel-</a:t>
            </a:r>
            <a:endParaRPr lang="en-US" sz="4400" dirty="0"/>
          </a:p>
          <a:p>
            <a:pPr indent="0" marL="0">
              <a:lnSpc>
                <a:spcPts val="4600"/>
              </a:lnSpc>
              <a:buNone/>
            </a:pPr>
            <a:r>
              <a:rPr lang="en-US" sz="4400" b="1" dirty="0">
                <a:solidFill>
                  <a:srgbClr val="FFFFFF"/>
                </a:solidFill>
                <a:latin typeface="Cambria" pitchFamily="34" charset="0"/>
                <a:ea typeface="Cambria" pitchFamily="34" charset="-122"/>
                <a:cs typeface="Cambria" pitchFamily="34" charset="-120"/>
              </a:rPr>
              <a:t>Disruption Concierge</a:t>
            </a:r>
            <a:endParaRPr lang="en-US" sz="4400" dirty="0"/>
          </a:p>
        </p:txBody>
      </p:sp>
      <p:sp>
        <p:nvSpPr>
          <p:cNvPr id="7" name="Text 5"/>
          <p:cNvSpPr/>
          <p:nvPr/>
        </p:nvSpPr>
        <p:spPr>
          <a:xfrm>
            <a:off x="457200" y="3346704"/>
            <a:ext cx="7863840" cy="548640"/>
          </a:xfrm>
          <a:prstGeom prst="rect">
            <a:avLst/>
          </a:prstGeom>
          <a:noFill/>
          <a:ln/>
        </p:spPr>
        <p:txBody>
          <a:bodyPr wrap="square" lIns="0" tIns="0" rIns="0" bIns="0" rtlCol="0" anchor="ctr"/>
          <a:lstStyle/>
          <a:p>
            <a:pPr indent="0" marL="0">
              <a:lnSpc>
                <a:spcPts val="2100"/>
              </a:lnSpc>
              <a:buNone/>
            </a:pPr>
            <a:r>
              <a:rPr lang="en-US" sz="1400" dirty="0">
                <a:solidFill>
                  <a:srgbClr val="A9BEDC"/>
                </a:solidFill>
                <a:latin typeface="Calibri" pitchFamily="34" charset="0"/>
                <a:ea typeface="Calibri" pitchFamily="34" charset="-122"/>
                <a:cs typeface="Calibri" pitchFamily="34" charset="-120"/>
              </a:rPr>
              <a:t>It re-books the flight, moves the hotel and the cab, and claims every duty of care DGCA already owes the traveller — in about eleven seconds, without a phone call.</a:t>
            </a:r>
            <a:endParaRPr lang="en-US" sz="1400" dirty="0"/>
          </a:p>
        </p:txBody>
      </p:sp>
      <p:sp>
        <p:nvSpPr>
          <p:cNvPr id="8" name="Shape 6"/>
          <p:cNvSpPr/>
          <p:nvPr/>
        </p:nvSpPr>
        <p:spPr>
          <a:xfrm>
            <a:off x="457200" y="4206240"/>
            <a:ext cx="2596896" cy="1152144"/>
          </a:xfrm>
          <a:prstGeom prst="roundRect">
            <a:avLst>
              <a:gd name="adj" fmla="val 4762"/>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sp>
        <p:nvSpPr>
          <p:cNvPr id="9" name="Text 7"/>
          <p:cNvSpPr/>
          <p:nvPr/>
        </p:nvSpPr>
        <p:spPr>
          <a:xfrm>
            <a:off x="658368" y="4325112"/>
            <a:ext cx="2194560" cy="420624"/>
          </a:xfrm>
          <a:prstGeom prst="rect">
            <a:avLst/>
          </a:prstGeom>
          <a:noFill/>
          <a:ln/>
        </p:spPr>
        <p:txBody>
          <a:bodyPr wrap="square" lIns="0" tIns="0" rIns="0" bIns="0" rtlCol="0" anchor="ctr"/>
          <a:lstStyle/>
          <a:p>
            <a:pPr indent="0" marL="0">
              <a:buNone/>
            </a:pPr>
            <a:r>
              <a:rPr lang="en-US" sz="2500" b="1" dirty="0">
                <a:solidFill>
                  <a:srgbClr val="3D9CFF"/>
                </a:solidFill>
                <a:latin typeface="Cambria" pitchFamily="34" charset="0"/>
                <a:ea typeface="Cambria" pitchFamily="34" charset="-122"/>
                <a:cs typeface="Cambria" pitchFamily="34" charset="-120"/>
              </a:rPr>
              <a:t>~11 s</a:t>
            </a:r>
            <a:endParaRPr lang="en-US" sz="2500" dirty="0"/>
          </a:p>
        </p:txBody>
      </p:sp>
      <p:sp>
        <p:nvSpPr>
          <p:cNvPr id="10" name="Text 8"/>
          <p:cNvSpPr/>
          <p:nvPr/>
        </p:nvSpPr>
        <p:spPr>
          <a:xfrm>
            <a:off x="658368" y="4764024"/>
            <a:ext cx="2267712" cy="512064"/>
          </a:xfrm>
          <a:prstGeom prst="rect">
            <a:avLst/>
          </a:prstGeom>
          <a:noFill/>
          <a:ln/>
        </p:spPr>
        <p:txBody>
          <a:bodyPr wrap="square" lIns="0" tIns="0" rIns="0" bIns="0" rtlCol="0" anchor="ctr"/>
          <a:lstStyle/>
          <a:p>
            <a:pPr indent="0" marL="0">
              <a:lnSpc>
                <a:spcPts val="1100"/>
              </a:lnSpc>
              <a:buNone/>
            </a:pPr>
            <a:r>
              <a:rPr lang="en-US" sz="900" dirty="0">
                <a:solidFill>
                  <a:srgbClr val="A9BEDC"/>
                </a:solidFill>
                <a:latin typeface="Calibri" pitchFamily="34" charset="0"/>
                <a:ea typeface="Calibri" pitchFamily="34" charset="-122"/>
                <a:cs typeface="Calibri" pitchFamily="34" charset="-120"/>
              </a:rPr>
              <a:t>cancellation to a confirmed,</a:t>
            </a:r>
            <a:endParaRPr lang="en-US" sz="900" dirty="0"/>
          </a:p>
          <a:p>
            <a:pPr indent="0" marL="0">
              <a:lnSpc>
                <a:spcPts val="1100"/>
              </a:lnSpc>
              <a:buNone/>
            </a:pPr>
            <a:r>
              <a:rPr lang="en-US" sz="900" dirty="0">
                <a:solidFill>
                  <a:srgbClr val="A9BEDC"/>
                </a:solidFill>
                <a:latin typeface="Calibri" pitchFamily="34" charset="0"/>
                <a:ea typeface="Calibri" pitchFamily="34" charset="-122"/>
                <a:cs typeface="Calibri" pitchFamily="34" charset="-120"/>
              </a:rPr>
              <a:t>paid-for trip</a:t>
            </a:r>
            <a:endParaRPr lang="en-US" sz="900" dirty="0"/>
          </a:p>
        </p:txBody>
      </p:sp>
      <p:sp>
        <p:nvSpPr>
          <p:cNvPr id="11" name="Shape 9"/>
          <p:cNvSpPr/>
          <p:nvPr/>
        </p:nvSpPr>
        <p:spPr>
          <a:xfrm>
            <a:off x="3273552" y="4206240"/>
            <a:ext cx="2596896" cy="1152144"/>
          </a:xfrm>
          <a:prstGeom prst="roundRect">
            <a:avLst>
              <a:gd name="adj" fmla="val 4762"/>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sp>
        <p:nvSpPr>
          <p:cNvPr id="12" name="Text 10"/>
          <p:cNvSpPr/>
          <p:nvPr/>
        </p:nvSpPr>
        <p:spPr>
          <a:xfrm>
            <a:off x="3474720" y="4325112"/>
            <a:ext cx="2194560" cy="420624"/>
          </a:xfrm>
          <a:prstGeom prst="rect">
            <a:avLst/>
          </a:prstGeom>
          <a:noFill/>
          <a:ln/>
        </p:spPr>
        <p:txBody>
          <a:bodyPr wrap="square" lIns="0" tIns="0" rIns="0" bIns="0" rtlCol="0" anchor="ctr"/>
          <a:lstStyle/>
          <a:p>
            <a:pPr indent="0" marL="0">
              <a:buNone/>
            </a:pPr>
            <a:r>
              <a:rPr lang="en-US" sz="2500" b="1" dirty="0">
                <a:solidFill>
                  <a:srgbClr val="3D9CFF"/>
                </a:solidFill>
                <a:latin typeface="Cambria" pitchFamily="34" charset="0"/>
                <a:ea typeface="Cambria" pitchFamily="34" charset="-122"/>
                <a:cs typeface="Cambria" pitchFamily="34" charset="-120"/>
              </a:rPr>
              <a:t>42 s</a:t>
            </a:r>
            <a:endParaRPr lang="en-US" sz="2500" dirty="0"/>
          </a:p>
        </p:txBody>
      </p:sp>
      <p:sp>
        <p:nvSpPr>
          <p:cNvPr id="13" name="Text 11"/>
          <p:cNvSpPr/>
          <p:nvPr/>
        </p:nvSpPr>
        <p:spPr>
          <a:xfrm>
            <a:off x="3474720" y="4764024"/>
            <a:ext cx="2267712" cy="512064"/>
          </a:xfrm>
          <a:prstGeom prst="rect">
            <a:avLst/>
          </a:prstGeom>
          <a:noFill/>
          <a:ln/>
        </p:spPr>
        <p:txBody>
          <a:bodyPr wrap="square" lIns="0" tIns="0" rIns="0" bIns="0" rtlCol="0" anchor="ctr"/>
          <a:lstStyle/>
          <a:p>
            <a:pPr indent="0" marL="0">
              <a:lnSpc>
                <a:spcPts val="1100"/>
              </a:lnSpc>
              <a:buNone/>
            </a:pPr>
            <a:r>
              <a:rPr lang="en-US" sz="900" dirty="0">
                <a:solidFill>
                  <a:srgbClr val="A9BEDC"/>
                </a:solidFill>
                <a:latin typeface="Calibri" pitchFamily="34" charset="0"/>
                <a:ea typeface="Calibri" pitchFamily="34" charset="-122"/>
                <a:cs typeface="Calibri" pitchFamily="34" charset="-120"/>
              </a:rPr>
              <a:t>of the work already done</a:t>
            </a:r>
            <a:endParaRPr lang="en-US" sz="900" dirty="0"/>
          </a:p>
          <a:p>
            <a:pPr indent="0" marL="0">
              <a:lnSpc>
                <a:spcPts val="1100"/>
              </a:lnSpc>
              <a:buNone/>
            </a:pPr>
            <a:r>
              <a:rPr lang="en-US" sz="900" dirty="0">
                <a:solidFill>
                  <a:srgbClr val="A9BEDC"/>
                </a:solidFill>
                <a:latin typeface="Calibri" pitchFamily="34" charset="0"/>
                <a:ea typeface="Calibri" pitchFamily="34" charset="-122"/>
                <a:cs typeface="Calibri" pitchFamily="34" charset="-120"/>
              </a:rPr>
              <a:t>before it happens</a:t>
            </a:r>
            <a:endParaRPr lang="en-US" sz="900" dirty="0"/>
          </a:p>
        </p:txBody>
      </p:sp>
      <p:sp>
        <p:nvSpPr>
          <p:cNvPr id="14" name="Shape 12"/>
          <p:cNvSpPr/>
          <p:nvPr/>
        </p:nvSpPr>
        <p:spPr>
          <a:xfrm>
            <a:off x="6089904" y="4206240"/>
            <a:ext cx="2596896" cy="1152144"/>
          </a:xfrm>
          <a:prstGeom prst="roundRect">
            <a:avLst>
              <a:gd name="adj" fmla="val 4762"/>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sp>
        <p:nvSpPr>
          <p:cNvPr id="15" name="Text 13"/>
          <p:cNvSpPr/>
          <p:nvPr/>
        </p:nvSpPr>
        <p:spPr>
          <a:xfrm>
            <a:off x="6291072" y="4325112"/>
            <a:ext cx="2194560" cy="420624"/>
          </a:xfrm>
          <a:prstGeom prst="rect">
            <a:avLst/>
          </a:prstGeom>
          <a:noFill/>
          <a:ln/>
        </p:spPr>
        <p:txBody>
          <a:bodyPr wrap="square" lIns="0" tIns="0" rIns="0" bIns="0" rtlCol="0" anchor="ctr"/>
          <a:lstStyle/>
          <a:p>
            <a:pPr indent="0" marL="0">
              <a:buNone/>
            </a:pPr>
            <a:r>
              <a:rPr lang="en-US" sz="2500" b="1" dirty="0">
                <a:solidFill>
                  <a:srgbClr val="3D9CFF"/>
                </a:solidFill>
                <a:latin typeface="Cambria" pitchFamily="34" charset="0"/>
                <a:ea typeface="Cambria" pitchFamily="34" charset="-122"/>
                <a:cs typeface="Cambria" pitchFamily="34" charset="-120"/>
              </a:rPr>
              <a:t>3</a:t>
            </a:r>
            <a:endParaRPr lang="en-US" sz="2500" dirty="0"/>
          </a:p>
        </p:txBody>
      </p:sp>
      <p:sp>
        <p:nvSpPr>
          <p:cNvPr id="16" name="Text 14"/>
          <p:cNvSpPr/>
          <p:nvPr/>
        </p:nvSpPr>
        <p:spPr>
          <a:xfrm>
            <a:off x="6291072" y="4764024"/>
            <a:ext cx="2267712" cy="512064"/>
          </a:xfrm>
          <a:prstGeom prst="rect">
            <a:avLst/>
          </a:prstGeom>
          <a:noFill/>
          <a:ln/>
        </p:spPr>
        <p:txBody>
          <a:bodyPr wrap="square" lIns="0" tIns="0" rIns="0" bIns="0" rtlCol="0" anchor="ctr"/>
          <a:lstStyle/>
          <a:p>
            <a:pPr indent="0" marL="0">
              <a:lnSpc>
                <a:spcPts val="1100"/>
              </a:lnSpc>
              <a:buNone/>
            </a:pPr>
            <a:r>
              <a:rPr lang="en-US" sz="900" dirty="0">
                <a:solidFill>
                  <a:srgbClr val="A9BEDC"/>
                </a:solidFill>
                <a:latin typeface="Calibri" pitchFamily="34" charset="0"/>
                <a:ea typeface="Calibri" pitchFamily="34" charset="-122"/>
                <a:cs typeface="Calibri" pitchFamily="34" charset="-120"/>
              </a:rPr>
              <a:t>consent modes, one</a:t>
            </a:r>
            <a:endParaRPr lang="en-US" sz="900" dirty="0"/>
          </a:p>
          <a:p>
            <a:pPr indent="0" marL="0">
              <a:lnSpc>
                <a:spcPts val="1100"/>
              </a:lnSpc>
              <a:buNone/>
            </a:pPr>
            <a:r>
              <a:rPr lang="en-US" sz="900" dirty="0">
                <a:solidFill>
                  <a:srgbClr val="A9BEDC"/>
                </a:solidFill>
                <a:latin typeface="Calibri" pitchFamily="34" charset="0"/>
                <a:ea typeface="Calibri" pitchFamily="34" charset="-122"/>
                <a:cs typeface="Calibri" pitchFamily="34" charset="-120"/>
              </a:rPr>
              <a:t>default-deny policy gate</a:t>
            </a:r>
            <a:endParaRPr lang="en-US" sz="900" dirty="0"/>
          </a:p>
        </p:txBody>
      </p:sp>
      <p:sp>
        <p:nvSpPr>
          <p:cNvPr id="17" name="Shape 15"/>
          <p:cNvSpPr/>
          <p:nvPr/>
        </p:nvSpPr>
        <p:spPr>
          <a:xfrm>
            <a:off x="8906256" y="4206240"/>
            <a:ext cx="2596896" cy="1152144"/>
          </a:xfrm>
          <a:prstGeom prst="roundRect">
            <a:avLst>
              <a:gd name="adj" fmla="val 4762"/>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18" name="Text 16"/>
          <p:cNvSpPr/>
          <p:nvPr/>
        </p:nvSpPr>
        <p:spPr>
          <a:xfrm>
            <a:off x="9107424" y="4325112"/>
            <a:ext cx="2194560" cy="420624"/>
          </a:xfrm>
          <a:prstGeom prst="rect">
            <a:avLst/>
          </a:prstGeom>
          <a:noFill/>
          <a:ln/>
        </p:spPr>
        <p:txBody>
          <a:bodyPr wrap="square" lIns="0" tIns="0" rIns="0" bIns="0" rtlCol="0" anchor="ctr"/>
          <a:lstStyle/>
          <a:p>
            <a:pPr indent="0" marL="0">
              <a:buNone/>
            </a:pPr>
            <a:r>
              <a:rPr lang="en-US" sz="2500" b="1" dirty="0">
                <a:solidFill>
                  <a:srgbClr val="3D9CFF"/>
                </a:solidFill>
                <a:latin typeface="Cambria" pitchFamily="34" charset="0"/>
                <a:ea typeface="Cambria" pitchFamily="34" charset="-122"/>
                <a:cs typeface="Cambria" pitchFamily="34" charset="-120"/>
              </a:rPr>
              <a:t>100%</a:t>
            </a:r>
            <a:endParaRPr lang="en-US" sz="2500" dirty="0"/>
          </a:p>
        </p:txBody>
      </p:sp>
      <p:sp>
        <p:nvSpPr>
          <p:cNvPr id="19" name="Text 17"/>
          <p:cNvSpPr/>
          <p:nvPr/>
        </p:nvSpPr>
        <p:spPr>
          <a:xfrm>
            <a:off x="9107424" y="4764024"/>
            <a:ext cx="2267712" cy="512064"/>
          </a:xfrm>
          <a:prstGeom prst="rect">
            <a:avLst/>
          </a:prstGeom>
          <a:noFill/>
          <a:ln/>
        </p:spPr>
        <p:txBody>
          <a:bodyPr wrap="square" lIns="0" tIns="0" rIns="0" bIns="0" rtlCol="0" anchor="ctr"/>
          <a:lstStyle/>
          <a:p>
            <a:pPr indent="0" marL="0">
              <a:lnSpc>
                <a:spcPts val="1100"/>
              </a:lnSpc>
              <a:buNone/>
            </a:pPr>
            <a:r>
              <a:rPr lang="en-US" sz="900" dirty="0">
                <a:solidFill>
                  <a:srgbClr val="A9BEDC"/>
                </a:solidFill>
                <a:latin typeface="Calibri" pitchFamily="34" charset="0"/>
                <a:ea typeface="Calibri" pitchFamily="34" charset="-122"/>
                <a:cs typeface="Calibri" pitchFamily="34" charset="-120"/>
              </a:rPr>
              <a:t>agent actions passed</a:t>
            </a:r>
            <a:endParaRPr lang="en-US" sz="900" dirty="0"/>
          </a:p>
          <a:p>
            <a:pPr indent="0" marL="0">
              <a:lnSpc>
                <a:spcPts val="1100"/>
              </a:lnSpc>
              <a:buNone/>
            </a:pPr>
            <a:r>
              <a:rPr lang="en-US" sz="900" dirty="0">
                <a:solidFill>
                  <a:srgbClr val="A9BEDC"/>
                </a:solidFill>
                <a:latin typeface="Calibri" pitchFamily="34" charset="0"/>
                <a:ea typeface="Calibri" pitchFamily="34" charset="-122"/>
                <a:cs typeface="Calibri" pitchFamily="34" charset="-120"/>
              </a:rPr>
              <a:t>through OPA / Rego</a:t>
            </a:r>
            <a:endParaRPr lang="en-US" sz="900" dirty="0"/>
          </a:p>
        </p:txBody>
      </p:sp>
      <p:sp>
        <p:nvSpPr>
          <p:cNvPr id="20" name="Shape 18"/>
          <p:cNvSpPr/>
          <p:nvPr/>
        </p:nvSpPr>
        <p:spPr>
          <a:xfrm>
            <a:off x="457200" y="5522976"/>
            <a:ext cx="11274552" cy="731520"/>
          </a:xfrm>
          <a:prstGeom prst="roundRect">
            <a:avLst>
              <a:gd name="adj" fmla="val 7500"/>
            </a:avLst>
          </a:prstGeom>
          <a:solidFill>
            <a:srgbClr val="1B3A69"/>
          </a:solidFill>
          <a:ln w="6350">
            <a:solidFill>
              <a:srgbClr val="1B3A69"/>
            </a:solidFill>
            <a:prstDash val="solid"/>
          </a:ln>
          <a:effectLst>
            <a:outerShdw sx="100000" sy="100000" kx="0" ky="0" algn="bl" rotWithShape="0" blurRad="114300" dist="25400" dir="5400000">
              <a:srgbClr val="000000">
                <a:alpha val="34000"/>
              </a:srgbClr>
            </a:outerShdw>
          </a:effectLst>
        </p:spPr>
      </p:sp>
      <p:sp>
        <p:nvSpPr>
          <p:cNvPr id="21" name="Text 19"/>
          <p:cNvSpPr/>
          <p:nvPr/>
        </p:nvSpPr>
        <p:spPr>
          <a:xfrm>
            <a:off x="713232" y="5623560"/>
            <a:ext cx="1645920" cy="201168"/>
          </a:xfrm>
          <a:prstGeom prst="rect">
            <a:avLst/>
          </a:prstGeom>
          <a:noFill/>
          <a:ln/>
        </p:spPr>
        <p:txBody>
          <a:bodyPr wrap="square" lIns="0" tIns="0" rIns="0" bIns="0" rtlCol="0" anchor="ctr"/>
          <a:lstStyle/>
          <a:p>
            <a:pPr indent="0" marL="0">
              <a:buNone/>
            </a:pPr>
            <a:r>
              <a:rPr lang="en-US" sz="800" b="1" spc="160" kern="0" dirty="0">
                <a:solidFill>
                  <a:srgbClr val="7B94BA"/>
                </a:solidFill>
                <a:latin typeface="Calibri" pitchFamily="34" charset="0"/>
                <a:ea typeface="Calibri" pitchFamily="34" charset="-122"/>
                <a:cs typeface="Calibri" pitchFamily="34" charset="-120"/>
              </a:rPr>
              <a:t>PRESENTED BY</a:t>
            </a:r>
            <a:endParaRPr lang="en-US" sz="800" dirty="0"/>
          </a:p>
        </p:txBody>
      </p:sp>
      <p:sp>
        <p:nvSpPr>
          <p:cNvPr id="22" name="Text 20"/>
          <p:cNvSpPr/>
          <p:nvPr/>
        </p:nvSpPr>
        <p:spPr>
          <a:xfrm>
            <a:off x="713232" y="5824728"/>
            <a:ext cx="1645920" cy="310896"/>
          </a:xfrm>
          <a:prstGeom prst="rect">
            <a:avLst/>
          </a:prstGeom>
          <a:noFill/>
          <a:ln/>
        </p:spPr>
        <p:txBody>
          <a:bodyPr wrap="square" lIns="0" tIns="0" rIns="0" bIns="0" rtlCol="0" anchor="ctr"/>
          <a:lstStyle/>
          <a:p>
            <a:pPr indent="0" marL="0">
              <a:buNone/>
            </a:pPr>
            <a:r>
              <a:rPr lang="en-US" sz="1700" b="1" dirty="0">
                <a:solidFill>
                  <a:srgbClr val="3D9CFF"/>
                </a:solidFill>
                <a:latin typeface="Cambria" pitchFamily="34" charset="0"/>
                <a:ea typeface="Cambria" pitchFamily="34" charset="-122"/>
                <a:cs typeface="Cambria" pitchFamily="34" charset="-120"/>
              </a:rPr>
              <a:t>TEAM ZKD</a:t>
            </a:r>
            <a:endParaRPr lang="en-US" sz="1700" dirty="0"/>
          </a:p>
        </p:txBody>
      </p:sp>
      <p:sp>
        <p:nvSpPr>
          <p:cNvPr id="23" name="Shape 21"/>
          <p:cNvSpPr/>
          <p:nvPr/>
        </p:nvSpPr>
        <p:spPr>
          <a:xfrm>
            <a:off x="2697480" y="5724144"/>
            <a:ext cx="100584" cy="100584"/>
          </a:xfrm>
          <a:prstGeom prst="ellipse">
            <a:avLst/>
          </a:prstGeom>
          <a:solidFill>
            <a:srgbClr val="3D9CFF"/>
          </a:solidFill>
          <a:ln w="12700">
            <a:solidFill>
              <a:srgbClr val="333333"/>
            </a:solidFill>
            <a:prstDash val="solid"/>
          </a:ln>
        </p:spPr>
      </p:sp>
      <p:sp>
        <p:nvSpPr>
          <p:cNvPr id="24" name="Text 22"/>
          <p:cNvSpPr/>
          <p:nvPr/>
        </p:nvSpPr>
        <p:spPr>
          <a:xfrm>
            <a:off x="2880360" y="5641848"/>
            <a:ext cx="2048256"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 Zayaan</a:t>
            </a:r>
            <a:endParaRPr lang="en-US" sz="1100" dirty="0"/>
          </a:p>
        </p:txBody>
      </p:sp>
      <p:sp>
        <p:nvSpPr>
          <p:cNvPr id="25" name="Text 23"/>
          <p:cNvSpPr/>
          <p:nvPr/>
        </p:nvSpPr>
        <p:spPr>
          <a:xfrm>
            <a:off x="2880360" y="5879592"/>
            <a:ext cx="2048256" cy="219456"/>
          </a:xfrm>
          <a:prstGeom prst="rect">
            <a:avLst/>
          </a:prstGeom>
          <a:noFill/>
          <a:ln/>
        </p:spPr>
        <p:txBody>
          <a:bodyPr wrap="square" lIns="0" tIns="0" rIns="0" bIns="0" rtlCol="0" anchor="ctr"/>
          <a:lstStyle/>
          <a:p>
            <a:pPr indent="0" marL="0">
              <a:buNone/>
            </a:pPr>
            <a:r>
              <a:rPr lang="en-US" sz="900" dirty="0">
                <a:solidFill>
                  <a:srgbClr val="A9BEDC"/>
                </a:solidFill>
                <a:latin typeface="Courier New" pitchFamily="34" charset="0"/>
                <a:ea typeface="Courier New" pitchFamily="34" charset="-122"/>
                <a:cs typeface="Courier New" pitchFamily="34" charset="-120"/>
              </a:rPr>
              <a:t>CE23B092</a:t>
            </a:r>
            <a:endParaRPr lang="en-US" sz="900" dirty="0"/>
          </a:p>
        </p:txBody>
      </p:sp>
      <p:sp>
        <p:nvSpPr>
          <p:cNvPr id="26" name="Shape 24"/>
          <p:cNvSpPr/>
          <p:nvPr/>
        </p:nvSpPr>
        <p:spPr>
          <a:xfrm>
            <a:off x="5001768" y="5724144"/>
            <a:ext cx="100584" cy="100584"/>
          </a:xfrm>
          <a:prstGeom prst="ellipse">
            <a:avLst/>
          </a:prstGeom>
          <a:solidFill>
            <a:srgbClr val="3D9CFF"/>
          </a:solidFill>
          <a:ln w="12700">
            <a:solidFill>
              <a:srgbClr val="333333"/>
            </a:solidFill>
            <a:prstDash val="solid"/>
          </a:ln>
        </p:spPr>
      </p:sp>
      <p:sp>
        <p:nvSpPr>
          <p:cNvPr id="27" name="Text 25"/>
          <p:cNvSpPr/>
          <p:nvPr/>
        </p:nvSpPr>
        <p:spPr>
          <a:xfrm>
            <a:off x="5184648" y="5641848"/>
            <a:ext cx="2048256"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Krishna Satyam</a:t>
            </a:r>
            <a:endParaRPr lang="en-US" sz="1100" dirty="0"/>
          </a:p>
        </p:txBody>
      </p:sp>
      <p:sp>
        <p:nvSpPr>
          <p:cNvPr id="28" name="Text 26"/>
          <p:cNvSpPr/>
          <p:nvPr/>
        </p:nvSpPr>
        <p:spPr>
          <a:xfrm>
            <a:off x="5184648" y="5879592"/>
            <a:ext cx="2048256" cy="219456"/>
          </a:xfrm>
          <a:prstGeom prst="rect">
            <a:avLst/>
          </a:prstGeom>
          <a:noFill/>
          <a:ln/>
        </p:spPr>
        <p:txBody>
          <a:bodyPr wrap="square" lIns="0" tIns="0" rIns="0" bIns="0" rtlCol="0" anchor="ctr"/>
          <a:lstStyle/>
          <a:p>
            <a:pPr indent="0" marL="0">
              <a:buNone/>
            </a:pPr>
            <a:r>
              <a:rPr lang="en-US" sz="900" dirty="0">
                <a:solidFill>
                  <a:srgbClr val="A9BEDC"/>
                </a:solidFill>
                <a:latin typeface="Courier New" pitchFamily="34" charset="0"/>
                <a:ea typeface="Courier New" pitchFamily="34" charset="-122"/>
                <a:cs typeface="Courier New" pitchFamily="34" charset="-120"/>
              </a:rPr>
              <a:t>CE23B086</a:t>
            </a:r>
            <a:endParaRPr lang="en-US" sz="900" dirty="0"/>
          </a:p>
        </p:txBody>
      </p:sp>
      <p:sp>
        <p:nvSpPr>
          <p:cNvPr id="29" name="Shape 27"/>
          <p:cNvSpPr/>
          <p:nvPr/>
        </p:nvSpPr>
        <p:spPr>
          <a:xfrm>
            <a:off x="7306056" y="5724144"/>
            <a:ext cx="100584" cy="100584"/>
          </a:xfrm>
          <a:prstGeom prst="ellipse">
            <a:avLst/>
          </a:prstGeom>
          <a:solidFill>
            <a:srgbClr val="3D9CFF"/>
          </a:solidFill>
          <a:ln w="12700">
            <a:solidFill>
              <a:srgbClr val="333333"/>
            </a:solidFill>
            <a:prstDash val="solid"/>
          </a:ln>
        </p:spPr>
      </p:sp>
      <p:sp>
        <p:nvSpPr>
          <p:cNvPr id="30" name="Text 28"/>
          <p:cNvSpPr/>
          <p:nvPr/>
        </p:nvSpPr>
        <p:spPr>
          <a:xfrm>
            <a:off x="7488936" y="5641848"/>
            <a:ext cx="2048256"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Dhawal Khatri</a:t>
            </a:r>
            <a:endParaRPr lang="en-US" sz="1100" dirty="0"/>
          </a:p>
        </p:txBody>
      </p:sp>
      <p:sp>
        <p:nvSpPr>
          <p:cNvPr id="31" name="Text 29"/>
          <p:cNvSpPr/>
          <p:nvPr/>
        </p:nvSpPr>
        <p:spPr>
          <a:xfrm>
            <a:off x="7488936" y="5879592"/>
            <a:ext cx="2048256" cy="219456"/>
          </a:xfrm>
          <a:prstGeom prst="rect">
            <a:avLst/>
          </a:prstGeom>
          <a:noFill/>
          <a:ln/>
        </p:spPr>
        <p:txBody>
          <a:bodyPr wrap="square" lIns="0" tIns="0" rIns="0" bIns="0" rtlCol="0" anchor="ctr"/>
          <a:lstStyle/>
          <a:p>
            <a:pPr indent="0" marL="0">
              <a:buNone/>
            </a:pPr>
            <a:r>
              <a:rPr lang="en-US" sz="900" dirty="0">
                <a:solidFill>
                  <a:srgbClr val="A9BEDC"/>
                </a:solidFill>
                <a:latin typeface="Courier New" pitchFamily="34" charset="0"/>
                <a:ea typeface="Courier New" pitchFamily="34" charset="-122"/>
                <a:cs typeface="Courier New" pitchFamily="34" charset="-120"/>
              </a:rPr>
              <a:t>CE23B063</a:t>
            </a:r>
            <a:endParaRPr lang="en-US" sz="900" dirty="0"/>
          </a:p>
        </p:txBody>
      </p:sp>
      <p:sp>
        <p:nvSpPr>
          <p:cNvPr id="32" name="Text 30"/>
          <p:cNvSpPr/>
          <p:nvPr/>
        </p:nvSpPr>
        <p:spPr>
          <a:xfrm>
            <a:off x="9646920" y="5623560"/>
            <a:ext cx="1783080" cy="530352"/>
          </a:xfrm>
          <a:prstGeom prst="rect">
            <a:avLst/>
          </a:prstGeom>
          <a:noFill/>
          <a:ln/>
        </p:spPr>
        <p:txBody>
          <a:bodyPr wrap="square" lIns="0" tIns="0" rIns="0" bIns="0" rtlCol="0" anchor="ctr"/>
          <a:lstStyle/>
          <a:p>
            <a:pPr algn="r" indent="0" marL="0">
              <a:lnSpc>
                <a:spcPts val="1250"/>
              </a:lnSpc>
              <a:buNone/>
            </a:pPr>
            <a:r>
              <a:rPr lang="en-US" sz="950" b="1" dirty="0">
                <a:solidFill>
                  <a:srgbClr val="A9BEDC"/>
                </a:solidFill>
                <a:latin typeface="Calibri" pitchFamily="34" charset="0"/>
                <a:ea typeface="Calibri" pitchFamily="34" charset="-122"/>
                <a:cs typeface="Calibri" pitchFamily="34" charset="-120"/>
              </a:rPr>
              <a:t>Indian Institute of</a:t>
            </a:r>
            <a:endParaRPr lang="en-US" sz="950" dirty="0"/>
          </a:p>
          <a:p>
            <a:pPr algn="r" indent="0" marL="0">
              <a:lnSpc>
                <a:spcPts val="1250"/>
              </a:lnSpc>
              <a:buNone/>
            </a:pPr>
            <a:r>
              <a:rPr lang="en-US" sz="950" b="1" dirty="0">
                <a:solidFill>
                  <a:srgbClr val="A9BEDC"/>
                </a:solidFill>
                <a:latin typeface="Calibri" pitchFamily="34" charset="0"/>
                <a:ea typeface="Calibri" pitchFamily="34" charset="-122"/>
                <a:cs typeface="Calibri" pitchFamily="34" charset="-120"/>
              </a:rPr>
              <a:t>Technology Madras</a:t>
            </a:r>
            <a:endParaRPr lang="en-US" sz="950" dirty="0"/>
          </a:p>
        </p:txBody>
      </p:sp>
      <p:sp>
        <p:nvSpPr>
          <p:cNvPr id="33" name="Text 31"/>
          <p:cNvSpPr/>
          <p:nvPr/>
        </p:nvSpPr>
        <p:spPr>
          <a:xfrm>
            <a:off x="457200" y="6382512"/>
            <a:ext cx="10881360" cy="274320"/>
          </a:xfrm>
          <a:prstGeom prst="rect">
            <a:avLst/>
          </a:prstGeom>
          <a:noFill/>
          <a:ln/>
        </p:spPr>
        <p:txBody>
          <a:bodyPr wrap="square" lIns="0" tIns="0" rIns="0" bIns="0" rtlCol="0" anchor="ctr"/>
          <a:lstStyle/>
          <a:p>
            <a:pPr indent="0" marL="0">
              <a:buNone/>
            </a:pPr>
            <a:r>
              <a:rPr lang="en-US" sz="900" i="1" dirty="0">
                <a:solidFill>
                  <a:srgbClr val="7B94BA"/>
                </a:solidFill>
                <a:latin typeface="Calibri" pitchFamily="34" charset="0"/>
                <a:ea typeface="Calibri" pitchFamily="34" charset="-122"/>
                <a:cs typeface="Calibri" pitchFamily="34" charset="-120"/>
              </a:rPr>
              <a:t>Built on Indian regulatory and DGCA operational data. Every number carries its source.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B3D"/>
        </a:solidFill>
      </p:bgPr>
    </p:bg>
    <p:spTree>
      <p:nvGrpSpPr>
        <p:cNvPr id="1" name=""/>
        <p:cNvGrpSpPr/>
        <p:nvPr/>
      </p:nvGrpSpPr>
      <p:grpSpPr>
        <a:xfrm>
          <a:off x="0" y="0"/>
          <a:ext cx="0" cy="0"/>
          <a:chOff x="0" y="0"/>
          <a:chExt cx="0" cy="0"/>
        </a:xfrm>
      </p:grpSpPr>
      <p:sp>
        <p:nvSpPr>
          <p:cNvPr id="2" name="Text 0"/>
          <p:cNvSpPr/>
          <p:nvPr/>
        </p:nvSpPr>
        <p:spPr>
          <a:xfrm>
            <a:off x="457200" y="146304"/>
            <a:ext cx="8229600" cy="201168"/>
          </a:xfrm>
          <a:prstGeom prst="rect">
            <a:avLst/>
          </a:prstGeom>
          <a:noFill/>
          <a:ln/>
        </p:spPr>
        <p:txBody>
          <a:bodyPr wrap="square" lIns="0" tIns="0" rIns="0" bIns="0" rtlCol="0" anchor="ctr"/>
          <a:lstStyle/>
          <a:p>
            <a:pPr indent="0" marL="0">
              <a:buNone/>
            </a:pPr>
            <a:r>
              <a:rPr lang="en-US" sz="850" b="1" spc="220" kern="0" dirty="0">
                <a:solidFill>
                  <a:srgbClr val="3D9CFF"/>
                </a:solidFill>
                <a:latin typeface="Calibri" pitchFamily="34" charset="0"/>
                <a:ea typeface="Calibri" pitchFamily="34" charset="-122"/>
                <a:cs typeface="Calibri" pitchFamily="34" charset="-120"/>
              </a:rPr>
              <a:t>01 · THE PROBLEM</a:t>
            </a:r>
            <a:endParaRPr lang="en-US" sz="850" dirty="0"/>
          </a:p>
        </p:txBody>
      </p:sp>
      <p:sp>
        <p:nvSpPr>
          <p:cNvPr id="3" name="Text 1"/>
          <p:cNvSpPr/>
          <p:nvPr/>
        </p:nvSpPr>
        <p:spPr>
          <a:xfrm>
            <a:off x="11155680" y="146304"/>
            <a:ext cx="576072" cy="201168"/>
          </a:xfrm>
          <a:prstGeom prst="rect">
            <a:avLst/>
          </a:prstGeom>
          <a:noFill/>
          <a:ln/>
        </p:spPr>
        <p:txBody>
          <a:bodyPr wrap="square" lIns="0" tIns="0" rIns="0" bIns="0" rtlCol="0" anchor="ctr"/>
          <a:lstStyle/>
          <a:p>
            <a:pPr algn="r" indent="0" marL="0">
              <a:buNone/>
            </a:pPr>
            <a:r>
              <a:rPr lang="en-US" sz="850" dirty="0">
                <a:solidFill>
                  <a:srgbClr val="7B94BA"/>
                </a:solidFill>
                <a:latin typeface="Calibri" pitchFamily="34" charset="0"/>
                <a:ea typeface="Calibri" pitchFamily="34" charset="-122"/>
                <a:cs typeface="Calibri" pitchFamily="34" charset="-120"/>
              </a:rPr>
              <a:t>2</a:t>
            </a:r>
            <a:endParaRPr lang="en-US" sz="850" dirty="0"/>
          </a:p>
        </p:txBody>
      </p:sp>
      <p:sp>
        <p:nvSpPr>
          <p:cNvPr id="4" name="Text 2"/>
          <p:cNvSpPr/>
          <p:nvPr/>
        </p:nvSpPr>
        <p:spPr>
          <a:xfrm>
            <a:off x="457200" y="365760"/>
            <a:ext cx="11274552" cy="420624"/>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One traveller. 180 minutes. Nobody closes the loop.</a:t>
            </a:r>
            <a:endParaRPr lang="en-US" sz="2500" dirty="0"/>
          </a:p>
        </p:txBody>
      </p:sp>
      <p:sp>
        <p:nvSpPr>
          <p:cNvPr id="5" name="Text 3"/>
          <p:cNvSpPr/>
          <p:nvPr/>
        </p:nvSpPr>
        <p:spPr>
          <a:xfrm>
            <a:off x="457200" y="804672"/>
            <a:ext cx="11274552" cy="256032"/>
          </a:xfrm>
          <a:prstGeom prst="rect">
            <a:avLst/>
          </a:prstGeom>
          <a:noFill/>
          <a:ln/>
        </p:spPr>
        <p:txBody>
          <a:bodyPr wrap="square" lIns="0" tIns="0" rIns="0" bIns="0" rtlCol="0" anchor="ctr"/>
          <a:lstStyle/>
          <a:p>
            <a:pPr indent="0" marL="0">
              <a:buNone/>
            </a:pPr>
            <a:r>
              <a:rPr lang="en-US" sz="1150" dirty="0">
                <a:solidFill>
                  <a:srgbClr val="A9BEDC"/>
                </a:solidFill>
                <a:latin typeface="Calibri" pitchFamily="34" charset="0"/>
                <a:ea typeface="Calibri" pitchFamily="34" charset="-122"/>
                <a:cs typeface="Calibri" pitchFamily="34" charset="-120"/>
              </a:rPr>
              <a:t>India flew 16.4 crore domestic passengers last financial year. Disruption is not an information problem — it is an execution problem.</a:t>
            </a:r>
            <a:endParaRPr lang="en-US" sz="1150" dirty="0"/>
          </a:p>
        </p:txBody>
      </p:sp>
      <p:sp>
        <p:nvSpPr>
          <p:cNvPr id="6" name="Shape 4"/>
          <p:cNvSpPr/>
          <p:nvPr/>
        </p:nvSpPr>
        <p:spPr>
          <a:xfrm>
            <a:off x="457200" y="1152144"/>
            <a:ext cx="3310128" cy="1755648"/>
          </a:xfrm>
          <a:prstGeom prst="roundRect">
            <a:avLst>
              <a:gd name="adj" fmla="val 3125"/>
            </a:avLst>
          </a:prstGeom>
          <a:solidFill>
            <a:srgbClr val="1B3A69"/>
          </a:solidFill>
          <a:ln w="6350">
            <a:solidFill>
              <a:srgbClr val="1B3A69"/>
            </a:solidFill>
            <a:prstDash val="solid"/>
          </a:ln>
          <a:effectLst>
            <a:outerShdw sx="100000" sy="100000" kx="0" ky="0" algn="bl" rotWithShape="0" blurRad="114300" dist="25400" dir="5400000">
              <a:srgbClr val="000000">
                <a:alpha val="34000"/>
              </a:srgbClr>
            </a:outerShdw>
          </a:effectLst>
        </p:spPr>
      </p:sp>
      <p:pic>
        <p:nvPicPr>
          <p:cNvPr id="7" name="Image 0" descr="preencoded.png">    </p:cNvPr>
          <p:cNvPicPr>
            <a:picLocks noChangeAspect="1"/>
          </p:cNvPicPr>
          <p:nvPr/>
        </p:nvPicPr>
        <p:blipFill>
          <a:blip r:embed="rId1"/>
          <a:stretch>
            <a:fillRect/>
          </a:stretch>
        </p:blipFill>
        <p:spPr>
          <a:xfrm>
            <a:off x="694944" y="1335024"/>
            <a:ext cx="566928" cy="566928"/>
          </a:xfrm>
          <a:prstGeom prst="rect">
            <a:avLst/>
          </a:prstGeom>
        </p:spPr>
      </p:pic>
      <p:sp>
        <p:nvSpPr>
          <p:cNvPr id="8" name="Text 5"/>
          <p:cNvSpPr/>
          <p:nvPr/>
        </p:nvSpPr>
        <p:spPr>
          <a:xfrm>
            <a:off x="1389888" y="1335024"/>
            <a:ext cx="2240280" cy="219456"/>
          </a:xfrm>
          <a:prstGeom prst="rect">
            <a:avLst/>
          </a:prstGeom>
          <a:noFill/>
          <a:ln/>
        </p:spPr>
        <p:txBody>
          <a:bodyPr wrap="square" lIns="0" tIns="0" rIns="0" bIns="0" rtlCol="0" anchor="ctr"/>
          <a:lstStyle/>
          <a:p>
            <a:pPr indent="0" marL="0">
              <a:buNone/>
            </a:pPr>
            <a:r>
              <a:rPr lang="en-US" sz="900" b="1" spc="120" kern="0" dirty="0">
                <a:solidFill>
                  <a:srgbClr val="3D9CFF"/>
                </a:solidFill>
                <a:latin typeface="Calibri" pitchFamily="34" charset="0"/>
                <a:ea typeface="Calibri" pitchFamily="34" charset="-122"/>
                <a:cs typeface="Calibri" pitchFamily="34" charset="-120"/>
              </a:rPr>
              <a:t>PRIYA  ·  AMEX CARD MEMBER</a:t>
            </a:r>
            <a:endParaRPr lang="en-US" sz="900" dirty="0"/>
          </a:p>
        </p:txBody>
      </p:sp>
      <p:sp>
        <p:nvSpPr>
          <p:cNvPr id="9" name="Text 6"/>
          <p:cNvSpPr/>
          <p:nvPr/>
        </p:nvSpPr>
        <p:spPr>
          <a:xfrm>
            <a:off x="1389888" y="1572768"/>
            <a:ext cx="2240280" cy="2743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MAA → DEL → LHR</a:t>
            </a:r>
            <a:endParaRPr lang="en-US" sz="1500" dirty="0"/>
          </a:p>
        </p:txBody>
      </p:sp>
      <p:sp>
        <p:nvSpPr>
          <p:cNvPr id="10" name="Text 7"/>
          <p:cNvSpPr/>
          <p:nvPr/>
        </p:nvSpPr>
        <p:spPr>
          <a:xfrm>
            <a:off x="1389888" y="1865376"/>
            <a:ext cx="2240280" cy="219456"/>
          </a:xfrm>
          <a:prstGeom prst="rect">
            <a:avLst/>
          </a:prstGeom>
          <a:noFill/>
          <a:ln/>
        </p:spPr>
        <p:txBody>
          <a:bodyPr wrap="square" lIns="0" tIns="0" rIns="0" bIns="0" rtlCol="0" anchor="ctr"/>
          <a:lstStyle/>
          <a:p>
            <a:pPr indent="0" marL="0">
              <a:buNone/>
            </a:pPr>
            <a:r>
              <a:rPr lang="en-US" sz="800" dirty="0">
                <a:solidFill>
                  <a:srgbClr val="A9BEDC"/>
                </a:solidFill>
                <a:latin typeface="Calibri" pitchFamily="34" charset="0"/>
                <a:ea typeface="Calibri" pitchFamily="34" charset="-122"/>
                <a:cs typeface="Calibri" pitchFamily="34" charset="-120"/>
              </a:rPr>
              <a:t>Board meeting in London tomorrow · hotel booked · car booked</a:t>
            </a:r>
            <a:endParaRPr lang="en-US" sz="800" dirty="0"/>
          </a:p>
        </p:txBody>
      </p:sp>
      <p:pic>
        <p:nvPicPr>
          <p:cNvPr id="11" name="Image 1" descr="preencoded.png">    </p:cNvPr>
          <p:cNvPicPr>
            <a:picLocks noChangeAspect="1"/>
          </p:cNvPicPr>
          <p:nvPr/>
        </p:nvPicPr>
        <p:blipFill>
          <a:blip r:embed="rId2"/>
          <a:stretch>
            <a:fillRect/>
          </a:stretch>
        </p:blipFill>
        <p:spPr>
          <a:xfrm>
            <a:off x="713232" y="2212848"/>
            <a:ext cx="274320" cy="274320"/>
          </a:xfrm>
          <a:prstGeom prst="rect">
            <a:avLst/>
          </a:prstGeom>
        </p:spPr>
      </p:pic>
      <p:sp>
        <p:nvSpPr>
          <p:cNvPr id="12" name="Text 8"/>
          <p:cNvSpPr/>
          <p:nvPr/>
        </p:nvSpPr>
        <p:spPr>
          <a:xfrm>
            <a:off x="1078992" y="2157984"/>
            <a:ext cx="2542032" cy="566928"/>
          </a:xfrm>
          <a:prstGeom prst="rect">
            <a:avLst/>
          </a:prstGeom>
          <a:noFill/>
          <a:ln/>
        </p:spPr>
        <p:txBody>
          <a:bodyPr wrap="square" lIns="0" tIns="0" rIns="0" bIns="0" rtlCol="0" anchor="ctr"/>
          <a:lstStyle/>
          <a:p>
            <a:pPr indent="0" marL="0">
              <a:lnSpc>
                <a:spcPts val="1200"/>
              </a:lnSpc>
              <a:buNone/>
            </a:pPr>
            <a:r>
              <a:rPr lang="en-US" sz="950" dirty="0">
                <a:solidFill>
                  <a:srgbClr val="FF6B6B"/>
                </a:solidFill>
                <a:latin typeface="Calibri" pitchFamily="34" charset="0"/>
                <a:ea typeface="Calibri" pitchFamily="34" charset="-122"/>
                <a:cs typeface="Calibri" pitchFamily="34" charset="-120"/>
              </a:rPr>
              <a:t>06:12 — Chennai leg cancelled. The DEL connection, the hotel and the car are all now wrong.</a:t>
            </a:r>
            <a:endParaRPr lang="en-US" sz="950" dirty="0"/>
          </a:p>
        </p:txBody>
      </p:sp>
      <p:sp>
        <p:nvSpPr>
          <p:cNvPr id="13" name="Shape 9"/>
          <p:cNvSpPr/>
          <p:nvPr/>
        </p:nvSpPr>
        <p:spPr>
          <a:xfrm>
            <a:off x="3913632" y="1152144"/>
            <a:ext cx="7818120" cy="1755648"/>
          </a:xfrm>
          <a:prstGeom prst="roundRect">
            <a:avLst>
              <a:gd name="adj" fmla="val 3125"/>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14" name="Text 10"/>
          <p:cNvSpPr/>
          <p:nvPr/>
        </p:nvSpPr>
        <p:spPr>
          <a:xfrm>
            <a:off x="4133088" y="1298448"/>
            <a:ext cx="960120" cy="219456"/>
          </a:xfrm>
          <a:prstGeom prst="rect">
            <a:avLst/>
          </a:prstGeom>
          <a:noFill/>
          <a:ln/>
        </p:spPr>
        <p:txBody>
          <a:bodyPr wrap="square" lIns="0" tIns="0" rIns="0" bIns="0" rtlCol="0" anchor="ctr"/>
          <a:lstStyle/>
          <a:p>
            <a:pPr indent="0" marL="0">
              <a:buNone/>
            </a:pPr>
            <a:r>
              <a:rPr lang="en-US" sz="900" b="1" spc="130" kern="0" dirty="0">
                <a:solidFill>
                  <a:srgbClr val="FF6B6B"/>
                </a:solidFill>
                <a:latin typeface="Calibri" pitchFamily="34" charset="0"/>
                <a:ea typeface="Calibri" pitchFamily="34" charset="-122"/>
                <a:cs typeface="Calibri" pitchFamily="34" charset="-120"/>
              </a:rPr>
              <a:t>TODAY</a:t>
            </a:r>
            <a:endParaRPr lang="en-US" sz="900" dirty="0"/>
          </a:p>
        </p:txBody>
      </p:sp>
      <p:sp>
        <p:nvSpPr>
          <p:cNvPr id="15" name="Shape 11"/>
          <p:cNvSpPr/>
          <p:nvPr/>
        </p:nvSpPr>
        <p:spPr>
          <a:xfrm>
            <a:off x="5138928" y="1298448"/>
            <a:ext cx="403555" cy="274320"/>
          </a:xfrm>
          <a:prstGeom prst="roundRect">
            <a:avLst>
              <a:gd name="adj" fmla="val 6667"/>
            </a:avLst>
          </a:prstGeom>
          <a:solidFill>
            <a:srgbClr val="FF6B6B"/>
          </a:solidFill>
          <a:ln w="12700">
            <a:solidFill>
              <a:srgbClr val="333333"/>
            </a:solidFill>
            <a:prstDash val="solid"/>
          </a:ln>
        </p:spPr>
      </p:sp>
      <p:sp>
        <p:nvSpPr>
          <p:cNvPr id="16" name="Shape 12"/>
          <p:cNvSpPr/>
          <p:nvPr/>
        </p:nvSpPr>
        <p:spPr>
          <a:xfrm>
            <a:off x="5556199" y="1298448"/>
            <a:ext cx="1614221" cy="274320"/>
          </a:xfrm>
          <a:prstGeom prst="roundRect">
            <a:avLst>
              <a:gd name="adj" fmla="val 6667"/>
            </a:avLst>
          </a:prstGeom>
          <a:solidFill>
            <a:srgbClr val="C2506B"/>
          </a:solidFill>
          <a:ln w="12700">
            <a:solidFill>
              <a:srgbClr val="333333"/>
            </a:solidFill>
            <a:prstDash val="solid"/>
          </a:ln>
        </p:spPr>
      </p:sp>
      <p:sp>
        <p:nvSpPr>
          <p:cNvPr id="17" name="Text 13"/>
          <p:cNvSpPr/>
          <p:nvPr/>
        </p:nvSpPr>
        <p:spPr>
          <a:xfrm>
            <a:off x="5556199" y="1298448"/>
            <a:ext cx="1614221" cy="274320"/>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hold</a:t>
            </a:r>
            <a:endParaRPr lang="en-US" sz="700" dirty="0"/>
          </a:p>
        </p:txBody>
      </p:sp>
      <p:sp>
        <p:nvSpPr>
          <p:cNvPr id="18" name="Shape 14"/>
          <p:cNvSpPr/>
          <p:nvPr/>
        </p:nvSpPr>
        <p:spPr>
          <a:xfrm>
            <a:off x="7184136" y="1298448"/>
            <a:ext cx="605333" cy="274320"/>
          </a:xfrm>
          <a:prstGeom prst="roundRect">
            <a:avLst>
              <a:gd name="adj" fmla="val 6667"/>
            </a:avLst>
          </a:prstGeom>
          <a:solidFill>
            <a:srgbClr val="FF6B6B"/>
          </a:solidFill>
          <a:ln w="12700">
            <a:solidFill>
              <a:srgbClr val="333333"/>
            </a:solidFill>
            <a:prstDash val="solid"/>
          </a:ln>
        </p:spPr>
      </p:sp>
      <p:sp>
        <p:nvSpPr>
          <p:cNvPr id="19" name="Text 15"/>
          <p:cNvSpPr/>
          <p:nvPr/>
        </p:nvSpPr>
        <p:spPr>
          <a:xfrm>
            <a:off x="7184136" y="1298448"/>
            <a:ext cx="605333" cy="274320"/>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counter</a:t>
            </a:r>
            <a:endParaRPr lang="en-US" sz="700" dirty="0"/>
          </a:p>
        </p:txBody>
      </p:sp>
      <p:sp>
        <p:nvSpPr>
          <p:cNvPr id="20" name="Shape 16"/>
          <p:cNvSpPr/>
          <p:nvPr/>
        </p:nvSpPr>
        <p:spPr>
          <a:xfrm>
            <a:off x="7803185" y="1298448"/>
            <a:ext cx="840740" cy="274320"/>
          </a:xfrm>
          <a:prstGeom prst="roundRect">
            <a:avLst>
              <a:gd name="adj" fmla="val 6667"/>
            </a:avLst>
          </a:prstGeom>
          <a:solidFill>
            <a:srgbClr val="C2506B"/>
          </a:solidFill>
          <a:ln w="12700">
            <a:solidFill>
              <a:srgbClr val="333333"/>
            </a:solidFill>
            <a:prstDash val="solid"/>
          </a:ln>
        </p:spPr>
      </p:sp>
      <p:sp>
        <p:nvSpPr>
          <p:cNvPr id="21" name="Text 17"/>
          <p:cNvSpPr/>
          <p:nvPr/>
        </p:nvSpPr>
        <p:spPr>
          <a:xfrm>
            <a:off x="7803185" y="1298448"/>
            <a:ext cx="840740" cy="274320"/>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hotel</a:t>
            </a:r>
            <a:endParaRPr lang="en-US" sz="700" dirty="0"/>
          </a:p>
        </p:txBody>
      </p:sp>
      <p:sp>
        <p:nvSpPr>
          <p:cNvPr id="22" name="Shape 18"/>
          <p:cNvSpPr/>
          <p:nvPr/>
        </p:nvSpPr>
        <p:spPr>
          <a:xfrm>
            <a:off x="8657641" y="1298448"/>
            <a:ext cx="672592" cy="274320"/>
          </a:xfrm>
          <a:prstGeom prst="roundRect">
            <a:avLst>
              <a:gd name="adj" fmla="val 6667"/>
            </a:avLst>
          </a:prstGeom>
          <a:solidFill>
            <a:srgbClr val="FF6B6B"/>
          </a:solidFill>
          <a:ln w="12700">
            <a:solidFill>
              <a:srgbClr val="333333"/>
            </a:solidFill>
            <a:prstDash val="solid"/>
          </a:ln>
        </p:spPr>
      </p:sp>
      <p:sp>
        <p:nvSpPr>
          <p:cNvPr id="23" name="Text 19"/>
          <p:cNvSpPr/>
          <p:nvPr/>
        </p:nvSpPr>
        <p:spPr>
          <a:xfrm>
            <a:off x="8657641" y="1298448"/>
            <a:ext cx="672592" cy="274320"/>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ground</a:t>
            </a:r>
            <a:endParaRPr lang="en-US" sz="700" dirty="0"/>
          </a:p>
        </p:txBody>
      </p:sp>
      <p:sp>
        <p:nvSpPr>
          <p:cNvPr id="24" name="Shape 20"/>
          <p:cNvSpPr/>
          <p:nvPr/>
        </p:nvSpPr>
        <p:spPr>
          <a:xfrm>
            <a:off x="9343949" y="1298448"/>
            <a:ext cx="1916887" cy="274320"/>
          </a:xfrm>
          <a:prstGeom prst="roundRect">
            <a:avLst>
              <a:gd name="adj" fmla="val 6667"/>
            </a:avLst>
          </a:prstGeom>
          <a:solidFill>
            <a:srgbClr val="6B2740"/>
          </a:solidFill>
          <a:ln w="12700">
            <a:solidFill>
              <a:srgbClr val="333333"/>
            </a:solidFill>
            <a:prstDash val="solid"/>
          </a:ln>
        </p:spPr>
      </p:sp>
      <p:sp>
        <p:nvSpPr>
          <p:cNvPr id="25" name="Text 21"/>
          <p:cNvSpPr/>
          <p:nvPr/>
        </p:nvSpPr>
        <p:spPr>
          <a:xfrm>
            <a:off x="9343949" y="1298448"/>
            <a:ext cx="1916887" cy="274320"/>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lost</a:t>
            </a:r>
            <a:endParaRPr lang="en-US" sz="700" dirty="0"/>
          </a:p>
        </p:txBody>
      </p:sp>
      <p:sp>
        <p:nvSpPr>
          <p:cNvPr id="26" name="Text 22"/>
          <p:cNvSpPr/>
          <p:nvPr/>
        </p:nvSpPr>
        <p:spPr>
          <a:xfrm>
            <a:off x="5138928" y="1609344"/>
            <a:ext cx="6126480" cy="219456"/>
          </a:xfrm>
          <a:prstGeom prst="rect">
            <a:avLst/>
          </a:prstGeom>
          <a:noFill/>
          <a:ln/>
        </p:spPr>
        <p:txBody>
          <a:bodyPr wrap="square" lIns="0" tIns="0" rIns="0" bIns="0" rtlCol="0" anchor="ctr"/>
          <a:lstStyle/>
          <a:p>
            <a:pPr indent="0" marL="0">
              <a:buNone/>
            </a:pPr>
            <a:r>
              <a:rPr lang="en-US" sz="1000" b="1" dirty="0">
                <a:solidFill>
                  <a:srgbClr val="FF6B6B"/>
                </a:solidFill>
                <a:latin typeface="Calibri" pitchFamily="34" charset="0"/>
                <a:ea typeface="Calibri" pitchFamily="34" charset="-122"/>
                <a:cs typeface="Calibri" pitchFamily="34" charset="-120"/>
              </a:rPr>
              <a:t>180 min  ·  1 call-centre contact  ·  duty-of-care never claimed</a:t>
            </a:r>
            <a:endParaRPr lang="en-US" sz="1000" dirty="0"/>
          </a:p>
        </p:txBody>
      </p:sp>
      <p:sp>
        <p:nvSpPr>
          <p:cNvPr id="27" name="Text 23"/>
          <p:cNvSpPr/>
          <p:nvPr/>
        </p:nvSpPr>
        <p:spPr>
          <a:xfrm>
            <a:off x="4133088" y="2084832"/>
            <a:ext cx="960120" cy="219456"/>
          </a:xfrm>
          <a:prstGeom prst="rect">
            <a:avLst/>
          </a:prstGeom>
          <a:noFill/>
          <a:ln/>
        </p:spPr>
        <p:txBody>
          <a:bodyPr wrap="square" lIns="0" tIns="0" rIns="0" bIns="0" rtlCol="0" anchor="ctr"/>
          <a:lstStyle/>
          <a:p>
            <a:pPr indent="0" marL="0">
              <a:buNone/>
            </a:pPr>
            <a:r>
              <a:rPr lang="en-US" sz="900" b="1" spc="130" kern="0" dirty="0">
                <a:solidFill>
                  <a:srgbClr val="2ECC9A"/>
                </a:solidFill>
                <a:latin typeface="Calibri" pitchFamily="34" charset="0"/>
                <a:ea typeface="Calibri" pitchFamily="34" charset="-122"/>
                <a:cs typeface="Calibri" pitchFamily="34" charset="-120"/>
              </a:rPr>
              <a:t>CONCIERGE</a:t>
            </a:r>
            <a:endParaRPr lang="en-US" sz="900" dirty="0"/>
          </a:p>
        </p:txBody>
      </p:sp>
      <p:sp>
        <p:nvSpPr>
          <p:cNvPr id="28" name="Shape 24"/>
          <p:cNvSpPr/>
          <p:nvPr/>
        </p:nvSpPr>
        <p:spPr>
          <a:xfrm>
            <a:off x="5138928" y="2084832"/>
            <a:ext cx="408838" cy="274320"/>
          </a:xfrm>
          <a:prstGeom prst="roundRect">
            <a:avLst>
              <a:gd name="adj" fmla="val 6667"/>
            </a:avLst>
          </a:prstGeom>
          <a:solidFill>
            <a:srgbClr val="2ECC9A"/>
          </a:solidFill>
          <a:ln w="12700">
            <a:solidFill>
              <a:srgbClr val="333333"/>
            </a:solidFill>
            <a:prstDash val="solid"/>
          </a:ln>
        </p:spPr>
      </p:sp>
      <p:sp>
        <p:nvSpPr>
          <p:cNvPr id="29" name="Text 25"/>
          <p:cNvSpPr/>
          <p:nvPr/>
        </p:nvSpPr>
        <p:spPr>
          <a:xfrm>
            <a:off x="5138928" y="2395728"/>
            <a:ext cx="6126480" cy="219456"/>
          </a:xfrm>
          <a:prstGeom prst="rect">
            <a:avLst/>
          </a:prstGeom>
          <a:noFill/>
          <a:ln/>
        </p:spPr>
        <p:txBody>
          <a:bodyPr wrap="square" lIns="0" tIns="0" rIns="0" bIns="0" rtlCol="0" anchor="ctr"/>
          <a:lstStyle/>
          <a:p>
            <a:pPr indent="0" marL="0">
              <a:buNone/>
            </a:pPr>
            <a:r>
              <a:rPr lang="en-US" sz="1000" b="1" dirty="0">
                <a:solidFill>
                  <a:srgbClr val="2ECC9A"/>
                </a:solidFill>
                <a:latin typeface="Calibri" pitchFamily="34" charset="0"/>
                <a:ea typeface="Calibri" pitchFamily="34" charset="-122"/>
                <a:cs typeface="Calibri" pitchFamily="34" charset="-120"/>
              </a:rPr>
              <a:t>4 min  ·  0 calls  ·  meals, hotel and transfer auto-claimed</a:t>
            </a:r>
            <a:endParaRPr lang="en-US" sz="1000" dirty="0"/>
          </a:p>
        </p:txBody>
      </p:sp>
      <p:sp>
        <p:nvSpPr>
          <p:cNvPr id="30" name="Text 26"/>
          <p:cNvSpPr/>
          <p:nvPr/>
        </p:nvSpPr>
        <p:spPr>
          <a:xfrm>
            <a:off x="6035040" y="2084832"/>
            <a:ext cx="5257800" cy="274320"/>
          </a:xfrm>
          <a:prstGeom prst="rect">
            <a:avLst/>
          </a:prstGeom>
          <a:noFill/>
          <a:ln/>
        </p:spPr>
        <p:txBody>
          <a:bodyPr wrap="square" lIns="0" tIns="0" rIns="0" bIns="0" rtlCol="0" anchor="ctr"/>
          <a:lstStyle/>
          <a:p>
            <a:pPr algn="r" indent="0" marL="0">
              <a:buNone/>
            </a:pPr>
            <a:r>
              <a:rPr lang="en-US" sz="850" i="1" dirty="0">
                <a:solidFill>
                  <a:srgbClr val="7B94BA"/>
                </a:solidFill>
                <a:latin typeface="Calibri" pitchFamily="34" charset="0"/>
                <a:ea typeface="Calibri" pitchFamily="34" charset="-122"/>
                <a:cs typeface="Calibri" pitchFamily="34" charset="-120"/>
              </a:rPr>
              <a:t>48 of those 180 minutes are hold music — the most expensive minutes of the journey for the issuer.</a:t>
            </a:r>
            <a:endParaRPr lang="en-US" sz="850" dirty="0"/>
          </a:p>
        </p:txBody>
      </p:sp>
      <p:sp>
        <p:nvSpPr>
          <p:cNvPr id="31" name="Shape 27"/>
          <p:cNvSpPr/>
          <p:nvPr/>
        </p:nvSpPr>
        <p:spPr>
          <a:xfrm>
            <a:off x="457200" y="3054096"/>
            <a:ext cx="2624328" cy="1371600"/>
          </a:xfrm>
          <a:prstGeom prst="roundRect">
            <a:avLst>
              <a:gd name="adj" fmla="val 4000"/>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32" name="Image 2" descr="preencoded.png">    </p:cNvPr>
          <p:cNvPicPr>
            <a:picLocks noChangeAspect="1"/>
          </p:cNvPicPr>
          <p:nvPr/>
        </p:nvPicPr>
        <p:blipFill>
          <a:blip r:embed="rId3"/>
          <a:stretch>
            <a:fillRect/>
          </a:stretch>
        </p:blipFill>
        <p:spPr>
          <a:xfrm>
            <a:off x="658368" y="3200400"/>
            <a:ext cx="256032" cy="256032"/>
          </a:xfrm>
          <a:prstGeom prst="rect">
            <a:avLst/>
          </a:prstGeom>
        </p:spPr>
      </p:pic>
      <p:sp>
        <p:nvSpPr>
          <p:cNvPr id="33" name="Text 28"/>
          <p:cNvSpPr/>
          <p:nvPr/>
        </p:nvSpPr>
        <p:spPr>
          <a:xfrm>
            <a:off x="987552" y="3145536"/>
            <a:ext cx="1920240" cy="365760"/>
          </a:xfrm>
          <a:prstGeom prst="rect">
            <a:avLst/>
          </a:prstGeom>
          <a:noFill/>
          <a:ln/>
        </p:spPr>
        <p:txBody>
          <a:bodyPr wrap="square" lIns="0" tIns="0" rIns="0" bIns="0" rtlCol="0" anchor="ctr"/>
          <a:lstStyle/>
          <a:p>
            <a:pPr indent="0" marL="0">
              <a:buNone/>
            </a:pPr>
            <a:r>
              <a:rPr lang="en-US" sz="1900" b="1" dirty="0">
                <a:solidFill>
                  <a:srgbClr val="FF6B6B"/>
                </a:solidFill>
                <a:latin typeface="Cambria" pitchFamily="34" charset="0"/>
                <a:ea typeface="Cambria" pitchFamily="34" charset="-122"/>
                <a:cs typeface="Cambria" pitchFamily="34" charset="-120"/>
              </a:rPr>
              <a:t>17.2%</a:t>
            </a:r>
            <a:endParaRPr lang="en-US" sz="1900" dirty="0"/>
          </a:p>
        </p:txBody>
      </p:sp>
      <p:sp>
        <p:nvSpPr>
          <p:cNvPr id="34" name="Text 29"/>
          <p:cNvSpPr/>
          <p:nvPr/>
        </p:nvSpPr>
        <p:spPr>
          <a:xfrm>
            <a:off x="658368" y="3584448"/>
            <a:ext cx="2240280" cy="438912"/>
          </a:xfrm>
          <a:prstGeom prst="rect">
            <a:avLst/>
          </a:prstGeom>
          <a:noFill/>
          <a:ln/>
        </p:spPr>
        <p:txBody>
          <a:bodyPr wrap="square" lIns="0" tIns="0" rIns="0" bIns="0" rtlCol="0" anchor="ctr"/>
          <a:lstStyle/>
          <a:p>
            <a:pPr indent="0" marL="0">
              <a:lnSpc>
                <a:spcPts val="1150"/>
              </a:lnSpc>
              <a:buNone/>
            </a:pPr>
            <a:r>
              <a:rPr lang="en-US" sz="950" b="1" dirty="0">
                <a:solidFill>
                  <a:srgbClr val="FFFFFF"/>
                </a:solidFill>
                <a:latin typeface="Calibri" pitchFamily="34" charset="0"/>
                <a:ea typeface="Calibri" pitchFamily="34" charset="-122"/>
                <a:cs typeface="Calibri" pitchFamily="34" charset="-120"/>
              </a:rPr>
              <a:t>of flights arriving late</a:t>
            </a:r>
            <a:endParaRPr lang="en-US" sz="950" dirty="0"/>
          </a:p>
        </p:txBody>
      </p:sp>
      <p:sp>
        <p:nvSpPr>
          <p:cNvPr id="35" name="Text 30"/>
          <p:cNvSpPr/>
          <p:nvPr/>
        </p:nvSpPr>
        <p:spPr>
          <a:xfrm>
            <a:off x="658368" y="4041648"/>
            <a:ext cx="2240280" cy="310896"/>
          </a:xfrm>
          <a:prstGeom prst="rect">
            <a:avLst/>
          </a:prstGeom>
          <a:noFill/>
          <a:ln/>
        </p:spPr>
        <p:txBody>
          <a:bodyPr wrap="square" lIns="0" tIns="0" rIns="0" bIns="0" rtlCol="0" anchor="ctr"/>
          <a:lstStyle/>
          <a:p>
            <a:pPr indent="0" marL="0">
              <a:lnSpc>
                <a:spcPts val="1000"/>
              </a:lnSpc>
              <a:buNone/>
            </a:pPr>
            <a:r>
              <a:rPr lang="en-US" sz="800" dirty="0">
                <a:solidFill>
                  <a:srgbClr val="A9BEDC"/>
                </a:solidFill>
                <a:latin typeface="Calibri" pitchFamily="34" charset="0"/>
                <a:ea typeface="Calibri" pitchFamily="34" charset="-122"/>
                <a:cs typeface="Calibri" pitchFamily="34" charset="-120"/>
              </a:rPr>
              <a:t>IndiGo OTP 82.8%, May 2026 — SpiceJet was 43% in March</a:t>
            </a:r>
            <a:endParaRPr lang="en-US" sz="800" dirty="0"/>
          </a:p>
        </p:txBody>
      </p:sp>
      <p:sp>
        <p:nvSpPr>
          <p:cNvPr id="36" name="Shape 31"/>
          <p:cNvSpPr/>
          <p:nvPr/>
        </p:nvSpPr>
        <p:spPr>
          <a:xfrm>
            <a:off x="3300984" y="3054096"/>
            <a:ext cx="2624328" cy="1371600"/>
          </a:xfrm>
          <a:prstGeom prst="roundRect">
            <a:avLst>
              <a:gd name="adj" fmla="val 4000"/>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37" name="Image 3" descr="preencoded.png">    </p:cNvPr>
          <p:cNvPicPr>
            <a:picLocks noChangeAspect="1"/>
          </p:cNvPicPr>
          <p:nvPr/>
        </p:nvPicPr>
        <p:blipFill>
          <a:blip r:embed="rId4"/>
          <a:stretch>
            <a:fillRect/>
          </a:stretch>
        </p:blipFill>
        <p:spPr>
          <a:xfrm>
            <a:off x="3502152" y="3200400"/>
            <a:ext cx="256032" cy="256032"/>
          </a:xfrm>
          <a:prstGeom prst="rect">
            <a:avLst/>
          </a:prstGeom>
        </p:spPr>
      </p:pic>
      <p:sp>
        <p:nvSpPr>
          <p:cNvPr id="38" name="Text 32"/>
          <p:cNvSpPr/>
          <p:nvPr/>
        </p:nvSpPr>
        <p:spPr>
          <a:xfrm>
            <a:off x="3831336" y="3145536"/>
            <a:ext cx="1920240" cy="365760"/>
          </a:xfrm>
          <a:prstGeom prst="rect">
            <a:avLst/>
          </a:prstGeom>
          <a:noFill/>
          <a:ln/>
        </p:spPr>
        <p:txBody>
          <a:bodyPr wrap="square" lIns="0" tIns="0" rIns="0" bIns="0" rtlCol="0" anchor="ctr"/>
          <a:lstStyle/>
          <a:p>
            <a:pPr indent="0" marL="0">
              <a:buNone/>
            </a:pPr>
            <a:r>
              <a:rPr lang="en-US" sz="1900" b="1" dirty="0">
                <a:solidFill>
                  <a:srgbClr val="FFB020"/>
                </a:solidFill>
                <a:latin typeface="Cambria" pitchFamily="34" charset="0"/>
                <a:ea typeface="Cambria" pitchFamily="34" charset="-122"/>
                <a:cs typeface="Cambria" pitchFamily="34" charset="-120"/>
              </a:rPr>
              <a:t>₹4.24 cr</a:t>
            </a:r>
            <a:endParaRPr lang="en-US" sz="1900" dirty="0"/>
          </a:p>
        </p:txBody>
      </p:sp>
      <p:sp>
        <p:nvSpPr>
          <p:cNvPr id="39" name="Text 33"/>
          <p:cNvSpPr/>
          <p:nvPr/>
        </p:nvSpPr>
        <p:spPr>
          <a:xfrm>
            <a:off x="3502152" y="3584448"/>
            <a:ext cx="2240280" cy="438912"/>
          </a:xfrm>
          <a:prstGeom prst="rect">
            <a:avLst/>
          </a:prstGeom>
          <a:noFill/>
          <a:ln/>
        </p:spPr>
        <p:txBody>
          <a:bodyPr wrap="square" lIns="0" tIns="0" rIns="0" bIns="0" rtlCol="0" anchor="ctr"/>
          <a:lstStyle/>
          <a:p>
            <a:pPr indent="0" marL="0">
              <a:lnSpc>
                <a:spcPts val="1150"/>
              </a:lnSpc>
              <a:buNone/>
            </a:pPr>
            <a:r>
              <a:rPr lang="en-US" sz="950" b="1" dirty="0">
                <a:solidFill>
                  <a:srgbClr val="FFFFFF"/>
                </a:solidFill>
                <a:latin typeface="Calibri" pitchFamily="34" charset="0"/>
                <a:ea typeface="Calibri" pitchFamily="34" charset="-122"/>
                <a:cs typeface="Calibri" pitchFamily="34" charset="-120"/>
              </a:rPr>
              <a:t>spent by Indian carriers on delay facilitation</a:t>
            </a:r>
            <a:endParaRPr lang="en-US" sz="950" dirty="0"/>
          </a:p>
        </p:txBody>
      </p:sp>
      <p:sp>
        <p:nvSpPr>
          <p:cNvPr id="40" name="Text 34"/>
          <p:cNvSpPr/>
          <p:nvPr/>
        </p:nvSpPr>
        <p:spPr>
          <a:xfrm>
            <a:off x="3502152" y="4041648"/>
            <a:ext cx="2240280" cy="310896"/>
          </a:xfrm>
          <a:prstGeom prst="rect">
            <a:avLst/>
          </a:prstGeom>
          <a:noFill/>
          <a:ln/>
        </p:spPr>
        <p:txBody>
          <a:bodyPr wrap="square" lIns="0" tIns="0" rIns="0" bIns="0" rtlCol="0" anchor="ctr"/>
          <a:lstStyle/>
          <a:p>
            <a:pPr indent="0" marL="0">
              <a:lnSpc>
                <a:spcPts val="1000"/>
              </a:lnSpc>
              <a:buNone/>
            </a:pPr>
            <a:r>
              <a:rPr lang="en-US" sz="800" dirty="0">
                <a:solidFill>
                  <a:srgbClr val="A9BEDC"/>
                </a:solidFill>
                <a:latin typeface="Calibri" pitchFamily="34" charset="0"/>
                <a:ea typeface="Calibri" pitchFamily="34" charset="-122"/>
                <a:cs typeface="Calibri" pitchFamily="34" charset="-120"/>
              </a:rPr>
              <a:t>in a single month — May 2026, DGCA report</a:t>
            </a:r>
            <a:endParaRPr lang="en-US" sz="800" dirty="0"/>
          </a:p>
        </p:txBody>
      </p:sp>
      <p:sp>
        <p:nvSpPr>
          <p:cNvPr id="41" name="Shape 35"/>
          <p:cNvSpPr/>
          <p:nvPr/>
        </p:nvSpPr>
        <p:spPr>
          <a:xfrm>
            <a:off x="6144768" y="3054096"/>
            <a:ext cx="2624328" cy="1371600"/>
          </a:xfrm>
          <a:prstGeom prst="roundRect">
            <a:avLst>
              <a:gd name="adj" fmla="val 4000"/>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42" name="Image 4" descr="preencoded.png">    </p:cNvPr>
          <p:cNvPicPr>
            <a:picLocks noChangeAspect="1"/>
          </p:cNvPicPr>
          <p:nvPr/>
        </p:nvPicPr>
        <p:blipFill>
          <a:blip r:embed="rId5"/>
          <a:stretch>
            <a:fillRect/>
          </a:stretch>
        </p:blipFill>
        <p:spPr>
          <a:xfrm>
            <a:off x="6345936" y="3200400"/>
            <a:ext cx="256032" cy="256032"/>
          </a:xfrm>
          <a:prstGeom prst="rect">
            <a:avLst/>
          </a:prstGeom>
        </p:spPr>
      </p:pic>
      <p:sp>
        <p:nvSpPr>
          <p:cNvPr id="43" name="Text 36"/>
          <p:cNvSpPr/>
          <p:nvPr/>
        </p:nvSpPr>
        <p:spPr>
          <a:xfrm>
            <a:off x="6675120" y="3145536"/>
            <a:ext cx="1920240" cy="365760"/>
          </a:xfrm>
          <a:prstGeom prst="rect">
            <a:avLst/>
          </a:prstGeom>
          <a:noFill/>
          <a:ln/>
        </p:spPr>
        <p:txBody>
          <a:bodyPr wrap="square" lIns="0" tIns="0" rIns="0" bIns="0" rtlCol="0" anchor="ctr"/>
          <a:lstStyle/>
          <a:p>
            <a:pPr indent="0" marL="0">
              <a:buNone/>
            </a:pPr>
            <a:r>
              <a:rPr lang="en-US" sz="1900" b="1" dirty="0">
                <a:solidFill>
                  <a:srgbClr val="9B8CFF"/>
                </a:solidFill>
                <a:latin typeface="Cambria" pitchFamily="34" charset="0"/>
                <a:ea typeface="Cambria" pitchFamily="34" charset="-122"/>
                <a:cs typeface="Cambria" pitchFamily="34" charset="-120"/>
              </a:rPr>
              <a:t>2.4 lakh</a:t>
            </a:r>
            <a:endParaRPr lang="en-US" sz="1900" dirty="0"/>
          </a:p>
        </p:txBody>
      </p:sp>
      <p:sp>
        <p:nvSpPr>
          <p:cNvPr id="44" name="Text 37"/>
          <p:cNvSpPr/>
          <p:nvPr/>
        </p:nvSpPr>
        <p:spPr>
          <a:xfrm>
            <a:off x="6345936" y="3584448"/>
            <a:ext cx="2240280" cy="438912"/>
          </a:xfrm>
          <a:prstGeom prst="rect">
            <a:avLst/>
          </a:prstGeom>
          <a:noFill/>
          <a:ln/>
        </p:spPr>
        <p:txBody>
          <a:bodyPr wrap="square" lIns="0" tIns="0" rIns="0" bIns="0" rtlCol="0" anchor="ctr"/>
          <a:lstStyle/>
          <a:p>
            <a:pPr indent="0" marL="0">
              <a:lnSpc>
                <a:spcPts val="1150"/>
              </a:lnSpc>
              <a:buNone/>
            </a:pPr>
            <a:r>
              <a:rPr lang="en-US" sz="950" b="1" dirty="0">
                <a:solidFill>
                  <a:srgbClr val="FFFFFF"/>
                </a:solidFill>
                <a:latin typeface="Calibri" pitchFamily="34" charset="0"/>
                <a:ea typeface="Calibri" pitchFamily="34" charset="-122"/>
                <a:cs typeface="Calibri" pitchFamily="34" charset="-120"/>
              </a:rPr>
              <a:t>passengers hit by delay or cancellation</a:t>
            </a:r>
            <a:endParaRPr lang="en-US" sz="950" dirty="0"/>
          </a:p>
        </p:txBody>
      </p:sp>
      <p:sp>
        <p:nvSpPr>
          <p:cNvPr id="45" name="Text 38"/>
          <p:cNvSpPr/>
          <p:nvPr/>
        </p:nvSpPr>
        <p:spPr>
          <a:xfrm>
            <a:off x="6345936" y="4041648"/>
            <a:ext cx="2240280" cy="310896"/>
          </a:xfrm>
          <a:prstGeom prst="rect">
            <a:avLst/>
          </a:prstGeom>
          <a:noFill/>
          <a:ln/>
        </p:spPr>
        <p:txBody>
          <a:bodyPr wrap="square" lIns="0" tIns="0" rIns="0" bIns="0" rtlCol="0" anchor="ctr"/>
          <a:lstStyle/>
          <a:p>
            <a:pPr indent="0" marL="0">
              <a:lnSpc>
                <a:spcPts val="1000"/>
              </a:lnSpc>
              <a:buNone/>
            </a:pPr>
            <a:r>
              <a:rPr lang="en-US" sz="800" dirty="0">
                <a:solidFill>
                  <a:srgbClr val="A9BEDC"/>
                </a:solidFill>
                <a:latin typeface="Calibri" pitchFamily="34" charset="0"/>
                <a:ea typeface="Calibri" pitchFamily="34" charset="-122"/>
                <a:cs typeface="Calibri" pitchFamily="34" charset="-120"/>
              </a:rPr>
              <a:t>1.77 lakh delayed + 63,723 cancelled, May 2026</a:t>
            </a:r>
            <a:endParaRPr lang="en-US" sz="800" dirty="0"/>
          </a:p>
        </p:txBody>
      </p:sp>
      <p:sp>
        <p:nvSpPr>
          <p:cNvPr id="46" name="Shape 39"/>
          <p:cNvSpPr/>
          <p:nvPr/>
        </p:nvSpPr>
        <p:spPr>
          <a:xfrm>
            <a:off x="8988552" y="3054096"/>
            <a:ext cx="2624328" cy="1371600"/>
          </a:xfrm>
          <a:prstGeom prst="roundRect">
            <a:avLst>
              <a:gd name="adj" fmla="val 4000"/>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47" name="Image 5" descr="preencoded.png">    </p:cNvPr>
          <p:cNvPicPr>
            <a:picLocks noChangeAspect="1"/>
          </p:cNvPicPr>
          <p:nvPr/>
        </p:nvPicPr>
        <p:blipFill>
          <a:blip r:embed="rId6"/>
          <a:stretch>
            <a:fillRect/>
          </a:stretch>
        </p:blipFill>
        <p:spPr>
          <a:xfrm>
            <a:off x="9189720" y="3200400"/>
            <a:ext cx="256032" cy="256032"/>
          </a:xfrm>
          <a:prstGeom prst="rect">
            <a:avLst/>
          </a:prstGeom>
        </p:spPr>
      </p:pic>
      <p:sp>
        <p:nvSpPr>
          <p:cNvPr id="48" name="Text 40"/>
          <p:cNvSpPr/>
          <p:nvPr/>
        </p:nvSpPr>
        <p:spPr>
          <a:xfrm>
            <a:off x="9518904" y="3145536"/>
            <a:ext cx="1920240" cy="365760"/>
          </a:xfrm>
          <a:prstGeom prst="rect">
            <a:avLst/>
          </a:prstGeom>
          <a:noFill/>
          <a:ln/>
        </p:spPr>
        <p:txBody>
          <a:bodyPr wrap="square" lIns="0" tIns="0" rIns="0" bIns="0" rtlCol="0" anchor="ctr"/>
          <a:lstStyle/>
          <a:p>
            <a:pPr indent="0" marL="0">
              <a:buNone/>
            </a:pPr>
            <a:r>
              <a:rPr lang="en-US" sz="1900" b="1" dirty="0">
                <a:solidFill>
                  <a:srgbClr val="3D9CFF"/>
                </a:solidFill>
                <a:latin typeface="Cambria" pitchFamily="34" charset="0"/>
                <a:ea typeface="Cambria" pitchFamily="34" charset="-122"/>
                <a:cs typeface="Cambria" pitchFamily="34" charset="-120"/>
              </a:rPr>
              <a:t>₹22.2 cr</a:t>
            </a:r>
            <a:endParaRPr lang="en-US" sz="1900" dirty="0"/>
          </a:p>
        </p:txBody>
      </p:sp>
      <p:sp>
        <p:nvSpPr>
          <p:cNvPr id="49" name="Text 41"/>
          <p:cNvSpPr/>
          <p:nvPr/>
        </p:nvSpPr>
        <p:spPr>
          <a:xfrm>
            <a:off x="9189720" y="3584448"/>
            <a:ext cx="2240280" cy="438912"/>
          </a:xfrm>
          <a:prstGeom prst="rect">
            <a:avLst/>
          </a:prstGeom>
          <a:noFill/>
          <a:ln/>
        </p:spPr>
        <p:txBody>
          <a:bodyPr wrap="square" lIns="0" tIns="0" rIns="0" bIns="0" rtlCol="0" anchor="ctr"/>
          <a:lstStyle/>
          <a:p>
            <a:pPr indent="0" marL="0">
              <a:lnSpc>
                <a:spcPts val="1150"/>
              </a:lnSpc>
              <a:buNone/>
            </a:pPr>
            <a:r>
              <a:rPr lang="en-US" sz="950" b="1" dirty="0">
                <a:solidFill>
                  <a:srgbClr val="FFFFFF"/>
                </a:solidFill>
                <a:latin typeface="Calibri" pitchFamily="34" charset="0"/>
                <a:ea typeface="Calibri" pitchFamily="34" charset="-122"/>
                <a:cs typeface="Calibri" pitchFamily="34" charset="-120"/>
              </a:rPr>
              <a:t>DGCA penalty on IndiGo</a:t>
            </a:r>
            <a:endParaRPr lang="en-US" sz="950" dirty="0"/>
          </a:p>
        </p:txBody>
      </p:sp>
      <p:sp>
        <p:nvSpPr>
          <p:cNvPr id="50" name="Text 42"/>
          <p:cNvSpPr/>
          <p:nvPr/>
        </p:nvSpPr>
        <p:spPr>
          <a:xfrm>
            <a:off x="9189720" y="4041648"/>
            <a:ext cx="2240280" cy="310896"/>
          </a:xfrm>
          <a:prstGeom prst="rect">
            <a:avLst/>
          </a:prstGeom>
          <a:noFill/>
          <a:ln/>
        </p:spPr>
        <p:txBody>
          <a:bodyPr wrap="square" lIns="0" tIns="0" rIns="0" bIns="0" rtlCol="0" anchor="ctr"/>
          <a:lstStyle/>
          <a:p>
            <a:pPr indent="0" marL="0">
              <a:lnSpc>
                <a:spcPts val="1000"/>
              </a:lnSpc>
              <a:buNone/>
            </a:pPr>
            <a:r>
              <a:rPr lang="en-US" sz="800" dirty="0">
                <a:solidFill>
                  <a:srgbClr val="A9BEDC"/>
                </a:solidFill>
                <a:latin typeface="Calibri" pitchFamily="34" charset="0"/>
                <a:ea typeface="Calibri" pitchFamily="34" charset="-122"/>
                <a:cs typeface="Calibri" pitchFamily="34" charset="-120"/>
              </a:rPr>
              <a:t>after 2,507 cancellations stranded 3 lakh flyers, Dec 2025</a:t>
            </a:r>
            <a:endParaRPr lang="en-US" sz="800" dirty="0"/>
          </a:p>
        </p:txBody>
      </p:sp>
      <p:sp>
        <p:nvSpPr>
          <p:cNvPr id="51" name="Text 43"/>
          <p:cNvSpPr/>
          <p:nvPr/>
        </p:nvSpPr>
        <p:spPr>
          <a:xfrm>
            <a:off x="457200" y="4572000"/>
            <a:ext cx="7315200" cy="219456"/>
          </a:xfrm>
          <a:prstGeom prst="rect">
            <a:avLst/>
          </a:prstGeom>
          <a:noFill/>
          <a:ln/>
        </p:spPr>
        <p:txBody>
          <a:bodyPr wrap="square" lIns="0" tIns="0" rIns="0" bIns="0" rtlCol="0" anchor="ctr"/>
          <a:lstStyle/>
          <a:p>
            <a:pPr indent="0" marL="0">
              <a:buNone/>
            </a:pPr>
            <a:r>
              <a:rPr lang="en-US" sz="900" b="1" spc="140" kern="0" dirty="0">
                <a:solidFill>
                  <a:srgbClr val="3D9CFF"/>
                </a:solidFill>
                <a:latin typeface="Calibri" pitchFamily="34" charset="0"/>
                <a:ea typeface="Calibri" pitchFamily="34" charset="-122"/>
                <a:cs typeface="Calibri" pitchFamily="34" charset="-120"/>
              </a:rPr>
              <a:t>WHO IS ALREADY IN THIS MARKET — AND WHERE EACH ONE STOPS</a:t>
            </a:r>
            <a:endParaRPr lang="en-US" sz="900" dirty="0"/>
          </a:p>
        </p:txBody>
      </p:sp>
      <p:sp>
        <p:nvSpPr>
          <p:cNvPr id="52" name="Shape 44"/>
          <p:cNvSpPr/>
          <p:nvPr/>
        </p:nvSpPr>
        <p:spPr>
          <a:xfrm>
            <a:off x="457200" y="4846320"/>
            <a:ext cx="1847088" cy="969264"/>
          </a:xfrm>
          <a:prstGeom prst="roundRect">
            <a:avLst>
              <a:gd name="adj" fmla="val 5660"/>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53" name="Shape 45"/>
          <p:cNvSpPr/>
          <p:nvPr/>
        </p:nvSpPr>
        <p:spPr>
          <a:xfrm>
            <a:off x="640080" y="4992624"/>
            <a:ext cx="118872" cy="118872"/>
          </a:xfrm>
          <a:prstGeom prst="ellipse">
            <a:avLst/>
          </a:prstGeom>
          <a:solidFill>
            <a:srgbClr val="3D9CFF"/>
          </a:solidFill>
          <a:ln w="12700">
            <a:solidFill>
              <a:srgbClr val="333333"/>
            </a:solidFill>
            <a:prstDash val="solid"/>
          </a:ln>
        </p:spPr>
      </p:sp>
      <p:sp>
        <p:nvSpPr>
          <p:cNvPr id="54" name="Text 46"/>
          <p:cNvSpPr/>
          <p:nvPr/>
        </p:nvSpPr>
        <p:spPr>
          <a:xfrm>
            <a:off x="841248" y="4919472"/>
            <a:ext cx="132588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Lumo</a:t>
            </a:r>
            <a:endParaRPr lang="en-US" sz="1050" dirty="0"/>
          </a:p>
        </p:txBody>
      </p:sp>
      <p:sp>
        <p:nvSpPr>
          <p:cNvPr id="55" name="Text 47"/>
          <p:cNvSpPr/>
          <p:nvPr/>
        </p:nvSpPr>
        <p:spPr>
          <a:xfrm>
            <a:off x="640080" y="5193792"/>
            <a:ext cx="1536192" cy="475488"/>
          </a:xfrm>
          <a:prstGeom prst="rect">
            <a:avLst/>
          </a:prstGeom>
          <a:noFill/>
          <a:ln/>
        </p:spPr>
        <p:txBody>
          <a:bodyPr wrap="square" lIns="0" tIns="0" rIns="0" bIns="0" rtlCol="0" anchor="ctr"/>
          <a:lstStyle/>
          <a:p>
            <a:pPr indent="0" marL="0">
              <a:lnSpc>
                <a:spcPts val="1050"/>
              </a:lnSpc>
              <a:buNone/>
            </a:pPr>
            <a:r>
              <a:rPr lang="en-US" sz="850" dirty="0">
                <a:solidFill>
                  <a:srgbClr val="A9BEDC"/>
                </a:solidFill>
                <a:latin typeface="Calibri" pitchFamily="34" charset="0"/>
                <a:ea typeface="Calibri" pitchFamily="34" charset="-122"/>
                <a:cs typeface="Calibri" pitchFamily="34" charset="-120"/>
              </a:rPr>
              <a:t>predicts delays,</a:t>
            </a:r>
            <a:endParaRPr lang="en-US" sz="850" dirty="0"/>
          </a:p>
          <a:p>
            <a:pPr indent="0" marL="0">
              <a:lnSpc>
                <a:spcPts val="1050"/>
              </a:lnSpc>
              <a:buNone/>
            </a:pPr>
            <a:r>
              <a:rPr lang="en-US" sz="850" dirty="0">
                <a:solidFill>
                  <a:srgbClr val="A9BEDC"/>
                </a:solidFill>
                <a:latin typeface="Calibri" pitchFamily="34" charset="0"/>
                <a:ea typeface="Calibri" pitchFamily="34" charset="-122"/>
                <a:cs typeface="Calibri" pitchFamily="34" charset="-120"/>
              </a:rPr>
              <a:t>never transacts</a:t>
            </a:r>
            <a:endParaRPr lang="en-US" sz="850" dirty="0"/>
          </a:p>
        </p:txBody>
      </p:sp>
      <p:sp>
        <p:nvSpPr>
          <p:cNvPr id="56" name="Shape 48"/>
          <p:cNvSpPr/>
          <p:nvPr/>
        </p:nvSpPr>
        <p:spPr>
          <a:xfrm>
            <a:off x="2468880" y="4846320"/>
            <a:ext cx="1847088" cy="969264"/>
          </a:xfrm>
          <a:prstGeom prst="roundRect">
            <a:avLst>
              <a:gd name="adj" fmla="val 5660"/>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57" name="Shape 49"/>
          <p:cNvSpPr/>
          <p:nvPr/>
        </p:nvSpPr>
        <p:spPr>
          <a:xfrm>
            <a:off x="2651760" y="4992624"/>
            <a:ext cx="118872" cy="118872"/>
          </a:xfrm>
          <a:prstGeom prst="ellipse">
            <a:avLst/>
          </a:prstGeom>
          <a:solidFill>
            <a:srgbClr val="9B8CFF"/>
          </a:solidFill>
          <a:ln w="12700">
            <a:solidFill>
              <a:srgbClr val="333333"/>
            </a:solidFill>
            <a:prstDash val="solid"/>
          </a:ln>
        </p:spPr>
      </p:sp>
      <p:sp>
        <p:nvSpPr>
          <p:cNvPr id="58" name="Text 50"/>
          <p:cNvSpPr/>
          <p:nvPr/>
        </p:nvSpPr>
        <p:spPr>
          <a:xfrm>
            <a:off x="2852928" y="4919472"/>
            <a:ext cx="132588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Freebird</a:t>
            </a:r>
            <a:endParaRPr lang="en-US" sz="1050" dirty="0"/>
          </a:p>
        </p:txBody>
      </p:sp>
      <p:sp>
        <p:nvSpPr>
          <p:cNvPr id="59" name="Text 51"/>
          <p:cNvSpPr/>
          <p:nvPr/>
        </p:nvSpPr>
        <p:spPr>
          <a:xfrm>
            <a:off x="2651760" y="5193792"/>
            <a:ext cx="1536192" cy="475488"/>
          </a:xfrm>
          <a:prstGeom prst="rect">
            <a:avLst/>
          </a:prstGeom>
          <a:noFill/>
          <a:ln/>
        </p:spPr>
        <p:txBody>
          <a:bodyPr wrap="square" lIns="0" tIns="0" rIns="0" bIns="0" rtlCol="0" anchor="ctr"/>
          <a:lstStyle/>
          <a:p>
            <a:pPr indent="0" marL="0">
              <a:lnSpc>
                <a:spcPts val="1050"/>
              </a:lnSpc>
              <a:buNone/>
            </a:pPr>
            <a:r>
              <a:rPr lang="en-US" sz="850" dirty="0">
                <a:solidFill>
                  <a:srgbClr val="A9BEDC"/>
                </a:solidFill>
                <a:latin typeface="Calibri" pitchFamily="34" charset="0"/>
                <a:ea typeface="Calibri" pitchFamily="34" charset="-122"/>
                <a:cs typeface="Calibri" pitchFamily="34" charset="-120"/>
              </a:rPr>
              <a:t>rebooks the air leg,</a:t>
            </a:r>
            <a:endParaRPr lang="en-US" sz="850" dirty="0"/>
          </a:p>
          <a:p>
            <a:pPr indent="0" marL="0">
              <a:lnSpc>
                <a:spcPts val="1050"/>
              </a:lnSpc>
              <a:buNone/>
            </a:pPr>
            <a:r>
              <a:rPr lang="en-US" sz="850" dirty="0">
                <a:solidFill>
                  <a:srgbClr val="A9BEDC"/>
                </a:solidFill>
                <a:latin typeface="Calibri" pitchFamily="34" charset="0"/>
                <a:ea typeface="Calibri" pitchFamily="34" charset="-122"/>
                <a:cs typeface="Calibri" pitchFamily="34" charset="-120"/>
              </a:rPr>
              <a:t>nothing else</a:t>
            </a:r>
            <a:endParaRPr lang="en-US" sz="850" dirty="0"/>
          </a:p>
        </p:txBody>
      </p:sp>
      <p:sp>
        <p:nvSpPr>
          <p:cNvPr id="60" name="Shape 52"/>
          <p:cNvSpPr/>
          <p:nvPr/>
        </p:nvSpPr>
        <p:spPr>
          <a:xfrm>
            <a:off x="4480560" y="4846320"/>
            <a:ext cx="1847088" cy="969264"/>
          </a:xfrm>
          <a:prstGeom prst="roundRect">
            <a:avLst>
              <a:gd name="adj" fmla="val 5660"/>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61" name="Shape 53"/>
          <p:cNvSpPr/>
          <p:nvPr/>
        </p:nvSpPr>
        <p:spPr>
          <a:xfrm>
            <a:off x="4663440" y="4992624"/>
            <a:ext cx="118872" cy="118872"/>
          </a:xfrm>
          <a:prstGeom prst="ellipse">
            <a:avLst/>
          </a:prstGeom>
          <a:solidFill>
            <a:srgbClr val="FFB020"/>
          </a:solidFill>
          <a:ln w="12700">
            <a:solidFill>
              <a:srgbClr val="333333"/>
            </a:solidFill>
            <a:prstDash val="solid"/>
          </a:ln>
        </p:spPr>
      </p:sp>
      <p:sp>
        <p:nvSpPr>
          <p:cNvPr id="62" name="Text 54"/>
          <p:cNvSpPr/>
          <p:nvPr/>
        </p:nvSpPr>
        <p:spPr>
          <a:xfrm>
            <a:off x="4864608" y="4919472"/>
            <a:ext cx="132588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Kaiban</a:t>
            </a:r>
            <a:endParaRPr lang="en-US" sz="1050" dirty="0"/>
          </a:p>
        </p:txBody>
      </p:sp>
      <p:sp>
        <p:nvSpPr>
          <p:cNvPr id="63" name="Text 55"/>
          <p:cNvSpPr/>
          <p:nvPr/>
        </p:nvSpPr>
        <p:spPr>
          <a:xfrm>
            <a:off x="4663440" y="5193792"/>
            <a:ext cx="1536192" cy="475488"/>
          </a:xfrm>
          <a:prstGeom prst="rect">
            <a:avLst/>
          </a:prstGeom>
          <a:noFill/>
          <a:ln/>
        </p:spPr>
        <p:txBody>
          <a:bodyPr wrap="square" lIns="0" tIns="0" rIns="0" bIns="0" rtlCol="0" anchor="ctr"/>
          <a:lstStyle/>
          <a:p>
            <a:pPr indent="0" marL="0">
              <a:lnSpc>
                <a:spcPts val="1050"/>
              </a:lnSpc>
              <a:buNone/>
            </a:pPr>
            <a:r>
              <a:rPr lang="en-US" sz="850" dirty="0">
                <a:solidFill>
                  <a:srgbClr val="A9BEDC"/>
                </a:solidFill>
                <a:latin typeface="Calibri" pitchFamily="34" charset="0"/>
                <a:ea typeface="Calibri" pitchFamily="34" charset="-122"/>
                <a:cs typeface="Calibri" pitchFamily="34" charset="-120"/>
              </a:rPr>
              <a:t>airline-side IROPS,</a:t>
            </a:r>
            <a:endParaRPr lang="en-US" sz="850" dirty="0"/>
          </a:p>
          <a:p>
            <a:pPr indent="0" marL="0">
              <a:lnSpc>
                <a:spcPts val="1050"/>
              </a:lnSpc>
              <a:buNone/>
            </a:pPr>
            <a:r>
              <a:rPr lang="en-US" sz="850" dirty="0">
                <a:solidFill>
                  <a:srgbClr val="A9BEDC"/>
                </a:solidFill>
                <a:latin typeface="Calibri" pitchFamily="34" charset="0"/>
                <a:ea typeface="Calibri" pitchFamily="34" charset="-122"/>
                <a:cs typeface="Calibri" pitchFamily="34" charset="-120"/>
              </a:rPr>
              <a:t>optimises the carrier</a:t>
            </a:r>
            <a:endParaRPr lang="en-US" sz="850" dirty="0"/>
          </a:p>
        </p:txBody>
      </p:sp>
      <p:sp>
        <p:nvSpPr>
          <p:cNvPr id="64" name="Shape 56"/>
          <p:cNvSpPr/>
          <p:nvPr/>
        </p:nvSpPr>
        <p:spPr>
          <a:xfrm>
            <a:off x="6492240" y="4846320"/>
            <a:ext cx="1847088" cy="969264"/>
          </a:xfrm>
          <a:prstGeom prst="roundRect">
            <a:avLst>
              <a:gd name="adj" fmla="val 5660"/>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65" name="Shape 57"/>
          <p:cNvSpPr/>
          <p:nvPr/>
        </p:nvSpPr>
        <p:spPr>
          <a:xfrm>
            <a:off x="6675120" y="4992624"/>
            <a:ext cx="118872" cy="118872"/>
          </a:xfrm>
          <a:prstGeom prst="ellipse">
            <a:avLst/>
          </a:prstGeom>
          <a:solidFill>
            <a:srgbClr val="2ECC9A"/>
          </a:solidFill>
          <a:ln w="12700">
            <a:solidFill>
              <a:srgbClr val="333333"/>
            </a:solidFill>
            <a:prstDash val="solid"/>
          </a:ln>
        </p:spPr>
      </p:sp>
      <p:sp>
        <p:nvSpPr>
          <p:cNvPr id="66" name="Text 58"/>
          <p:cNvSpPr/>
          <p:nvPr/>
        </p:nvSpPr>
        <p:spPr>
          <a:xfrm>
            <a:off x="6876288" y="4919472"/>
            <a:ext cx="132588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Navan / TMCs</a:t>
            </a:r>
            <a:endParaRPr lang="en-US" sz="1050" dirty="0"/>
          </a:p>
        </p:txBody>
      </p:sp>
      <p:sp>
        <p:nvSpPr>
          <p:cNvPr id="67" name="Text 59"/>
          <p:cNvSpPr/>
          <p:nvPr/>
        </p:nvSpPr>
        <p:spPr>
          <a:xfrm>
            <a:off x="6675120" y="5193792"/>
            <a:ext cx="1536192" cy="475488"/>
          </a:xfrm>
          <a:prstGeom prst="rect">
            <a:avLst/>
          </a:prstGeom>
          <a:noFill/>
          <a:ln/>
        </p:spPr>
        <p:txBody>
          <a:bodyPr wrap="square" lIns="0" tIns="0" rIns="0" bIns="0" rtlCol="0" anchor="ctr"/>
          <a:lstStyle/>
          <a:p>
            <a:pPr indent="0" marL="0">
              <a:lnSpc>
                <a:spcPts val="1050"/>
              </a:lnSpc>
              <a:buNone/>
            </a:pPr>
            <a:r>
              <a:rPr lang="en-US" sz="850" dirty="0">
                <a:solidFill>
                  <a:srgbClr val="A9BEDC"/>
                </a:solidFill>
                <a:latin typeface="Calibri" pitchFamily="34" charset="0"/>
                <a:ea typeface="Calibri" pitchFamily="34" charset="-122"/>
                <a:cs typeface="Calibri" pitchFamily="34" charset="-120"/>
              </a:rPr>
              <a:t>corporate perimeter,</a:t>
            </a:r>
            <a:endParaRPr lang="en-US" sz="850" dirty="0"/>
          </a:p>
          <a:p>
            <a:pPr indent="0" marL="0">
              <a:lnSpc>
                <a:spcPts val="1050"/>
              </a:lnSpc>
              <a:buNone/>
            </a:pPr>
            <a:r>
              <a:rPr lang="en-US" sz="850" dirty="0">
                <a:solidFill>
                  <a:srgbClr val="A9BEDC"/>
                </a:solidFill>
                <a:latin typeface="Calibri" pitchFamily="34" charset="0"/>
                <a:ea typeface="Calibri" pitchFamily="34" charset="-122"/>
                <a:cs typeface="Calibri" pitchFamily="34" charset="-120"/>
              </a:rPr>
              <a:t>no benefits layer</a:t>
            </a:r>
            <a:endParaRPr lang="en-US" sz="850" dirty="0"/>
          </a:p>
        </p:txBody>
      </p:sp>
      <p:sp>
        <p:nvSpPr>
          <p:cNvPr id="68" name="Shape 60"/>
          <p:cNvSpPr/>
          <p:nvPr/>
        </p:nvSpPr>
        <p:spPr>
          <a:xfrm>
            <a:off x="8503920" y="4846320"/>
            <a:ext cx="1847088" cy="969264"/>
          </a:xfrm>
          <a:prstGeom prst="roundRect">
            <a:avLst>
              <a:gd name="adj" fmla="val 5660"/>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69" name="Shape 61"/>
          <p:cNvSpPr/>
          <p:nvPr/>
        </p:nvSpPr>
        <p:spPr>
          <a:xfrm>
            <a:off x="8686800" y="4992624"/>
            <a:ext cx="118872" cy="118872"/>
          </a:xfrm>
          <a:prstGeom prst="ellipse">
            <a:avLst/>
          </a:prstGeom>
          <a:solidFill>
            <a:srgbClr val="FF6B6B"/>
          </a:solidFill>
          <a:ln w="12700">
            <a:solidFill>
              <a:srgbClr val="333333"/>
            </a:solidFill>
            <a:prstDash val="solid"/>
          </a:ln>
        </p:spPr>
      </p:sp>
      <p:sp>
        <p:nvSpPr>
          <p:cNvPr id="70" name="Text 62"/>
          <p:cNvSpPr/>
          <p:nvPr/>
        </p:nvSpPr>
        <p:spPr>
          <a:xfrm>
            <a:off x="8887968" y="4919472"/>
            <a:ext cx="132588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AirSewa</a:t>
            </a:r>
            <a:endParaRPr lang="en-US" sz="1050" dirty="0"/>
          </a:p>
        </p:txBody>
      </p:sp>
      <p:sp>
        <p:nvSpPr>
          <p:cNvPr id="71" name="Text 63"/>
          <p:cNvSpPr/>
          <p:nvPr/>
        </p:nvSpPr>
        <p:spPr>
          <a:xfrm>
            <a:off x="8686800" y="5193792"/>
            <a:ext cx="1536192" cy="475488"/>
          </a:xfrm>
          <a:prstGeom prst="rect">
            <a:avLst/>
          </a:prstGeom>
          <a:noFill/>
          <a:ln/>
        </p:spPr>
        <p:txBody>
          <a:bodyPr wrap="square" lIns="0" tIns="0" rIns="0" bIns="0" rtlCol="0" anchor="ctr"/>
          <a:lstStyle/>
          <a:p>
            <a:pPr indent="0" marL="0">
              <a:lnSpc>
                <a:spcPts val="1050"/>
              </a:lnSpc>
              <a:buNone/>
            </a:pPr>
            <a:r>
              <a:rPr lang="en-US" sz="850" dirty="0">
                <a:solidFill>
                  <a:srgbClr val="A9BEDC"/>
                </a:solidFill>
                <a:latin typeface="Calibri" pitchFamily="34" charset="0"/>
                <a:ea typeface="Calibri" pitchFamily="34" charset="-122"/>
                <a:cs typeface="Calibri" pitchFamily="34" charset="-120"/>
              </a:rPr>
              <a:t>government grievance</a:t>
            </a:r>
            <a:endParaRPr lang="en-US" sz="850" dirty="0"/>
          </a:p>
          <a:p>
            <a:pPr indent="0" marL="0">
              <a:lnSpc>
                <a:spcPts val="1050"/>
              </a:lnSpc>
              <a:buNone/>
            </a:pPr>
            <a:r>
              <a:rPr lang="en-US" sz="850" dirty="0">
                <a:solidFill>
                  <a:srgbClr val="A9BEDC"/>
                </a:solidFill>
                <a:latin typeface="Calibri" pitchFamily="34" charset="0"/>
                <a:ea typeface="Calibri" pitchFamily="34" charset="-122"/>
                <a:cs typeface="Calibri" pitchFamily="34" charset="-120"/>
              </a:rPr>
              <a:t>portal — after the fact</a:t>
            </a:r>
            <a:endParaRPr lang="en-US" sz="850" dirty="0"/>
          </a:p>
        </p:txBody>
      </p:sp>
      <p:sp>
        <p:nvSpPr>
          <p:cNvPr id="72" name="Shape 64"/>
          <p:cNvSpPr/>
          <p:nvPr/>
        </p:nvSpPr>
        <p:spPr>
          <a:xfrm>
            <a:off x="10561320" y="4846320"/>
            <a:ext cx="1170432" cy="969264"/>
          </a:xfrm>
          <a:prstGeom prst="roundRect">
            <a:avLst>
              <a:gd name="adj" fmla="val 5660"/>
            </a:avLst>
          </a:prstGeom>
          <a:solidFill>
            <a:srgbClr val="1B3A69"/>
          </a:solidFill>
          <a:ln w="6350">
            <a:solidFill>
              <a:srgbClr val="1B3A69"/>
            </a:solidFill>
            <a:prstDash val="solid"/>
          </a:ln>
          <a:effectLst>
            <a:outerShdw sx="100000" sy="100000" kx="0" ky="0" algn="bl" rotWithShape="0" blurRad="114300" dist="25400" dir="5400000">
              <a:srgbClr val="000000">
                <a:alpha val="34000"/>
              </a:srgbClr>
            </a:outerShdw>
          </a:effectLst>
        </p:spPr>
      </p:sp>
      <p:sp>
        <p:nvSpPr>
          <p:cNvPr id="73" name="Text 65"/>
          <p:cNvSpPr/>
          <p:nvPr/>
        </p:nvSpPr>
        <p:spPr>
          <a:xfrm>
            <a:off x="10561320" y="4846320"/>
            <a:ext cx="1170432" cy="969264"/>
          </a:xfrm>
          <a:prstGeom prst="rect">
            <a:avLst/>
          </a:prstGeom>
          <a:noFill/>
          <a:ln/>
        </p:spPr>
        <p:txBody>
          <a:bodyPr wrap="square" lIns="0" tIns="0" rIns="0" bIns="0" rtlCol="0" anchor="ctr"/>
          <a:lstStyle/>
          <a:p>
            <a:pPr algn="ctr" indent="0" marL="0">
              <a:lnSpc>
                <a:spcPts val="1400"/>
              </a:lnSpc>
              <a:buNone/>
            </a:pPr>
            <a:r>
              <a:rPr lang="en-US" sz="1100" b="1" dirty="0">
                <a:solidFill>
                  <a:srgbClr val="3D9CFF"/>
                </a:solidFill>
                <a:latin typeface="Cambria" pitchFamily="34" charset="0"/>
                <a:ea typeface="Cambria" pitchFamily="34" charset="-122"/>
                <a:cs typeface="Cambria" pitchFamily="34" charset="-120"/>
              </a:rPr>
              <a:t>THE</a:t>
            </a:r>
            <a:endParaRPr lang="en-US" sz="1100" dirty="0"/>
          </a:p>
          <a:p>
            <a:pPr algn="ctr" indent="0" marL="0">
              <a:lnSpc>
                <a:spcPts val="1400"/>
              </a:lnSpc>
              <a:buNone/>
            </a:pPr>
            <a:r>
              <a:rPr lang="en-US" sz="1100" b="1" dirty="0">
                <a:solidFill>
                  <a:srgbClr val="3D9CFF"/>
                </a:solidFill>
                <a:latin typeface="Cambria" pitchFamily="34" charset="0"/>
                <a:ea typeface="Cambria" pitchFamily="34" charset="-122"/>
                <a:cs typeface="Cambria" pitchFamily="34" charset="-120"/>
              </a:rPr>
              <a:t>SEAM</a:t>
            </a:r>
            <a:endParaRPr lang="en-US" sz="1100" dirty="0"/>
          </a:p>
        </p:txBody>
      </p:sp>
      <p:sp>
        <p:nvSpPr>
          <p:cNvPr id="74" name="Text 66"/>
          <p:cNvSpPr/>
          <p:nvPr/>
        </p:nvSpPr>
        <p:spPr>
          <a:xfrm>
            <a:off x="457200" y="5925312"/>
            <a:ext cx="11274552" cy="310896"/>
          </a:xfrm>
          <a:prstGeom prst="rect">
            <a:avLst/>
          </a:prstGeom>
          <a:noFill/>
          <a:ln/>
        </p:spPr>
        <p:txBody>
          <a:bodyPr wrap="square" lIns="0" tIns="0" rIns="0" bIns="0" rtlCol="0" anchor="ctr"/>
          <a:lstStyle/>
          <a:p>
            <a:pPr indent="0" marL="0">
              <a:buNone/>
            </a:pPr>
            <a:r>
              <a:rPr lang="en-US" sz="1000" i="1" dirty="0">
                <a:solidFill>
                  <a:srgbClr val="E8F0FB"/>
                </a:solidFill>
                <a:latin typeface="Calibri" pitchFamily="34" charset="0"/>
                <a:ea typeface="Calibri" pitchFamily="34" charset="-122"/>
                <a:cs typeface="Calibri" pitchFamily="34" charset="-120"/>
              </a:rPr>
              <a:t>Prediction, rebooking, ground logistics and statutory duty-of-care are four separate industries. The traveller is the systems integrator between them — and only the issuer holds a relationship that spans all four.</a:t>
            </a:r>
            <a:endParaRPr lang="en-US" sz="1000" dirty="0"/>
          </a:p>
        </p:txBody>
      </p:sp>
      <p:sp>
        <p:nvSpPr>
          <p:cNvPr id="75" name="Text 67"/>
          <p:cNvSpPr/>
          <p:nvPr/>
        </p:nvSpPr>
        <p:spPr>
          <a:xfrm>
            <a:off x="457200" y="6382512"/>
            <a:ext cx="11274552" cy="310896"/>
          </a:xfrm>
          <a:prstGeom prst="rect">
            <a:avLst/>
          </a:prstGeom>
          <a:noFill/>
          <a:ln/>
        </p:spPr>
        <p:txBody>
          <a:bodyPr wrap="square" lIns="0" tIns="0" rIns="0" bIns="0" rtlCol="0" anchor="t"/>
          <a:lstStyle/>
          <a:p>
            <a:pPr indent="0" marL="0">
              <a:buNone/>
            </a:pPr>
            <a:r>
              <a:rPr lang="en-US" sz="750" b="1" spc="120" kern="0" dirty="0">
                <a:solidFill>
                  <a:srgbClr val="7B94BA"/>
                </a:solidFill>
                <a:latin typeface="Calibri" pitchFamily="34" charset="0"/>
                <a:ea typeface="Calibri" pitchFamily="34" charset="-122"/>
                <a:cs typeface="Calibri" pitchFamily="34" charset="-120"/>
              </a:rPr>
              <a:t>SOURCES  </a:t>
            </a:r>
            <a:pPr indent="0" marL="0">
              <a:buNone/>
            </a:pPr>
            <a:r>
              <a:rPr lang="en-US" sz="750" dirty="0">
                <a:solidFill>
                  <a:srgbClr val="7B94BA"/>
                </a:solidFill>
                <a:latin typeface="Calibri" pitchFamily="34" charset="0"/>
                <a:ea typeface="Calibri" pitchFamily="34" charset="-122"/>
                <a:cs typeface="Calibri" pitchFamily="34" charset="-120"/>
              </a:rPr>
              <a:t>DGCA monthly operational reports, March &amp; May 2026 (OTP, cancellation rate, passengers affected, facilitation spend); DGCA Annual Report FY2024-25 (16.4 cr domestic passengers); DGCA penalty order on IndiGo, Jan 2026; company product pages.</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B3D"/>
        </a:solidFill>
      </p:bgPr>
    </p:bg>
    <p:spTree>
      <p:nvGrpSpPr>
        <p:cNvPr id="1" name=""/>
        <p:cNvGrpSpPr/>
        <p:nvPr/>
      </p:nvGrpSpPr>
      <p:grpSpPr>
        <a:xfrm>
          <a:off x="0" y="0"/>
          <a:ext cx="0" cy="0"/>
          <a:chOff x="0" y="0"/>
          <a:chExt cx="0" cy="0"/>
        </a:xfrm>
      </p:grpSpPr>
      <p:sp>
        <p:nvSpPr>
          <p:cNvPr id="2" name="Text 0"/>
          <p:cNvSpPr/>
          <p:nvPr/>
        </p:nvSpPr>
        <p:spPr>
          <a:xfrm>
            <a:off x="457200" y="146304"/>
            <a:ext cx="8229600" cy="201168"/>
          </a:xfrm>
          <a:prstGeom prst="rect">
            <a:avLst/>
          </a:prstGeom>
          <a:noFill/>
          <a:ln/>
        </p:spPr>
        <p:txBody>
          <a:bodyPr wrap="square" lIns="0" tIns="0" rIns="0" bIns="0" rtlCol="0" anchor="ctr"/>
          <a:lstStyle/>
          <a:p>
            <a:pPr indent="0" marL="0">
              <a:buNone/>
            </a:pPr>
            <a:r>
              <a:rPr lang="en-US" sz="850" b="1" spc="220" kern="0" dirty="0">
                <a:solidFill>
                  <a:srgbClr val="3D9CFF"/>
                </a:solidFill>
                <a:latin typeface="Calibri" pitchFamily="34" charset="0"/>
                <a:ea typeface="Calibri" pitchFamily="34" charset="-122"/>
                <a:cs typeface="Calibri" pitchFamily="34" charset="-120"/>
              </a:rPr>
              <a:t>02 · THE SOLUTION</a:t>
            </a:r>
            <a:endParaRPr lang="en-US" sz="850" dirty="0"/>
          </a:p>
        </p:txBody>
      </p:sp>
      <p:sp>
        <p:nvSpPr>
          <p:cNvPr id="3" name="Text 1"/>
          <p:cNvSpPr/>
          <p:nvPr/>
        </p:nvSpPr>
        <p:spPr>
          <a:xfrm>
            <a:off x="11155680" y="146304"/>
            <a:ext cx="576072" cy="201168"/>
          </a:xfrm>
          <a:prstGeom prst="rect">
            <a:avLst/>
          </a:prstGeom>
          <a:noFill/>
          <a:ln/>
        </p:spPr>
        <p:txBody>
          <a:bodyPr wrap="square" lIns="0" tIns="0" rIns="0" bIns="0" rtlCol="0" anchor="ctr"/>
          <a:lstStyle/>
          <a:p>
            <a:pPr algn="r" indent="0" marL="0">
              <a:buNone/>
            </a:pPr>
            <a:r>
              <a:rPr lang="en-US" sz="850" dirty="0">
                <a:solidFill>
                  <a:srgbClr val="7B94BA"/>
                </a:solidFill>
                <a:latin typeface="Calibri" pitchFamily="34" charset="0"/>
                <a:ea typeface="Calibri" pitchFamily="34" charset="-122"/>
                <a:cs typeface="Calibri" pitchFamily="34" charset="-120"/>
              </a:rPr>
              <a:t>3</a:t>
            </a:r>
            <a:endParaRPr lang="en-US" sz="850" dirty="0"/>
          </a:p>
        </p:txBody>
      </p:sp>
      <p:sp>
        <p:nvSpPr>
          <p:cNvPr id="4" name="Text 2"/>
          <p:cNvSpPr/>
          <p:nvPr/>
        </p:nvSpPr>
        <p:spPr>
          <a:xfrm>
            <a:off x="457200" y="365760"/>
            <a:ext cx="11274552" cy="420624"/>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Five pipelines. One policy gate. Nothing acts alone.</a:t>
            </a:r>
            <a:endParaRPr lang="en-US" sz="2500" dirty="0"/>
          </a:p>
        </p:txBody>
      </p:sp>
      <p:sp>
        <p:nvSpPr>
          <p:cNvPr id="5" name="Text 3"/>
          <p:cNvSpPr/>
          <p:nvPr/>
        </p:nvSpPr>
        <p:spPr>
          <a:xfrm>
            <a:off x="457200" y="804672"/>
            <a:ext cx="11274552" cy="256032"/>
          </a:xfrm>
          <a:prstGeom prst="rect">
            <a:avLst/>
          </a:prstGeom>
          <a:noFill/>
          <a:ln/>
        </p:spPr>
        <p:txBody>
          <a:bodyPr wrap="square" lIns="0" tIns="0" rIns="0" bIns="0" rtlCol="0" anchor="ctr"/>
          <a:lstStyle/>
          <a:p>
            <a:pPr indent="0" marL="0">
              <a:buNone/>
            </a:pPr>
            <a:r>
              <a:rPr lang="en-US" sz="1150" dirty="0">
                <a:solidFill>
                  <a:srgbClr val="A9BEDC"/>
                </a:solidFill>
                <a:latin typeface="Calibri" pitchFamily="34" charset="0"/>
                <a:ea typeface="Calibri" pitchFamily="34" charset="-122"/>
                <a:cs typeface="Calibri" pitchFamily="34" charset="-120"/>
              </a:rPr>
              <a:t>Mapped directly onto the five tasks in the problem statement — each pipeline ships independently, neither horizontal layer is optional</a:t>
            </a:r>
            <a:endParaRPr lang="en-US" sz="1150" dirty="0"/>
          </a:p>
        </p:txBody>
      </p:sp>
      <p:sp>
        <p:nvSpPr>
          <p:cNvPr id="6" name="Shape 4"/>
          <p:cNvSpPr/>
          <p:nvPr/>
        </p:nvSpPr>
        <p:spPr>
          <a:xfrm>
            <a:off x="457200" y="1152144"/>
            <a:ext cx="2112264" cy="2157984"/>
          </a:xfrm>
          <a:prstGeom prst="roundRect">
            <a:avLst>
              <a:gd name="adj" fmla="val 259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7" name="Image 0" descr="preencoded.png">    </p:cNvPr>
          <p:cNvPicPr>
            <a:picLocks noChangeAspect="1"/>
          </p:cNvPicPr>
          <p:nvPr/>
        </p:nvPicPr>
        <p:blipFill>
          <a:blip r:embed="rId1"/>
          <a:stretch>
            <a:fillRect/>
          </a:stretch>
        </p:blipFill>
        <p:spPr>
          <a:xfrm>
            <a:off x="640080" y="1280160"/>
            <a:ext cx="292608" cy="292608"/>
          </a:xfrm>
          <a:prstGeom prst="rect">
            <a:avLst/>
          </a:prstGeom>
        </p:spPr>
      </p:pic>
      <p:sp>
        <p:nvSpPr>
          <p:cNvPr id="8" name="Text 5"/>
          <p:cNvSpPr/>
          <p:nvPr/>
        </p:nvSpPr>
        <p:spPr>
          <a:xfrm>
            <a:off x="1024128" y="1298448"/>
            <a:ext cx="457200" cy="256032"/>
          </a:xfrm>
          <a:prstGeom prst="rect">
            <a:avLst/>
          </a:prstGeom>
          <a:noFill/>
          <a:ln/>
        </p:spPr>
        <p:txBody>
          <a:bodyPr wrap="square" lIns="0" tIns="0" rIns="0" bIns="0" rtlCol="0" anchor="ctr"/>
          <a:lstStyle/>
          <a:p>
            <a:pPr indent="0" marL="0">
              <a:buNone/>
            </a:pPr>
            <a:r>
              <a:rPr lang="en-US" sz="1000" b="1" dirty="0">
                <a:solidFill>
                  <a:srgbClr val="3D9CFF"/>
                </a:solidFill>
                <a:latin typeface="Courier New" pitchFamily="34" charset="0"/>
                <a:ea typeface="Courier New" pitchFamily="34" charset="-122"/>
                <a:cs typeface="Courier New" pitchFamily="34" charset="-120"/>
              </a:rPr>
              <a:t>01</a:t>
            </a:r>
            <a:endParaRPr lang="en-US" sz="1000" dirty="0"/>
          </a:p>
        </p:txBody>
      </p:sp>
      <p:sp>
        <p:nvSpPr>
          <p:cNvPr id="9" name="Text 6"/>
          <p:cNvSpPr/>
          <p:nvPr/>
        </p:nvSpPr>
        <p:spPr>
          <a:xfrm>
            <a:off x="640080" y="1645920"/>
            <a:ext cx="1783080" cy="438912"/>
          </a:xfrm>
          <a:prstGeom prst="rect">
            <a:avLst/>
          </a:prstGeom>
          <a:noFill/>
          <a:ln/>
        </p:spPr>
        <p:txBody>
          <a:bodyPr wrap="square" lIns="0" tIns="0" rIns="0" bIns="0" rtlCol="0" anchor="ctr"/>
          <a:lstStyle/>
          <a:p>
            <a:pPr indent="0" marL="0">
              <a:lnSpc>
                <a:spcPts val="1350"/>
              </a:lnSpc>
              <a:buNone/>
            </a:pPr>
            <a:r>
              <a:rPr lang="en-US" sz="1150" b="1" dirty="0">
                <a:solidFill>
                  <a:srgbClr val="FFFFFF"/>
                </a:solidFill>
                <a:latin typeface="Cambria" pitchFamily="34" charset="0"/>
                <a:ea typeface="Cambria" pitchFamily="34" charset="-122"/>
                <a:cs typeface="Cambria" pitchFamily="34" charset="-120"/>
              </a:rPr>
              <a:t>Core Workflow</a:t>
            </a:r>
            <a:endParaRPr lang="en-US" sz="1150" dirty="0"/>
          </a:p>
        </p:txBody>
      </p:sp>
      <p:sp>
        <p:nvSpPr>
          <p:cNvPr id="10" name="Text 7"/>
          <p:cNvSpPr/>
          <p:nvPr/>
        </p:nvSpPr>
        <p:spPr>
          <a:xfrm>
            <a:off x="640080" y="2121408"/>
            <a:ext cx="1783080" cy="1005840"/>
          </a:xfrm>
          <a:prstGeom prst="rect">
            <a:avLst/>
          </a:prstGeom>
          <a:noFill/>
          <a:ln/>
        </p:spPr>
        <p:txBody>
          <a:bodyPr wrap="square" lIns="0" tIns="0" rIns="0" bIns="0" rtlCol="0" anchor="ctr"/>
          <a:lstStyle/>
          <a:p>
            <a:pPr indent="0" marL="0">
              <a:lnSpc>
                <a:spcPts val="1150"/>
              </a:lnSpc>
              <a:buNone/>
            </a:pPr>
            <a:r>
              <a:rPr lang="en-US" sz="900" dirty="0">
                <a:solidFill>
                  <a:srgbClr val="A9BEDC"/>
                </a:solidFill>
                <a:latin typeface="Calibri" pitchFamily="34" charset="0"/>
                <a:ea typeface="Calibri" pitchFamily="34" charset="-122"/>
                <a:cs typeface="Calibri" pitchFamily="34" charset="-120"/>
              </a:rPr>
              <a:t>Detects the disruption and re-books flight, hotel and car as ONE distributed transaction.</a:t>
            </a:r>
            <a:endParaRPr lang="en-US" sz="900" dirty="0"/>
          </a:p>
        </p:txBody>
      </p:sp>
      <p:sp>
        <p:nvSpPr>
          <p:cNvPr id="11" name="Shape 8"/>
          <p:cNvSpPr/>
          <p:nvPr/>
        </p:nvSpPr>
        <p:spPr>
          <a:xfrm>
            <a:off x="2734056" y="1152144"/>
            <a:ext cx="2112264" cy="2157984"/>
          </a:xfrm>
          <a:prstGeom prst="roundRect">
            <a:avLst>
              <a:gd name="adj" fmla="val 259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12" name="Image 1" descr="preencoded.png">    </p:cNvPr>
          <p:cNvPicPr>
            <a:picLocks noChangeAspect="1"/>
          </p:cNvPicPr>
          <p:nvPr/>
        </p:nvPicPr>
        <p:blipFill>
          <a:blip r:embed="rId2"/>
          <a:stretch>
            <a:fillRect/>
          </a:stretch>
        </p:blipFill>
        <p:spPr>
          <a:xfrm>
            <a:off x="2916936" y="1280160"/>
            <a:ext cx="292608" cy="292608"/>
          </a:xfrm>
          <a:prstGeom prst="rect">
            <a:avLst/>
          </a:prstGeom>
        </p:spPr>
      </p:pic>
      <p:sp>
        <p:nvSpPr>
          <p:cNvPr id="13" name="Text 9"/>
          <p:cNvSpPr/>
          <p:nvPr/>
        </p:nvSpPr>
        <p:spPr>
          <a:xfrm>
            <a:off x="3300984" y="1298448"/>
            <a:ext cx="457200" cy="256032"/>
          </a:xfrm>
          <a:prstGeom prst="rect">
            <a:avLst/>
          </a:prstGeom>
          <a:noFill/>
          <a:ln/>
        </p:spPr>
        <p:txBody>
          <a:bodyPr wrap="square" lIns="0" tIns="0" rIns="0" bIns="0" rtlCol="0" anchor="ctr"/>
          <a:lstStyle/>
          <a:p>
            <a:pPr indent="0" marL="0">
              <a:buNone/>
            </a:pPr>
            <a:r>
              <a:rPr lang="en-US" sz="1000" b="1" dirty="0">
                <a:solidFill>
                  <a:srgbClr val="9B8CFF"/>
                </a:solidFill>
                <a:latin typeface="Courier New" pitchFamily="34" charset="0"/>
                <a:ea typeface="Courier New" pitchFamily="34" charset="-122"/>
                <a:cs typeface="Courier New" pitchFamily="34" charset="-120"/>
              </a:rPr>
              <a:t>02</a:t>
            </a:r>
            <a:endParaRPr lang="en-US" sz="1000" dirty="0"/>
          </a:p>
        </p:txBody>
      </p:sp>
      <p:sp>
        <p:nvSpPr>
          <p:cNvPr id="14" name="Text 10"/>
          <p:cNvSpPr/>
          <p:nvPr/>
        </p:nvSpPr>
        <p:spPr>
          <a:xfrm>
            <a:off x="2916936" y="1645920"/>
            <a:ext cx="1783080" cy="438912"/>
          </a:xfrm>
          <a:prstGeom prst="rect">
            <a:avLst/>
          </a:prstGeom>
          <a:noFill/>
          <a:ln/>
        </p:spPr>
        <p:txBody>
          <a:bodyPr wrap="square" lIns="0" tIns="0" rIns="0" bIns="0" rtlCol="0" anchor="ctr"/>
          <a:lstStyle/>
          <a:p>
            <a:pPr indent="0" marL="0">
              <a:lnSpc>
                <a:spcPts val="1350"/>
              </a:lnSpc>
              <a:buNone/>
            </a:pPr>
            <a:r>
              <a:rPr lang="en-US" sz="1150" b="1" dirty="0">
                <a:solidFill>
                  <a:srgbClr val="FFFFFF"/>
                </a:solidFill>
                <a:latin typeface="Cambria" pitchFamily="34" charset="0"/>
                <a:ea typeface="Cambria" pitchFamily="34" charset="-122"/>
                <a:cs typeface="Cambria" pitchFamily="34" charset="-120"/>
              </a:rPr>
              <a:t>Predictive Watcher</a:t>
            </a:r>
            <a:endParaRPr lang="en-US" sz="1150" dirty="0"/>
          </a:p>
        </p:txBody>
      </p:sp>
      <p:sp>
        <p:nvSpPr>
          <p:cNvPr id="15" name="Text 11"/>
          <p:cNvSpPr/>
          <p:nvPr/>
        </p:nvSpPr>
        <p:spPr>
          <a:xfrm>
            <a:off x="2916936" y="2121408"/>
            <a:ext cx="1783080" cy="1005840"/>
          </a:xfrm>
          <a:prstGeom prst="rect">
            <a:avLst/>
          </a:prstGeom>
          <a:noFill/>
          <a:ln/>
        </p:spPr>
        <p:txBody>
          <a:bodyPr wrap="square" lIns="0" tIns="0" rIns="0" bIns="0" rtlCol="0" anchor="ctr"/>
          <a:lstStyle/>
          <a:p>
            <a:pPr indent="0" marL="0">
              <a:lnSpc>
                <a:spcPts val="1150"/>
              </a:lnSpc>
              <a:buNone/>
            </a:pPr>
            <a:r>
              <a:rPr lang="en-US" sz="900" dirty="0">
                <a:solidFill>
                  <a:srgbClr val="A9BEDC"/>
                </a:solidFill>
                <a:latin typeface="Calibri" pitchFamily="34" charset="0"/>
                <a:ea typeface="Calibri" pitchFamily="34" charset="-122"/>
                <a:cs typeface="Calibri" pitchFamily="34" charset="-120"/>
              </a:rPr>
              <a:t>Forecasts the delay and the missed connection before the carrier announces it.</a:t>
            </a:r>
            <a:endParaRPr lang="en-US" sz="900" dirty="0"/>
          </a:p>
        </p:txBody>
      </p:sp>
      <p:sp>
        <p:nvSpPr>
          <p:cNvPr id="16" name="Shape 12"/>
          <p:cNvSpPr/>
          <p:nvPr/>
        </p:nvSpPr>
        <p:spPr>
          <a:xfrm>
            <a:off x="5010912" y="1152144"/>
            <a:ext cx="2112264" cy="2157984"/>
          </a:xfrm>
          <a:prstGeom prst="roundRect">
            <a:avLst>
              <a:gd name="adj" fmla="val 259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17" name="Image 2" descr="preencoded.png">    </p:cNvPr>
          <p:cNvPicPr>
            <a:picLocks noChangeAspect="1"/>
          </p:cNvPicPr>
          <p:nvPr/>
        </p:nvPicPr>
        <p:blipFill>
          <a:blip r:embed="rId3"/>
          <a:stretch>
            <a:fillRect/>
          </a:stretch>
        </p:blipFill>
        <p:spPr>
          <a:xfrm>
            <a:off x="5193792" y="1280160"/>
            <a:ext cx="292608" cy="292608"/>
          </a:xfrm>
          <a:prstGeom prst="rect">
            <a:avLst/>
          </a:prstGeom>
        </p:spPr>
      </p:pic>
      <p:sp>
        <p:nvSpPr>
          <p:cNvPr id="18" name="Text 13"/>
          <p:cNvSpPr/>
          <p:nvPr/>
        </p:nvSpPr>
        <p:spPr>
          <a:xfrm>
            <a:off x="5577840" y="1298448"/>
            <a:ext cx="457200" cy="256032"/>
          </a:xfrm>
          <a:prstGeom prst="rect">
            <a:avLst/>
          </a:prstGeom>
          <a:noFill/>
          <a:ln/>
        </p:spPr>
        <p:txBody>
          <a:bodyPr wrap="square" lIns="0" tIns="0" rIns="0" bIns="0" rtlCol="0" anchor="ctr"/>
          <a:lstStyle/>
          <a:p>
            <a:pPr indent="0" marL="0">
              <a:buNone/>
            </a:pPr>
            <a:r>
              <a:rPr lang="en-US" sz="1000" b="1" dirty="0">
                <a:solidFill>
                  <a:srgbClr val="2ECC9A"/>
                </a:solidFill>
                <a:latin typeface="Courier New" pitchFamily="34" charset="0"/>
                <a:ea typeface="Courier New" pitchFamily="34" charset="-122"/>
                <a:cs typeface="Courier New" pitchFamily="34" charset="-120"/>
              </a:rPr>
              <a:t>03</a:t>
            </a:r>
            <a:endParaRPr lang="en-US" sz="1000" dirty="0"/>
          </a:p>
        </p:txBody>
      </p:sp>
      <p:sp>
        <p:nvSpPr>
          <p:cNvPr id="19" name="Text 14"/>
          <p:cNvSpPr/>
          <p:nvPr/>
        </p:nvSpPr>
        <p:spPr>
          <a:xfrm>
            <a:off x="5193792" y="1645920"/>
            <a:ext cx="1783080" cy="438912"/>
          </a:xfrm>
          <a:prstGeom prst="rect">
            <a:avLst/>
          </a:prstGeom>
          <a:noFill/>
          <a:ln/>
        </p:spPr>
        <p:txBody>
          <a:bodyPr wrap="square" lIns="0" tIns="0" rIns="0" bIns="0" rtlCol="0" anchor="ctr"/>
          <a:lstStyle/>
          <a:p>
            <a:pPr indent="0" marL="0">
              <a:lnSpc>
                <a:spcPts val="1350"/>
              </a:lnSpc>
              <a:buNone/>
            </a:pPr>
            <a:r>
              <a:rPr lang="en-US" sz="1150" b="1" dirty="0">
                <a:solidFill>
                  <a:srgbClr val="FFFFFF"/>
                </a:solidFill>
                <a:latin typeface="Cambria" pitchFamily="34" charset="0"/>
                <a:ea typeface="Cambria" pitchFamily="34" charset="-122"/>
                <a:cs typeface="Cambria" pitchFamily="34" charset="-120"/>
              </a:rPr>
              <a:t>Cascading Logistics</a:t>
            </a:r>
            <a:endParaRPr lang="en-US" sz="1150" dirty="0"/>
          </a:p>
        </p:txBody>
      </p:sp>
      <p:sp>
        <p:nvSpPr>
          <p:cNvPr id="20" name="Text 15"/>
          <p:cNvSpPr/>
          <p:nvPr/>
        </p:nvSpPr>
        <p:spPr>
          <a:xfrm>
            <a:off x="5193792" y="2121408"/>
            <a:ext cx="1783080" cy="1005840"/>
          </a:xfrm>
          <a:prstGeom prst="rect">
            <a:avLst/>
          </a:prstGeom>
          <a:noFill/>
          <a:ln/>
        </p:spPr>
        <p:txBody>
          <a:bodyPr wrap="square" lIns="0" tIns="0" rIns="0" bIns="0" rtlCol="0" anchor="ctr"/>
          <a:lstStyle/>
          <a:p>
            <a:pPr indent="0" marL="0">
              <a:lnSpc>
                <a:spcPts val="1150"/>
              </a:lnSpc>
              <a:buNone/>
            </a:pPr>
            <a:r>
              <a:rPr lang="en-US" sz="900" dirty="0">
                <a:solidFill>
                  <a:srgbClr val="A9BEDC"/>
                </a:solidFill>
                <a:latin typeface="Calibri" pitchFamily="34" charset="0"/>
                <a:ea typeface="Calibri" pitchFamily="34" charset="-122"/>
                <a:cs typeface="Calibri" pitchFamily="34" charset="-120"/>
              </a:rPr>
              <a:t>Recomputes every downstream dependency — transfer, check-in, onward leg.</a:t>
            </a:r>
            <a:endParaRPr lang="en-US" sz="900" dirty="0"/>
          </a:p>
        </p:txBody>
      </p:sp>
      <p:sp>
        <p:nvSpPr>
          <p:cNvPr id="21" name="Shape 16"/>
          <p:cNvSpPr/>
          <p:nvPr/>
        </p:nvSpPr>
        <p:spPr>
          <a:xfrm>
            <a:off x="7287768" y="1152144"/>
            <a:ext cx="2112264" cy="2157984"/>
          </a:xfrm>
          <a:prstGeom prst="roundRect">
            <a:avLst>
              <a:gd name="adj" fmla="val 259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22" name="Image 3" descr="preencoded.png">    </p:cNvPr>
          <p:cNvPicPr>
            <a:picLocks noChangeAspect="1"/>
          </p:cNvPicPr>
          <p:nvPr/>
        </p:nvPicPr>
        <p:blipFill>
          <a:blip r:embed="rId4"/>
          <a:stretch>
            <a:fillRect/>
          </a:stretch>
        </p:blipFill>
        <p:spPr>
          <a:xfrm>
            <a:off x="7470648" y="1280160"/>
            <a:ext cx="292608" cy="292608"/>
          </a:xfrm>
          <a:prstGeom prst="rect">
            <a:avLst/>
          </a:prstGeom>
        </p:spPr>
      </p:pic>
      <p:sp>
        <p:nvSpPr>
          <p:cNvPr id="23" name="Text 17"/>
          <p:cNvSpPr/>
          <p:nvPr/>
        </p:nvSpPr>
        <p:spPr>
          <a:xfrm>
            <a:off x="7854696" y="1298448"/>
            <a:ext cx="457200" cy="256032"/>
          </a:xfrm>
          <a:prstGeom prst="rect">
            <a:avLst/>
          </a:prstGeom>
          <a:noFill/>
          <a:ln/>
        </p:spPr>
        <p:txBody>
          <a:bodyPr wrap="square" lIns="0" tIns="0" rIns="0" bIns="0" rtlCol="0" anchor="ctr"/>
          <a:lstStyle/>
          <a:p>
            <a:pPr indent="0" marL="0">
              <a:buNone/>
            </a:pPr>
            <a:r>
              <a:rPr lang="en-US" sz="1000" b="1" dirty="0">
                <a:solidFill>
                  <a:srgbClr val="FFB020"/>
                </a:solidFill>
                <a:latin typeface="Courier New" pitchFamily="34" charset="0"/>
                <a:ea typeface="Courier New" pitchFamily="34" charset="-122"/>
                <a:cs typeface="Courier New" pitchFamily="34" charset="-120"/>
              </a:rPr>
              <a:t>04</a:t>
            </a:r>
            <a:endParaRPr lang="en-US" sz="1000" dirty="0"/>
          </a:p>
        </p:txBody>
      </p:sp>
      <p:sp>
        <p:nvSpPr>
          <p:cNvPr id="24" name="Text 18"/>
          <p:cNvSpPr/>
          <p:nvPr/>
        </p:nvSpPr>
        <p:spPr>
          <a:xfrm>
            <a:off x="7470648" y="1645920"/>
            <a:ext cx="1783080" cy="438912"/>
          </a:xfrm>
          <a:prstGeom prst="rect">
            <a:avLst/>
          </a:prstGeom>
          <a:noFill/>
          <a:ln/>
        </p:spPr>
        <p:txBody>
          <a:bodyPr wrap="square" lIns="0" tIns="0" rIns="0" bIns="0" rtlCol="0" anchor="ctr"/>
          <a:lstStyle/>
          <a:p>
            <a:pPr indent="0" marL="0">
              <a:lnSpc>
                <a:spcPts val="1350"/>
              </a:lnSpc>
              <a:buNone/>
            </a:pPr>
            <a:r>
              <a:rPr lang="en-US" sz="1150" b="1" dirty="0">
                <a:solidFill>
                  <a:srgbClr val="FFFFFF"/>
                </a:solidFill>
                <a:latin typeface="Cambria" pitchFamily="34" charset="0"/>
                <a:ea typeface="Cambria" pitchFamily="34" charset="-122"/>
                <a:cs typeface="Cambria" pitchFamily="34" charset="-120"/>
              </a:rPr>
              <a:t>Conversational Fallback</a:t>
            </a:r>
            <a:endParaRPr lang="en-US" sz="1150" dirty="0"/>
          </a:p>
        </p:txBody>
      </p:sp>
      <p:sp>
        <p:nvSpPr>
          <p:cNvPr id="25" name="Text 19"/>
          <p:cNvSpPr/>
          <p:nvPr/>
        </p:nvSpPr>
        <p:spPr>
          <a:xfrm>
            <a:off x="7470648" y="2121408"/>
            <a:ext cx="1783080" cy="1005840"/>
          </a:xfrm>
          <a:prstGeom prst="rect">
            <a:avLst/>
          </a:prstGeom>
          <a:noFill/>
          <a:ln/>
        </p:spPr>
        <p:txBody>
          <a:bodyPr wrap="square" lIns="0" tIns="0" rIns="0" bIns="0" rtlCol="0" anchor="ctr"/>
          <a:lstStyle/>
          <a:p>
            <a:pPr indent="0" marL="0">
              <a:lnSpc>
                <a:spcPts val="1150"/>
              </a:lnSpc>
              <a:buNone/>
            </a:pPr>
            <a:r>
              <a:rPr lang="en-US" sz="900" dirty="0">
                <a:solidFill>
                  <a:srgbClr val="A9BEDC"/>
                </a:solidFill>
                <a:latin typeface="Calibri" pitchFamily="34" charset="0"/>
                <a:ea typeface="Calibri" pitchFamily="34" charset="-122"/>
                <a:cs typeface="Calibri" pitchFamily="34" charset="-120"/>
              </a:rPr>
              <a:t>Knows the moment it must stop, and escalates with full context attached.</a:t>
            </a:r>
            <a:endParaRPr lang="en-US" sz="900" dirty="0"/>
          </a:p>
        </p:txBody>
      </p:sp>
      <p:sp>
        <p:nvSpPr>
          <p:cNvPr id="26" name="Shape 20"/>
          <p:cNvSpPr/>
          <p:nvPr/>
        </p:nvSpPr>
        <p:spPr>
          <a:xfrm>
            <a:off x="9564624" y="1152144"/>
            <a:ext cx="2112264" cy="2157984"/>
          </a:xfrm>
          <a:prstGeom prst="roundRect">
            <a:avLst>
              <a:gd name="adj" fmla="val 259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27" name="Image 4" descr="preencoded.png">    </p:cNvPr>
          <p:cNvPicPr>
            <a:picLocks noChangeAspect="1"/>
          </p:cNvPicPr>
          <p:nvPr/>
        </p:nvPicPr>
        <p:blipFill>
          <a:blip r:embed="rId5"/>
          <a:stretch>
            <a:fillRect/>
          </a:stretch>
        </p:blipFill>
        <p:spPr>
          <a:xfrm>
            <a:off x="9747504" y="1280160"/>
            <a:ext cx="292608" cy="292608"/>
          </a:xfrm>
          <a:prstGeom prst="rect">
            <a:avLst/>
          </a:prstGeom>
        </p:spPr>
      </p:pic>
      <p:sp>
        <p:nvSpPr>
          <p:cNvPr id="28" name="Text 21"/>
          <p:cNvSpPr/>
          <p:nvPr/>
        </p:nvSpPr>
        <p:spPr>
          <a:xfrm>
            <a:off x="10131552" y="1298448"/>
            <a:ext cx="457200" cy="256032"/>
          </a:xfrm>
          <a:prstGeom prst="rect">
            <a:avLst/>
          </a:prstGeom>
          <a:noFill/>
          <a:ln/>
        </p:spPr>
        <p:txBody>
          <a:bodyPr wrap="square" lIns="0" tIns="0" rIns="0" bIns="0" rtlCol="0" anchor="ctr"/>
          <a:lstStyle/>
          <a:p>
            <a:pPr indent="0" marL="0">
              <a:buNone/>
            </a:pPr>
            <a:r>
              <a:rPr lang="en-US" sz="1000" b="1" dirty="0">
                <a:solidFill>
                  <a:srgbClr val="FF6B6B"/>
                </a:solidFill>
                <a:latin typeface="Courier New" pitchFamily="34" charset="0"/>
                <a:ea typeface="Courier New" pitchFamily="34" charset="-122"/>
                <a:cs typeface="Courier New" pitchFamily="34" charset="-120"/>
              </a:rPr>
              <a:t>05</a:t>
            </a:r>
            <a:endParaRPr lang="en-US" sz="1000" dirty="0"/>
          </a:p>
        </p:txBody>
      </p:sp>
      <p:sp>
        <p:nvSpPr>
          <p:cNvPr id="29" name="Text 22"/>
          <p:cNvSpPr/>
          <p:nvPr/>
        </p:nvSpPr>
        <p:spPr>
          <a:xfrm>
            <a:off x="9747504" y="1645920"/>
            <a:ext cx="1783080" cy="438912"/>
          </a:xfrm>
          <a:prstGeom prst="rect">
            <a:avLst/>
          </a:prstGeom>
          <a:noFill/>
          <a:ln/>
        </p:spPr>
        <p:txBody>
          <a:bodyPr wrap="square" lIns="0" tIns="0" rIns="0" bIns="0" rtlCol="0" anchor="ctr"/>
          <a:lstStyle/>
          <a:p>
            <a:pPr indent="0" marL="0">
              <a:lnSpc>
                <a:spcPts val="1350"/>
              </a:lnSpc>
              <a:buNone/>
            </a:pPr>
            <a:r>
              <a:rPr lang="en-US" sz="1150" b="1" dirty="0">
                <a:solidFill>
                  <a:srgbClr val="FFFFFF"/>
                </a:solidFill>
                <a:latin typeface="Cambria" pitchFamily="34" charset="0"/>
                <a:ea typeface="Cambria" pitchFamily="34" charset="-122"/>
                <a:cs typeface="Cambria" pitchFamily="34" charset="-120"/>
              </a:rPr>
              <a:t>Duty-of-Care Enforcer</a:t>
            </a:r>
            <a:endParaRPr lang="en-US" sz="1150" dirty="0"/>
          </a:p>
        </p:txBody>
      </p:sp>
      <p:sp>
        <p:nvSpPr>
          <p:cNvPr id="30" name="Text 23"/>
          <p:cNvSpPr/>
          <p:nvPr/>
        </p:nvSpPr>
        <p:spPr>
          <a:xfrm>
            <a:off x="9747504" y="2121408"/>
            <a:ext cx="1783080" cy="1005840"/>
          </a:xfrm>
          <a:prstGeom prst="rect">
            <a:avLst/>
          </a:prstGeom>
          <a:noFill/>
          <a:ln/>
        </p:spPr>
        <p:txBody>
          <a:bodyPr wrap="square" lIns="0" tIns="0" rIns="0" bIns="0" rtlCol="0" anchor="ctr"/>
          <a:lstStyle/>
          <a:p>
            <a:pPr indent="0" marL="0">
              <a:lnSpc>
                <a:spcPts val="1150"/>
              </a:lnSpc>
              <a:buNone/>
            </a:pPr>
            <a:r>
              <a:rPr lang="en-US" sz="900" dirty="0">
                <a:solidFill>
                  <a:srgbClr val="A9BEDC"/>
                </a:solidFill>
                <a:latin typeface="Calibri" pitchFamily="34" charset="0"/>
                <a:ea typeface="Calibri" pitchFamily="34" charset="-122"/>
                <a:cs typeface="Calibri" pitchFamily="34" charset="-120"/>
              </a:rPr>
              <a:t>Executes what DGCA already obliges the airline to give: meals, hotel, transfer, re-accommodation.</a:t>
            </a:r>
            <a:endParaRPr lang="en-US" sz="900" dirty="0"/>
          </a:p>
        </p:txBody>
      </p:sp>
      <p:sp>
        <p:nvSpPr>
          <p:cNvPr id="31" name="Shape 24"/>
          <p:cNvSpPr/>
          <p:nvPr/>
        </p:nvSpPr>
        <p:spPr>
          <a:xfrm>
            <a:off x="457200" y="3438144"/>
            <a:ext cx="11274552" cy="512064"/>
          </a:xfrm>
          <a:prstGeom prst="roundRect">
            <a:avLst>
              <a:gd name="adj" fmla="val 10714"/>
            </a:avLst>
          </a:prstGeom>
          <a:solidFill>
            <a:srgbClr val="1B3A69"/>
          </a:solidFill>
          <a:ln w="6350">
            <a:solidFill>
              <a:srgbClr val="1B3A69"/>
            </a:solidFill>
            <a:prstDash val="solid"/>
          </a:ln>
          <a:effectLst>
            <a:outerShdw sx="100000" sy="100000" kx="0" ky="0" algn="bl" rotWithShape="0" blurRad="114300" dist="25400" dir="5400000">
              <a:srgbClr val="000000">
                <a:alpha val="34000"/>
              </a:srgbClr>
            </a:outerShdw>
          </a:effectLst>
        </p:spPr>
      </p:sp>
      <p:pic>
        <p:nvPicPr>
          <p:cNvPr id="32" name="Image 5" descr="preencoded.png">    </p:cNvPr>
          <p:cNvPicPr>
            <a:picLocks noChangeAspect="1"/>
          </p:cNvPicPr>
          <p:nvPr/>
        </p:nvPicPr>
        <p:blipFill>
          <a:blip r:embed="rId6"/>
          <a:stretch>
            <a:fillRect/>
          </a:stretch>
        </p:blipFill>
        <p:spPr>
          <a:xfrm>
            <a:off x="713232" y="3529584"/>
            <a:ext cx="310896" cy="310896"/>
          </a:xfrm>
          <a:prstGeom prst="rect">
            <a:avLst/>
          </a:prstGeom>
        </p:spPr>
      </p:pic>
      <p:sp>
        <p:nvSpPr>
          <p:cNvPr id="33" name="Text 25"/>
          <p:cNvSpPr/>
          <p:nvPr/>
        </p:nvSpPr>
        <p:spPr>
          <a:xfrm>
            <a:off x="1152144" y="3438144"/>
            <a:ext cx="10332720" cy="51206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POLICY DECISION POINT — Open Policy Agent / Rego   ·   default deny   ·   this is what “within policy limits” actually means in code</a:t>
            </a:r>
            <a:endParaRPr lang="en-US" sz="1100" dirty="0"/>
          </a:p>
        </p:txBody>
      </p:sp>
      <p:sp>
        <p:nvSpPr>
          <p:cNvPr id="34" name="Shape 26"/>
          <p:cNvSpPr/>
          <p:nvPr/>
        </p:nvSpPr>
        <p:spPr>
          <a:xfrm>
            <a:off x="457200" y="4023360"/>
            <a:ext cx="11274552" cy="512064"/>
          </a:xfrm>
          <a:prstGeom prst="roundRect">
            <a:avLst>
              <a:gd name="adj" fmla="val 10714"/>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35" name="Image 6" descr="preencoded.png">    </p:cNvPr>
          <p:cNvPicPr>
            <a:picLocks noChangeAspect="1"/>
          </p:cNvPicPr>
          <p:nvPr/>
        </p:nvPicPr>
        <p:blipFill>
          <a:blip r:embed="rId7"/>
          <a:stretch>
            <a:fillRect/>
          </a:stretch>
        </p:blipFill>
        <p:spPr>
          <a:xfrm>
            <a:off x="713232" y="4114800"/>
            <a:ext cx="310896" cy="310896"/>
          </a:xfrm>
          <a:prstGeom prst="rect">
            <a:avLst/>
          </a:prstGeom>
        </p:spPr>
      </p:pic>
      <p:sp>
        <p:nvSpPr>
          <p:cNvPr id="36" name="Text 27"/>
          <p:cNvSpPr/>
          <p:nvPr/>
        </p:nvSpPr>
        <p:spPr>
          <a:xfrm>
            <a:off x="1152144" y="4023360"/>
            <a:ext cx="10332720" cy="512064"/>
          </a:xfrm>
          <a:prstGeom prst="rect">
            <a:avLst/>
          </a:prstGeom>
          <a:noFill/>
          <a:ln/>
        </p:spPr>
        <p:txBody>
          <a:bodyPr wrap="square" lIns="0" tIns="0" rIns="0" bIns="0" rtlCol="0" anchor="ctr"/>
          <a:lstStyle/>
          <a:p>
            <a:pPr indent="0" marL="0">
              <a:buNone/>
            </a:pPr>
            <a:r>
              <a:rPr lang="en-US" sz="1100" b="1" dirty="0">
                <a:solidFill>
                  <a:srgbClr val="3D9CFF"/>
                </a:solidFill>
                <a:latin typeface="Calibri" pitchFamily="34" charset="0"/>
                <a:ea typeface="Calibri" pitchFamily="34" charset="-122"/>
                <a:cs typeface="Calibri" pitchFamily="34" charset="-120"/>
              </a:rPr>
              <a:t>DURABLE EXECUTION — Temporal.io   ·   at-least-once activities, idempotency keys, compensating actions in reverse order   ·   nothing is fire-and-forget</a:t>
            </a:r>
            <a:endParaRPr lang="en-US" sz="1100" dirty="0"/>
          </a:p>
        </p:txBody>
      </p:sp>
      <p:sp>
        <p:nvSpPr>
          <p:cNvPr id="37" name="Text 28"/>
          <p:cNvSpPr/>
          <p:nvPr/>
        </p:nvSpPr>
        <p:spPr>
          <a:xfrm>
            <a:off x="457200" y="4645152"/>
            <a:ext cx="7315200" cy="201168"/>
          </a:xfrm>
          <a:prstGeom prst="rect">
            <a:avLst/>
          </a:prstGeom>
          <a:noFill/>
          <a:ln/>
        </p:spPr>
        <p:txBody>
          <a:bodyPr wrap="square" lIns="0" tIns="0" rIns="0" bIns="0" rtlCol="0" anchor="ctr"/>
          <a:lstStyle/>
          <a:p>
            <a:pPr indent="0" marL="0">
              <a:buNone/>
            </a:pPr>
            <a:r>
              <a:rPr lang="en-US" sz="850" b="1" spc="140" kern="0" dirty="0">
                <a:solidFill>
                  <a:srgbClr val="3D9CFF"/>
                </a:solidFill>
                <a:latin typeface="Calibri" pitchFamily="34" charset="0"/>
                <a:ea typeface="Calibri" pitchFamily="34" charset="-122"/>
                <a:cs typeface="Calibri" pitchFamily="34" charset="-120"/>
              </a:rPr>
              <a:t>HOW THIS MAPS ONTO THE FIVE STATED TASKS</a:t>
            </a:r>
            <a:endParaRPr lang="en-US" sz="850" dirty="0"/>
          </a:p>
        </p:txBody>
      </p:sp>
      <p:sp>
        <p:nvSpPr>
          <p:cNvPr id="38" name="Shape 29"/>
          <p:cNvSpPr/>
          <p:nvPr/>
        </p:nvSpPr>
        <p:spPr>
          <a:xfrm>
            <a:off x="457200" y="4864608"/>
            <a:ext cx="2112264" cy="786384"/>
          </a:xfrm>
          <a:prstGeom prst="roundRect">
            <a:avLst>
              <a:gd name="adj" fmla="val 6977"/>
            </a:avLst>
          </a:prstGeom>
          <a:solidFill>
            <a:srgbClr val="0D2246"/>
          </a:solidFill>
          <a:ln w="6350">
            <a:solidFill>
              <a:srgbClr val="0D2246"/>
            </a:solidFill>
            <a:prstDash val="solid"/>
          </a:ln>
          <a:effectLst>
            <a:outerShdw sx="100000" sy="100000" kx="0" ky="0" algn="bl" rotWithShape="0" blurRad="114300" dist="25400" dir="5400000">
              <a:srgbClr val="000000">
                <a:alpha val="34000"/>
              </a:srgbClr>
            </a:outerShdw>
          </a:effectLst>
        </p:spPr>
      </p:sp>
      <p:sp>
        <p:nvSpPr>
          <p:cNvPr id="39" name="Text 30"/>
          <p:cNvSpPr/>
          <p:nvPr/>
        </p:nvSpPr>
        <p:spPr>
          <a:xfrm>
            <a:off x="603504" y="4937760"/>
            <a:ext cx="914400" cy="182880"/>
          </a:xfrm>
          <a:prstGeom prst="rect">
            <a:avLst/>
          </a:prstGeom>
          <a:noFill/>
          <a:ln/>
        </p:spPr>
        <p:txBody>
          <a:bodyPr wrap="square" lIns="0" tIns="0" rIns="0" bIns="0" rtlCol="0" anchor="ctr"/>
          <a:lstStyle/>
          <a:p>
            <a:pPr indent="0" marL="0">
              <a:buNone/>
            </a:pPr>
            <a:r>
              <a:rPr lang="en-US" sz="800" b="1" spc="110" kern="0" dirty="0">
                <a:solidFill>
                  <a:srgbClr val="3D9CFF"/>
                </a:solidFill>
                <a:latin typeface="Calibri" pitchFamily="34" charset="0"/>
                <a:ea typeface="Calibri" pitchFamily="34" charset="-122"/>
                <a:cs typeface="Calibri" pitchFamily="34" charset="-120"/>
              </a:rPr>
              <a:t>Task 1</a:t>
            </a:r>
            <a:endParaRPr lang="en-US" sz="800" dirty="0"/>
          </a:p>
        </p:txBody>
      </p:sp>
      <p:sp>
        <p:nvSpPr>
          <p:cNvPr id="40" name="Text 31"/>
          <p:cNvSpPr/>
          <p:nvPr/>
        </p:nvSpPr>
        <p:spPr>
          <a:xfrm>
            <a:off x="1417320" y="4937760"/>
            <a:ext cx="1024128" cy="182880"/>
          </a:xfrm>
          <a:prstGeom prst="rect">
            <a:avLst/>
          </a:prstGeom>
          <a:noFill/>
          <a:ln/>
        </p:spPr>
        <p:txBody>
          <a:bodyPr wrap="square" lIns="0" tIns="0" rIns="0" bIns="0" rtlCol="0" anchor="ctr"/>
          <a:lstStyle/>
          <a:p>
            <a:pPr algn="r" indent="0" marL="0">
              <a:buNone/>
            </a:pPr>
            <a:r>
              <a:rPr lang="en-US" sz="750" b="1" dirty="0">
                <a:solidFill>
                  <a:srgbClr val="FFFFFF"/>
                </a:solidFill>
                <a:latin typeface="Calibri" pitchFamily="34" charset="0"/>
                <a:ea typeface="Calibri" pitchFamily="34" charset="-122"/>
                <a:cs typeface="Calibri" pitchFamily="34" charset="-120"/>
              </a:rPr>
              <a:t>P1 + P2</a:t>
            </a:r>
            <a:endParaRPr lang="en-US" sz="750" dirty="0"/>
          </a:p>
        </p:txBody>
      </p:sp>
      <p:sp>
        <p:nvSpPr>
          <p:cNvPr id="41" name="Text 32"/>
          <p:cNvSpPr/>
          <p:nvPr/>
        </p:nvSpPr>
        <p:spPr>
          <a:xfrm>
            <a:off x="603504" y="5138928"/>
            <a:ext cx="1847088" cy="420624"/>
          </a:xfrm>
          <a:prstGeom prst="rect">
            <a:avLst/>
          </a:prstGeom>
          <a:noFill/>
          <a:ln/>
        </p:spPr>
        <p:txBody>
          <a:bodyPr wrap="square" lIns="0" tIns="0" rIns="0" bIns="0" rtlCol="0" anchor="ctr"/>
          <a:lstStyle/>
          <a:p>
            <a:pPr indent="0" marL="0">
              <a:lnSpc>
                <a:spcPts val="980"/>
              </a:lnSpc>
              <a:buNone/>
            </a:pPr>
            <a:r>
              <a:rPr lang="en-US" sz="800" dirty="0">
                <a:solidFill>
                  <a:srgbClr val="A9BEDC"/>
                </a:solidFill>
                <a:latin typeface="Calibri" pitchFamily="34" charset="0"/>
                <a:ea typeface="Calibri" pitchFamily="34" charset="-122"/>
                <a:cs typeface="Calibri" pitchFamily="34" charset="-120"/>
              </a:rPr>
              <a:t>monitor live flight data,</a:t>
            </a:r>
            <a:endParaRPr lang="en-US" sz="800" dirty="0"/>
          </a:p>
          <a:p>
            <a:pPr indent="0" marL="0">
              <a:lnSpc>
                <a:spcPts val="980"/>
              </a:lnSpc>
              <a:buNone/>
            </a:pPr>
            <a:r>
              <a:rPr lang="en-US" sz="800" dirty="0">
                <a:solidFill>
                  <a:srgbClr val="A9BEDC"/>
                </a:solidFill>
                <a:latin typeface="Calibri" pitchFamily="34" charset="0"/>
                <a:ea typeface="Calibri" pitchFamily="34" charset="-122"/>
                <a:cs typeface="Calibri" pitchFamily="34" charset="-120"/>
              </a:rPr>
              <a:t>detect disruptions</a:t>
            </a:r>
            <a:endParaRPr lang="en-US" sz="800" dirty="0"/>
          </a:p>
        </p:txBody>
      </p:sp>
      <p:sp>
        <p:nvSpPr>
          <p:cNvPr id="42" name="Shape 33"/>
          <p:cNvSpPr/>
          <p:nvPr/>
        </p:nvSpPr>
        <p:spPr>
          <a:xfrm>
            <a:off x="2734056" y="4864608"/>
            <a:ext cx="2112264" cy="786384"/>
          </a:xfrm>
          <a:prstGeom prst="roundRect">
            <a:avLst>
              <a:gd name="adj" fmla="val 6977"/>
            </a:avLst>
          </a:prstGeom>
          <a:solidFill>
            <a:srgbClr val="0D2246"/>
          </a:solidFill>
          <a:ln w="6350">
            <a:solidFill>
              <a:srgbClr val="0D2246"/>
            </a:solidFill>
            <a:prstDash val="solid"/>
          </a:ln>
          <a:effectLst>
            <a:outerShdw sx="100000" sy="100000" kx="0" ky="0" algn="bl" rotWithShape="0" blurRad="114300" dist="25400" dir="5400000">
              <a:srgbClr val="000000">
                <a:alpha val="34000"/>
              </a:srgbClr>
            </a:outerShdw>
          </a:effectLst>
        </p:spPr>
      </p:sp>
      <p:sp>
        <p:nvSpPr>
          <p:cNvPr id="43" name="Text 34"/>
          <p:cNvSpPr/>
          <p:nvPr/>
        </p:nvSpPr>
        <p:spPr>
          <a:xfrm>
            <a:off x="2880360" y="4937760"/>
            <a:ext cx="914400" cy="182880"/>
          </a:xfrm>
          <a:prstGeom prst="rect">
            <a:avLst/>
          </a:prstGeom>
          <a:noFill/>
          <a:ln/>
        </p:spPr>
        <p:txBody>
          <a:bodyPr wrap="square" lIns="0" tIns="0" rIns="0" bIns="0" rtlCol="0" anchor="ctr"/>
          <a:lstStyle/>
          <a:p>
            <a:pPr indent="0" marL="0">
              <a:buNone/>
            </a:pPr>
            <a:r>
              <a:rPr lang="en-US" sz="800" b="1" spc="110" kern="0" dirty="0">
                <a:solidFill>
                  <a:srgbClr val="FFB020"/>
                </a:solidFill>
                <a:latin typeface="Calibri" pitchFamily="34" charset="0"/>
                <a:ea typeface="Calibri" pitchFamily="34" charset="-122"/>
                <a:cs typeface="Calibri" pitchFamily="34" charset="-120"/>
              </a:rPr>
              <a:t>Task 2</a:t>
            </a:r>
            <a:endParaRPr lang="en-US" sz="800" dirty="0"/>
          </a:p>
        </p:txBody>
      </p:sp>
      <p:sp>
        <p:nvSpPr>
          <p:cNvPr id="44" name="Text 35"/>
          <p:cNvSpPr/>
          <p:nvPr/>
        </p:nvSpPr>
        <p:spPr>
          <a:xfrm>
            <a:off x="3694176" y="4937760"/>
            <a:ext cx="1024128" cy="182880"/>
          </a:xfrm>
          <a:prstGeom prst="rect">
            <a:avLst/>
          </a:prstGeom>
          <a:noFill/>
          <a:ln/>
        </p:spPr>
        <p:txBody>
          <a:bodyPr wrap="square" lIns="0" tIns="0" rIns="0" bIns="0" rtlCol="0" anchor="ctr"/>
          <a:lstStyle/>
          <a:p>
            <a:pPr algn="r" indent="0" marL="0">
              <a:buNone/>
            </a:pPr>
            <a:r>
              <a:rPr lang="en-US" sz="750" b="1" dirty="0">
                <a:solidFill>
                  <a:srgbClr val="FFFFFF"/>
                </a:solidFill>
                <a:latin typeface="Calibri" pitchFamily="34" charset="0"/>
                <a:ea typeface="Calibri" pitchFamily="34" charset="-122"/>
                <a:cs typeface="Calibri" pitchFamily="34" charset="-120"/>
              </a:rPr>
              <a:t>P1 + policy gate</a:t>
            </a:r>
            <a:endParaRPr lang="en-US" sz="750" dirty="0"/>
          </a:p>
        </p:txBody>
      </p:sp>
      <p:sp>
        <p:nvSpPr>
          <p:cNvPr id="45" name="Text 36"/>
          <p:cNvSpPr/>
          <p:nvPr/>
        </p:nvSpPr>
        <p:spPr>
          <a:xfrm>
            <a:off x="2880360" y="5138928"/>
            <a:ext cx="1847088" cy="420624"/>
          </a:xfrm>
          <a:prstGeom prst="rect">
            <a:avLst/>
          </a:prstGeom>
          <a:noFill/>
          <a:ln/>
        </p:spPr>
        <p:txBody>
          <a:bodyPr wrap="square" lIns="0" tIns="0" rIns="0" bIns="0" rtlCol="0" anchor="ctr"/>
          <a:lstStyle/>
          <a:p>
            <a:pPr indent="0" marL="0">
              <a:lnSpc>
                <a:spcPts val="980"/>
              </a:lnSpc>
              <a:buNone/>
            </a:pPr>
            <a:r>
              <a:rPr lang="en-US" sz="800" dirty="0">
                <a:solidFill>
                  <a:srgbClr val="A9BEDC"/>
                </a:solidFill>
                <a:latin typeface="Calibri" pitchFamily="34" charset="0"/>
                <a:ea typeface="Calibri" pitchFamily="34" charset="-122"/>
                <a:cs typeface="Calibri" pitchFamily="34" charset="-120"/>
              </a:rPr>
              <a:t>autonomous rebooking</a:t>
            </a:r>
            <a:endParaRPr lang="en-US" sz="800" dirty="0"/>
          </a:p>
          <a:p>
            <a:pPr indent="0" marL="0">
              <a:lnSpc>
                <a:spcPts val="980"/>
              </a:lnSpc>
              <a:buNone/>
            </a:pPr>
            <a:r>
              <a:rPr lang="en-US" sz="800" dirty="0">
                <a:solidFill>
                  <a:srgbClr val="A9BEDC"/>
                </a:solidFill>
                <a:latin typeface="Calibri" pitchFamily="34" charset="0"/>
                <a:ea typeface="Calibri" pitchFamily="34" charset="-122"/>
                <a:cs typeface="Calibri" pitchFamily="34" charset="-120"/>
              </a:rPr>
              <a:t>within policy limits</a:t>
            </a:r>
            <a:endParaRPr lang="en-US" sz="800" dirty="0"/>
          </a:p>
        </p:txBody>
      </p:sp>
      <p:sp>
        <p:nvSpPr>
          <p:cNvPr id="46" name="Shape 37"/>
          <p:cNvSpPr/>
          <p:nvPr/>
        </p:nvSpPr>
        <p:spPr>
          <a:xfrm>
            <a:off x="5010912" y="4864608"/>
            <a:ext cx="2112264" cy="786384"/>
          </a:xfrm>
          <a:prstGeom prst="roundRect">
            <a:avLst>
              <a:gd name="adj" fmla="val 6977"/>
            </a:avLst>
          </a:prstGeom>
          <a:solidFill>
            <a:srgbClr val="0D2246"/>
          </a:solidFill>
          <a:ln w="6350">
            <a:solidFill>
              <a:srgbClr val="0D2246"/>
            </a:solidFill>
            <a:prstDash val="solid"/>
          </a:ln>
          <a:effectLst>
            <a:outerShdw sx="100000" sy="100000" kx="0" ky="0" algn="bl" rotWithShape="0" blurRad="114300" dist="25400" dir="5400000">
              <a:srgbClr val="000000">
                <a:alpha val="34000"/>
              </a:srgbClr>
            </a:outerShdw>
          </a:effectLst>
        </p:spPr>
      </p:sp>
      <p:sp>
        <p:nvSpPr>
          <p:cNvPr id="47" name="Text 38"/>
          <p:cNvSpPr/>
          <p:nvPr/>
        </p:nvSpPr>
        <p:spPr>
          <a:xfrm>
            <a:off x="5157216" y="4937760"/>
            <a:ext cx="914400" cy="182880"/>
          </a:xfrm>
          <a:prstGeom prst="rect">
            <a:avLst/>
          </a:prstGeom>
          <a:noFill/>
          <a:ln/>
        </p:spPr>
        <p:txBody>
          <a:bodyPr wrap="square" lIns="0" tIns="0" rIns="0" bIns="0" rtlCol="0" anchor="ctr"/>
          <a:lstStyle/>
          <a:p>
            <a:pPr indent="0" marL="0">
              <a:buNone/>
            </a:pPr>
            <a:r>
              <a:rPr lang="en-US" sz="800" b="1" spc="110" kern="0" dirty="0">
                <a:solidFill>
                  <a:srgbClr val="2ECC9A"/>
                </a:solidFill>
                <a:latin typeface="Calibri" pitchFamily="34" charset="0"/>
                <a:ea typeface="Calibri" pitchFamily="34" charset="-122"/>
                <a:cs typeface="Calibri" pitchFamily="34" charset="-120"/>
              </a:rPr>
              <a:t>Task 3</a:t>
            </a:r>
            <a:endParaRPr lang="en-US" sz="800" dirty="0"/>
          </a:p>
        </p:txBody>
      </p:sp>
      <p:sp>
        <p:nvSpPr>
          <p:cNvPr id="48" name="Text 39"/>
          <p:cNvSpPr/>
          <p:nvPr/>
        </p:nvSpPr>
        <p:spPr>
          <a:xfrm>
            <a:off x="5971032" y="4937760"/>
            <a:ext cx="1024128" cy="182880"/>
          </a:xfrm>
          <a:prstGeom prst="rect">
            <a:avLst/>
          </a:prstGeom>
          <a:noFill/>
          <a:ln/>
        </p:spPr>
        <p:txBody>
          <a:bodyPr wrap="square" lIns="0" tIns="0" rIns="0" bIns="0" rtlCol="0" anchor="ctr"/>
          <a:lstStyle/>
          <a:p>
            <a:pPr algn="r" indent="0" marL="0">
              <a:buNone/>
            </a:pPr>
            <a:r>
              <a:rPr lang="en-US" sz="750" b="1" dirty="0">
                <a:solidFill>
                  <a:srgbClr val="FFFFFF"/>
                </a:solidFill>
                <a:latin typeface="Calibri" pitchFamily="34" charset="0"/>
                <a:ea typeface="Calibri" pitchFamily="34" charset="-122"/>
                <a:cs typeface="Calibri" pitchFamily="34" charset="-120"/>
              </a:rPr>
              <a:t>P4 + app</a:t>
            </a:r>
            <a:endParaRPr lang="en-US" sz="750" dirty="0"/>
          </a:p>
        </p:txBody>
      </p:sp>
      <p:sp>
        <p:nvSpPr>
          <p:cNvPr id="49" name="Text 40"/>
          <p:cNvSpPr/>
          <p:nvPr/>
        </p:nvSpPr>
        <p:spPr>
          <a:xfrm>
            <a:off x="5157216" y="5138928"/>
            <a:ext cx="1847088" cy="420624"/>
          </a:xfrm>
          <a:prstGeom prst="rect">
            <a:avLst/>
          </a:prstGeom>
          <a:noFill/>
          <a:ln/>
        </p:spPr>
        <p:txBody>
          <a:bodyPr wrap="square" lIns="0" tIns="0" rIns="0" bIns="0" rtlCol="0" anchor="ctr"/>
          <a:lstStyle/>
          <a:p>
            <a:pPr indent="0" marL="0">
              <a:lnSpc>
                <a:spcPts val="980"/>
              </a:lnSpc>
              <a:buNone/>
            </a:pPr>
            <a:r>
              <a:rPr lang="en-US" sz="800" dirty="0">
                <a:solidFill>
                  <a:srgbClr val="A9BEDC"/>
                </a:solidFill>
                <a:latin typeface="Calibri" pitchFamily="34" charset="0"/>
                <a:ea typeface="Calibri" pitchFamily="34" charset="-122"/>
                <a:cs typeface="Calibri" pitchFamily="34" charset="-120"/>
              </a:rPr>
              <a:t>member-facing alerts,</a:t>
            </a:r>
            <a:endParaRPr lang="en-US" sz="800" dirty="0"/>
          </a:p>
          <a:p>
            <a:pPr indent="0" marL="0">
              <a:lnSpc>
                <a:spcPts val="980"/>
              </a:lnSpc>
              <a:buNone/>
            </a:pPr>
            <a:r>
              <a:rPr lang="en-US" sz="800" dirty="0">
                <a:solidFill>
                  <a:srgbClr val="A9BEDC"/>
                </a:solidFill>
                <a:latin typeface="Calibri" pitchFamily="34" charset="0"/>
                <a:ea typeface="Calibri" pitchFamily="34" charset="-122"/>
                <a:cs typeface="Calibri" pitchFamily="34" charset="-120"/>
              </a:rPr>
              <a:t>options, confirmations</a:t>
            </a:r>
            <a:endParaRPr lang="en-US" sz="800" dirty="0"/>
          </a:p>
        </p:txBody>
      </p:sp>
      <p:sp>
        <p:nvSpPr>
          <p:cNvPr id="50" name="Shape 41"/>
          <p:cNvSpPr/>
          <p:nvPr/>
        </p:nvSpPr>
        <p:spPr>
          <a:xfrm>
            <a:off x="7287768" y="4864608"/>
            <a:ext cx="2112264" cy="786384"/>
          </a:xfrm>
          <a:prstGeom prst="roundRect">
            <a:avLst>
              <a:gd name="adj" fmla="val 6977"/>
            </a:avLst>
          </a:prstGeom>
          <a:solidFill>
            <a:srgbClr val="0D2246"/>
          </a:solidFill>
          <a:ln w="6350">
            <a:solidFill>
              <a:srgbClr val="0D2246"/>
            </a:solidFill>
            <a:prstDash val="solid"/>
          </a:ln>
          <a:effectLst>
            <a:outerShdw sx="100000" sy="100000" kx="0" ky="0" algn="bl" rotWithShape="0" blurRad="114300" dist="25400" dir="5400000">
              <a:srgbClr val="000000">
                <a:alpha val="34000"/>
              </a:srgbClr>
            </a:outerShdw>
          </a:effectLst>
        </p:spPr>
      </p:sp>
      <p:sp>
        <p:nvSpPr>
          <p:cNvPr id="51" name="Text 42"/>
          <p:cNvSpPr/>
          <p:nvPr/>
        </p:nvSpPr>
        <p:spPr>
          <a:xfrm>
            <a:off x="7434072" y="4937760"/>
            <a:ext cx="914400" cy="182880"/>
          </a:xfrm>
          <a:prstGeom prst="rect">
            <a:avLst/>
          </a:prstGeom>
          <a:noFill/>
          <a:ln/>
        </p:spPr>
        <p:txBody>
          <a:bodyPr wrap="square" lIns="0" tIns="0" rIns="0" bIns="0" rtlCol="0" anchor="ctr"/>
          <a:lstStyle/>
          <a:p>
            <a:pPr indent="0" marL="0">
              <a:buNone/>
            </a:pPr>
            <a:r>
              <a:rPr lang="en-US" sz="800" b="1" spc="110" kern="0" dirty="0">
                <a:solidFill>
                  <a:srgbClr val="9B8CFF"/>
                </a:solidFill>
                <a:latin typeface="Calibri" pitchFamily="34" charset="0"/>
                <a:ea typeface="Calibri" pitchFamily="34" charset="-122"/>
                <a:cs typeface="Calibri" pitchFamily="34" charset="-120"/>
              </a:rPr>
              <a:t>Task 4</a:t>
            </a:r>
            <a:endParaRPr lang="en-US" sz="800" dirty="0"/>
          </a:p>
        </p:txBody>
      </p:sp>
      <p:sp>
        <p:nvSpPr>
          <p:cNvPr id="52" name="Text 43"/>
          <p:cNvSpPr/>
          <p:nvPr/>
        </p:nvSpPr>
        <p:spPr>
          <a:xfrm>
            <a:off x="8247888" y="4937760"/>
            <a:ext cx="1024128" cy="182880"/>
          </a:xfrm>
          <a:prstGeom prst="rect">
            <a:avLst/>
          </a:prstGeom>
          <a:noFill/>
          <a:ln/>
        </p:spPr>
        <p:txBody>
          <a:bodyPr wrap="square" lIns="0" tIns="0" rIns="0" bIns="0" rtlCol="0" anchor="ctr"/>
          <a:lstStyle/>
          <a:p>
            <a:pPr algn="r" indent="0" marL="0">
              <a:buNone/>
            </a:pPr>
            <a:r>
              <a:rPr lang="en-US" sz="750" b="1" dirty="0">
                <a:solidFill>
                  <a:srgbClr val="FFFFFF"/>
                </a:solidFill>
                <a:latin typeface="Calibri" pitchFamily="34" charset="0"/>
                <a:ea typeface="Calibri" pitchFamily="34" charset="-122"/>
                <a:cs typeface="Calibri" pitchFamily="34" charset="-120"/>
              </a:rPr>
              <a:t>P1 + P3</a:t>
            </a:r>
            <a:endParaRPr lang="en-US" sz="750" dirty="0"/>
          </a:p>
        </p:txBody>
      </p:sp>
      <p:sp>
        <p:nvSpPr>
          <p:cNvPr id="53" name="Text 44"/>
          <p:cNvSpPr/>
          <p:nvPr/>
        </p:nvSpPr>
        <p:spPr>
          <a:xfrm>
            <a:off x="7434072" y="5138928"/>
            <a:ext cx="1847088" cy="420624"/>
          </a:xfrm>
          <a:prstGeom prst="rect">
            <a:avLst/>
          </a:prstGeom>
          <a:noFill/>
          <a:ln/>
        </p:spPr>
        <p:txBody>
          <a:bodyPr wrap="square" lIns="0" tIns="0" rIns="0" bIns="0" rtlCol="0" anchor="ctr"/>
          <a:lstStyle/>
          <a:p>
            <a:pPr indent="0" marL="0">
              <a:lnSpc>
                <a:spcPts val="980"/>
              </a:lnSpc>
              <a:buNone/>
            </a:pPr>
            <a:r>
              <a:rPr lang="en-US" sz="800" dirty="0">
                <a:solidFill>
                  <a:srgbClr val="A9BEDC"/>
                </a:solidFill>
                <a:latin typeface="Calibri" pitchFamily="34" charset="0"/>
                <a:ea typeface="Calibri" pitchFamily="34" charset="-122"/>
                <a:cs typeface="Calibri" pitchFamily="34" charset="-120"/>
              </a:rPr>
              <a:t>airline, hotel and</a:t>
            </a:r>
            <a:endParaRPr lang="en-US" sz="800" dirty="0"/>
          </a:p>
          <a:p>
            <a:pPr indent="0" marL="0">
              <a:lnSpc>
                <a:spcPts val="980"/>
              </a:lnSpc>
              <a:buNone/>
            </a:pPr>
            <a:r>
              <a:rPr lang="en-US" sz="800" dirty="0">
                <a:solidFill>
                  <a:srgbClr val="A9BEDC"/>
                </a:solidFill>
                <a:latin typeface="Calibri" pitchFamily="34" charset="0"/>
                <a:ea typeface="Calibri" pitchFamily="34" charset="-122"/>
                <a:cs typeface="Calibri" pitchFamily="34" charset="-120"/>
              </a:rPr>
              <a:t>notification APIs</a:t>
            </a:r>
            <a:endParaRPr lang="en-US" sz="800" dirty="0"/>
          </a:p>
        </p:txBody>
      </p:sp>
      <p:sp>
        <p:nvSpPr>
          <p:cNvPr id="54" name="Shape 45"/>
          <p:cNvSpPr/>
          <p:nvPr/>
        </p:nvSpPr>
        <p:spPr>
          <a:xfrm>
            <a:off x="9564624" y="4864608"/>
            <a:ext cx="2112264" cy="786384"/>
          </a:xfrm>
          <a:prstGeom prst="roundRect">
            <a:avLst>
              <a:gd name="adj" fmla="val 6977"/>
            </a:avLst>
          </a:prstGeom>
          <a:solidFill>
            <a:srgbClr val="0D2246"/>
          </a:solidFill>
          <a:ln w="6350">
            <a:solidFill>
              <a:srgbClr val="0D2246"/>
            </a:solidFill>
            <a:prstDash val="solid"/>
          </a:ln>
          <a:effectLst>
            <a:outerShdw sx="100000" sy="100000" kx="0" ky="0" algn="bl" rotWithShape="0" blurRad="114300" dist="25400" dir="5400000">
              <a:srgbClr val="000000">
                <a:alpha val="34000"/>
              </a:srgbClr>
            </a:outerShdw>
          </a:effectLst>
        </p:spPr>
      </p:sp>
      <p:sp>
        <p:nvSpPr>
          <p:cNvPr id="55" name="Text 46"/>
          <p:cNvSpPr/>
          <p:nvPr/>
        </p:nvSpPr>
        <p:spPr>
          <a:xfrm>
            <a:off x="9710928" y="4937760"/>
            <a:ext cx="914400" cy="182880"/>
          </a:xfrm>
          <a:prstGeom prst="rect">
            <a:avLst/>
          </a:prstGeom>
          <a:noFill/>
          <a:ln/>
        </p:spPr>
        <p:txBody>
          <a:bodyPr wrap="square" lIns="0" tIns="0" rIns="0" bIns="0" rtlCol="0" anchor="ctr"/>
          <a:lstStyle/>
          <a:p>
            <a:pPr indent="0" marL="0">
              <a:buNone/>
            </a:pPr>
            <a:r>
              <a:rPr lang="en-US" sz="800" b="1" spc="110" kern="0" dirty="0">
                <a:solidFill>
                  <a:srgbClr val="FF6B6B"/>
                </a:solidFill>
                <a:latin typeface="Calibri" pitchFamily="34" charset="0"/>
                <a:ea typeface="Calibri" pitchFamily="34" charset="-122"/>
                <a:cs typeface="Calibri" pitchFamily="34" charset="-120"/>
              </a:rPr>
              <a:t>Task 5</a:t>
            </a:r>
            <a:endParaRPr lang="en-US" sz="800" dirty="0"/>
          </a:p>
        </p:txBody>
      </p:sp>
      <p:sp>
        <p:nvSpPr>
          <p:cNvPr id="56" name="Text 47"/>
          <p:cNvSpPr/>
          <p:nvPr/>
        </p:nvSpPr>
        <p:spPr>
          <a:xfrm>
            <a:off x="10524744" y="4937760"/>
            <a:ext cx="1024128" cy="182880"/>
          </a:xfrm>
          <a:prstGeom prst="rect">
            <a:avLst/>
          </a:prstGeom>
          <a:noFill/>
          <a:ln/>
        </p:spPr>
        <p:txBody>
          <a:bodyPr wrap="square" lIns="0" tIns="0" rIns="0" bIns="0" rtlCol="0" anchor="ctr"/>
          <a:lstStyle/>
          <a:p>
            <a:pPr algn="r" indent="0" marL="0">
              <a:buNone/>
            </a:pPr>
            <a:r>
              <a:rPr lang="en-US" sz="750" b="1" dirty="0">
                <a:solidFill>
                  <a:srgbClr val="FFFFFF"/>
                </a:solidFill>
                <a:latin typeface="Calibri" pitchFamily="34" charset="0"/>
                <a:ea typeface="Calibri" pitchFamily="34" charset="-122"/>
                <a:cs typeface="Calibri" pitchFamily="34" charset="-120"/>
              </a:rPr>
              <a:t>metrics, slide 8</a:t>
            </a:r>
            <a:endParaRPr lang="en-US" sz="750" dirty="0"/>
          </a:p>
        </p:txBody>
      </p:sp>
      <p:sp>
        <p:nvSpPr>
          <p:cNvPr id="57" name="Text 48"/>
          <p:cNvSpPr/>
          <p:nvPr/>
        </p:nvSpPr>
        <p:spPr>
          <a:xfrm>
            <a:off x="9710928" y="5138928"/>
            <a:ext cx="1847088" cy="420624"/>
          </a:xfrm>
          <a:prstGeom prst="rect">
            <a:avLst/>
          </a:prstGeom>
          <a:noFill/>
          <a:ln/>
        </p:spPr>
        <p:txBody>
          <a:bodyPr wrap="square" lIns="0" tIns="0" rIns="0" bIns="0" rtlCol="0" anchor="ctr"/>
          <a:lstStyle/>
          <a:p>
            <a:pPr indent="0" marL="0">
              <a:lnSpc>
                <a:spcPts val="980"/>
              </a:lnSpc>
              <a:buNone/>
            </a:pPr>
            <a:r>
              <a:rPr lang="en-US" sz="800" dirty="0">
                <a:solidFill>
                  <a:srgbClr val="A9BEDC"/>
                </a:solidFill>
                <a:latin typeface="Calibri" pitchFamily="34" charset="0"/>
                <a:ea typeface="Calibri" pitchFamily="34" charset="-122"/>
                <a:cs typeface="Calibri" pitchFamily="34" charset="-120"/>
              </a:rPr>
              <a:t>detection speed, rebooking</a:t>
            </a:r>
            <a:endParaRPr lang="en-US" sz="800" dirty="0"/>
          </a:p>
          <a:p>
            <a:pPr indent="0" marL="0">
              <a:lnSpc>
                <a:spcPts val="980"/>
              </a:lnSpc>
              <a:buNone/>
            </a:pPr>
            <a:r>
              <a:rPr lang="en-US" sz="800" dirty="0">
                <a:solidFill>
                  <a:srgbClr val="A9BEDC"/>
                </a:solidFill>
                <a:latin typeface="Calibri" pitchFamily="34" charset="0"/>
                <a:ea typeface="Calibri" pitchFamily="34" charset="-122"/>
                <a:cs typeface="Calibri" pitchFamily="34" charset="-120"/>
              </a:rPr>
              <a:t>success, notification clarity</a:t>
            </a:r>
            <a:endParaRPr lang="en-US" sz="800" dirty="0"/>
          </a:p>
        </p:txBody>
      </p:sp>
      <p:sp>
        <p:nvSpPr>
          <p:cNvPr id="58" name="Shape 49"/>
          <p:cNvSpPr/>
          <p:nvPr/>
        </p:nvSpPr>
        <p:spPr>
          <a:xfrm>
            <a:off x="457200" y="5742432"/>
            <a:ext cx="3630168" cy="566928"/>
          </a:xfrm>
          <a:prstGeom prst="roundRect">
            <a:avLst>
              <a:gd name="adj" fmla="val 967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59" name="Image 7" descr="preencoded.png">    </p:cNvPr>
          <p:cNvPicPr>
            <a:picLocks noChangeAspect="1"/>
          </p:cNvPicPr>
          <p:nvPr/>
        </p:nvPicPr>
        <p:blipFill>
          <a:blip r:embed="rId8"/>
          <a:stretch>
            <a:fillRect/>
          </a:stretch>
        </p:blipFill>
        <p:spPr>
          <a:xfrm>
            <a:off x="603504" y="5833872"/>
            <a:ext cx="201168" cy="201168"/>
          </a:xfrm>
          <a:prstGeom prst="rect">
            <a:avLst/>
          </a:prstGeom>
        </p:spPr>
      </p:pic>
      <p:sp>
        <p:nvSpPr>
          <p:cNvPr id="60" name="Text 50"/>
          <p:cNvSpPr/>
          <p:nvPr/>
        </p:nvSpPr>
        <p:spPr>
          <a:xfrm>
            <a:off x="859536" y="5779008"/>
            <a:ext cx="3108960" cy="219456"/>
          </a:xfrm>
          <a:prstGeom prst="rect">
            <a:avLst/>
          </a:prstGeom>
          <a:noFill/>
          <a:ln/>
        </p:spPr>
        <p:txBody>
          <a:bodyPr wrap="square" lIns="0" tIns="0" rIns="0" bIns="0" rtlCol="0" anchor="ctr"/>
          <a:lstStyle/>
          <a:p>
            <a:pPr indent="0" marL="0">
              <a:buNone/>
            </a:pPr>
            <a:r>
              <a:rPr lang="en-US" sz="950" b="1" dirty="0">
                <a:solidFill>
                  <a:srgbClr val="3D9CFF"/>
                </a:solidFill>
                <a:latin typeface="Calibri" pitchFamily="34" charset="0"/>
                <a:ea typeface="Calibri" pitchFamily="34" charset="-122"/>
                <a:cs typeface="Calibri" pitchFamily="34" charset="-120"/>
              </a:rPr>
              <a:t>Closed-loop network</a:t>
            </a:r>
            <a:endParaRPr lang="en-US" sz="950" dirty="0"/>
          </a:p>
        </p:txBody>
      </p:sp>
      <p:sp>
        <p:nvSpPr>
          <p:cNvPr id="61" name="Text 51"/>
          <p:cNvSpPr/>
          <p:nvPr/>
        </p:nvSpPr>
        <p:spPr>
          <a:xfrm>
            <a:off x="859536" y="5998464"/>
            <a:ext cx="3108960" cy="219456"/>
          </a:xfrm>
          <a:prstGeom prst="rect">
            <a:avLst/>
          </a:prstGeom>
          <a:noFill/>
          <a:ln/>
        </p:spPr>
        <p:txBody>
          <a:bodyPr wrap="square" lIns="0" tIns="0" rIns="0" bIns="0" rtlCol="0" anchor="ctr"/>
          <a:lstStyle/>
          <a:p>
            <a:pPr indent="0" marL="0">
              <a:buNone/>
            </a:pPr>
            <a:r>
              <a:rPr lang="en-US" sz="750" dirty="0">
                <a:solidFill>
                  <a:srgbClr val="A9BEDC"/>
                </a:solidFill>
                <a:latin typeface="Calibri" pitchFamily="34" charset="0"/>
                <a:ea typeface="Calibri" pitchFamily="34" charset="-122"/>
                <a:cs typeface="Calibri" pitchFamily="34" charset="-120"/>
              </a:rPr>
              <a:t>issuer, network and acquirer at once — the agent can verify what it booked actually settled</a:t>
            </a:r>
            <a:endParaRPr lang="en-US" sz="750" dirty="0"/>
          </a:p>
        </p:txBody>
      </p:sp>
      <p:sp>
        <p:nvSpPr>
          <p:cNvPr id="62" name="Shape 52"/>
          <p:cNvSpPr/>
          <p:nvPr/>
        </p:nvSpPr>
        <p:spPr>
          <a:xfrm>
            <a:off x="4251960" y="5742432"/>
            <a:ext cx="3630168" cy="566928"/>
          </a:xfrm>
          <a:prstGeom prst="roundRect">
            <a:avLst>
              <a:gd name="adj" fmla="val 967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63" name="Image 8" descr="preencoded.png">    </p:cNvPr>
          <p:cNvPicPr>
            <a:picLocks noChangeAspect="1"/>
          </p:cNvPicPr>
          <p:nvPr/>
        </p:nvPicPr>
        <p:blipFill>
          <a:blip r:embed="rId9"/>
          <a:stretch>
            <a:fillRect/>
          </a:stretch>
        </p:blipFill>
        <p:spPr>
          <a:xfrm>
            <a:off x="4398264" y="5833872"/>
            <a:ext cx="201168" cy="201168"/>
          </a:xfrm>
          <a:prstGeom prst="rect">
            <a:avLst/>
          </a:prstGeom>
        </p:spPr>
      </p:pic>
      <p:sp>
        <p:nvSpPr>
          <p:cNvPr id="64" name="Text 53"/>
          <p:cNvSpPr/>
          <p:nvPr/>
        </p:nvSpPr>
        <p:spPr>
          <a:xfrm>
            <a:off x="4654296" y="5779008"/>
            <a:ext cx="3108960" cy="219456"/>
          </a:xfrm>
          <a:prstGeom prst="rect">
            <a:avLst/>
          </a:prstGeom>
          <a:noFill/>
          <a:ln/>
        </p:spPr>
        <p:txBody>
          <a:bodyPr wrap="square" lIns="0" tIns="0" rIns="0" bIns="0" rtlCol="0" anchor="ctr"/>
          <a:lstStyle/>
          <a:p>
            <a:pPr indent="0" marL="0">
              <a:buNone/>
            </a:pPr>
            <a:r>
              <a:rPr lang="en-US" sz="950" b="1" dirty="0">
                <a:solidFill>
                  <a:srgbClr val="2ECC9A"/>
                </a:solidFill>
                <a:latin typeface="Calibri" pitchFamily="34" charset="0"/>
                <a:ea typeface="Calibri" pitchFamily="34" charset="-122"/>
                <a:cs typeface="Calibri" pitchFamily="34" charset="-120"/>
              </a:rPr>
              <a:t>Entitlement is already a rule set</a:t>
            </a:r>
            <a:endParaRPr lang="en-US" sz="950" dirty="0"/>
          </a:p>
        </p:txBody>
      </p:sp>
      <p:sp>
        <p:nvSpPr>
          <p:cNvPr id="65" name="Text 54"/>
          <p:cNvSpPr/>
          <p:nvPr/>
        </p:nvSpPr>
        <p:spPr>
          <a:xfrm>
            <a:off x="4654296" y="5998464"/>
            <a:ext cx="3108960" cy="219456"/>
          </a:xfrm>
          <a:prstGeom prst="rect">
            <a:avLst/>
          </a:prstGeom>
          <a:noFill/>
          <a:ln/>
        </p:spPr>
        <p:txBody>
          <a:bodyPr wrap="square" lIns="0" tIns="0" rIns="0" bIns="0" rtlCol="0" anchor="ctr"/>
          <a:lstStyle/>
          <a:p>
            <a:pPr indent="0" marL="0">
              <a:buNone/>
            </a:pPr>
            <a:r>
              <a:rPr lang="en-US" sz="750" dirty="0">
                <a:solidFill>
                  <a:srgbClr val="A9BEDC"/>
                </a:solidFill>
                <a:latin typeface="Calibri" pitchFamily="34" charset="0"/>
                <a:ea typeface="Calibri" pitchFamily="34" charset="-122"/>
                <a:cs typeface="Calibri" pitchFamily="34" charset="-120"/>
              </a:rPr>
              <a:t>DGCA CAR Section 3 in India, card benefit terms elsewhere — a specification, not marketing copy</a:t>
            </a:r>
            <a:endParaRPr lang="en-US" sz="750" dirty="0"/>
          </a:p>
        </p:txBody>
      </p:sp>
      <p:sp>
        <p:nvSpPr>
          <p:cNvPr id="66" name="Shape 55"/>
          <p:cNvSpPr/>
          <p:nvPr/>
        </p:nvSpPr>
        <p:spPr>
          <a:xfrm>
            <a:off x="8046720" y="5742432"/>
            <a:ext cx="3630168" cy="566928"/>
          </a:xfrm>
          <a:prstGeom prst="roundRect">
            <a:avLst>
              <a:gd name="adj" fmla="val 967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67" name="Image 9" descr="preencoded.png">    </p:cNvPr>
          <p:cNvPicPr>
            <a:picLocks noChangeAspect="1"/>
          </p:cNvPicPr>
          <p:nvPr/>
        </p:nvPicPr>
        <p:blipFill>
          <a:blip r:embed="rId10"/>
          <a:stretch>
            <a:fillRect/>
          </a:stretch>
        </p:blipFill>
        <p:spPr>
          <a:xfrm>
            <a:off x="8193024" y="5833872"/>
            <a:ext cx="201168" cy="201168"/>
          </a:xfrm>
          <a:prstGeom prst="rect">
            <a:avLst/>
          </a:prstGeom>
        </p:spPr>
      </p:pic>
      <p:sp>
        <p:nvSpPr>
          <p:cNvPr id="68" name="Text 56"/>
          <p:cNvSpPr/>
          <p:nvPr/>
        </p:nvSpPr>
        <p:spPr>
          <a:xfrm>
            <a:off x="8449056" y="5779008"/>
            <a:ext cx="3108960" cy="219456"/>
          </a:xfrm>
          <a:prstGeom prst="rect">
            <a:avLst/>
          </a:prstGeom>
          <a:noFill/>
          <a:ln/>
        </p:spPr>
        <p:txBody>
          <a:bodyPr wrap="square" lIns="0" tIns="0" rIns="0" bIns="0" rtlCol="0" anchor="ctr"/>
          <a:lstStyle/>
          <a:p>
            <a:pPr indent="0" marL="0">
              <a:buNone/>
            </a:pPr>
            <a:r>
              <a:rPr lang="en-US" sz="950" b="1" dirty="0">
                <a:solidFill>
                  <a:srgbClr val="9B8CFF"/>
                </a:solidFill>
                <a:latin typeface="Calibri" pitchFamily="34" charset="0"/>
                <a:ea typeface="Calibri" pitchFamily="34" charset="-122"/>
                <a:cs typeface="Calibri" pitchFamily="34" charset="-120"/>
              </a:rPr>
              <a:t>The agentic rails already exist</a:t>
            </a:r>
            <a:endParaRPr lang="en-US" sz="950" dirty="0"/>
          </a:p>
        </p:txBody>
      </p:sp>
      <p:sp>
        <p:nvSpPr>
          <p:cNvPr id="69" name="Text 57"/>
          <p:cNvSpPr/>
          <p:nvPr/>
        </p:nvSpPr>
        <p:spPr>
          <a:xfrm>
            <a:off x="8449056" y="5998464"/>
            <a:ext cx="3108960" cy="219456"/>
          </a:xfrm>
          <a:prstGeom prst="rect">
            <a:avLst/>
          </a:prstGeom>
          <a:noFill/>
          <a:ln/>
        </p:spPr>
        <p:txBody>
          <a:bodyPr wrap="square" lIns="0" tIns="0" rIns="0" bIns="0" rtlCol="0" anchor="ctr"/>
          <a:lstStyle/>
          <a:p>
            <a:pPr indent="0" marL="0">
              <a:buNone/>
            </a:pPr>
            <a:r>
              <a:rPr lang="en-US" sz="750" dirty="0">
                <a:solidFill>
                  <a:srgbClr val="A9BEDC"/>
                </a:solidFill>
                <a:latin typeface="Calibri" pitchFamily="34" charset="0"/>
                <a:ea typeface="Calibri" pitchFamily="34" charset="-122"/>
                <a:cs typeface="Calibri" pitchFamily="34" charset="-120"/>
              </a:rPr>
              <a:t>Amex ACE issues scoped tokenised credentials; vPayment locks a single-use card to an amount and a date</a:t>
            </a:r>
            <a:endParaRPr lang="en-US" sz="750" dirty="0"/>
          </a:p>
        </p:txBody>
      </p:sp>
      <p:sp>
        <p:nvSpPr>
          <p:cNvPr id="70" name="Text 58"/>
          <p:cNvSpPr/>
          <p:nvPr/>
        </p:nvSpPr>
        <p:spPr>
          <a:xfrm>
            <a:off x="457200" y="6382512"/>
            <a:ext cx="11274552" cy="310896"/>
          </a:xfrm>
          <a:prstGeom prst="rect">
            <a:avLst/>
          </a:prstGeom>
          <a:noFill/>
          <a:ln/>
        </p:spPr>
        <p:txBody>
          <a:bodyPr wrap="square" lIns="0" tIns="0" rIns="0" bIns="0" rtlCol="0" anchor="t"/>
          <a:lstStyle/>
          <a:p>
            <a:pPr indent="0" marL="0">
              <a:buNone/>
            </a:pPr>
            <a:r>
              <a:rPr lang="en-US" sz="750" b="1" spc="120" kern="0" dirty="0">
                <a:solidFill>
                  <a:srgbClr val="7B94BA"/>
                </a:solidFill>
                <a:latin typeface="Calibri" pitchFamily="34" charset="0"/>
                <a:ea typeface="Calibri" pitchFamily="34" charset="-122"/>
                <a:cs typeface="Calibri" pitchFamily="34" charset="-120"/>
              </a:rPr>
              <a:t>SOURCES  </a:t>
            </a:r>
            <a:pPr indent="0" marL="0">
              <a:buNone/>
            </a:pPr>
            <a:r>
              <a:rPr lang="en-US" sz="750" dirty="0">
                <a:solidFill>
                  <a:srgbClr val="7B94BA"/>
                </a:solidFill>
                <a:latin typeface="Calibri" pitchFamily="34" charset="0"/>
                <a:ea typeface="Calibri" pitchFamily="34" charset="-122"/>
                <a:cs typeface="Calibri" pitchFamily="34" charset="-120"/>
              </a:rPr>
              <a:t>Task list quoted from the Codestreet 2026 problem statement 'Autonomous Travel-Disruption Concierge'. Sabre agentic APIs / MCP server, 23 Sep 2025; Lumo API suite; Amex ACE Developer Kit, 14 Apr 2026; Amex vPayment; OPA (CNCF Graduated).</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B3D"/>
        </a:solidFill>
      </p:bgPr>
    </p:bg>
    <p:spTree>
      <p:nvGrpSpPr>
        <p:cNvPr id="1" name=""/>
        <p:cNvGrpSpPr/>
        <p:nvPr/>
      </p:nvGrpSpPr>
      <p:grpSpPr>
        <a:xfrm>
          <a:off x="0" y="0"/>
          <a:ext cx="0" cy="0"/>
          <a:chOff x="0" y="0"/>
          <a:chExt cx="0" cy="0"/>
        </a:xfrm>
      </p:grpSpPr>
      <p:sp>
        <p:nvSpPr>
          <p:cNvPr id="2" name="Text 0"/>
          <p:cNvSpPr/>
          <p:nvPr/>
        </p:nvSpPr>
        <p:spPr>
          <a:xfrm>
            <a:off x="457200" y="146304"/>
            <a:ext cx="8229600" cy="201168"/>
          </a:xfrm>
          <a:prstGeom prst="rect">
            <a:avLst/>
          </a:prstGeom>
          <a:noFill/>
          <a:ln/>
        </p:spPr>
        <p:txBody>
          <a:bodyPr wrap="square" lIns="0" tIns="0" rIns="0" bIns="0" rtlCol="0" anchor="ctr"/>
          <a:lstStyle/>
          <a:p>
            <a:pPr indent="0" marL="0">
              <a:buNone/>
            </a:pPr>
            <a:r>
              <a:rPr lang="en-US" sz="850" b="1" spc="220" kern="0" dirty="0">
                <a:solidFill>
                  <a:srgbClr val="3D9CFF"/>
                </a:solidFill>
                <a:latin typeface="Calibri" pitchFamily="34" charset="0"/>
                <a:ea typeface="Calibri" pitchFamily="34" charset="-122"/>
                <a:cs typeface="Calibri" pitchFamily="34" charset="-120"/>
              </a:rPr>
              <a:t>03 · CONSENT &amp; THE AGENT GRAPH</a:t>
            </a:r>
            <a:endParaRPr lang="en-US" sz="850" dirty="0"/>
          </a:p>
        </p:txBody>
      </p:sp>
      <p:sp>
        <p:nvSpPr>
          <p:cNvPr id="3" name="Text 1"/>
          <p:cNvSpPr/>
          <p:nvPr/>
        </p:nvSpPr>
        <p:spPr>
          <a:xfrm>
            <a:off x="11155680" y="146304"/>
            <a:ext cx="576072" cy="201168"/>
          </a:xfrm>
          <a:prstGeom prst="rect">
            <a:avLst/>
          </a:prstGeom>
          <a:noFill/>
          <a:ln/>
        </p:spPr>
        <p:txBody>
          <a:bodyPr wrap="square" lIns="0" tIns="0" rIns="0" bIns="0" rtlCol="0" anchor="ctr"/>
          <a:lstStyle/>
          <a:p>
            <a:pPr algn="r" indent="0" marL="0">
              <a:buNone/>
            </a:pPr>
            <a:r>
              <a:rPr lang="en-US" sz="850" dirty="0">
                <a:solidFill>
                  <a:srgbClr val="7B94BA"/>
                </a:solidFill>
                <a:latin typeface="Calibri" pitchFamily="34" charset="0"/>
                <a:ea typeface="Calibri" pitchFamily="34" charset="-122"/>
                <a:cs typeface="Calibri" pitchFamily="34" charset="-120"/>
              </a:rPr>
              <a:t>4</a:t>
            </a:r>
            <a:endParaRPr lang="en-US" sz="850" dirty="0"/>
          </a:p>
        </p:txBody>
      </p:sp>
      <p:sp>
        <p:nvSpPr>
          <p:cNvPr id="4" name="Text 2"/>
          <p:cNvSpPr/>
          <p:nvPr/>
        </p:nvSpPr>
        <p:spPr>
          <a:xfrm>
            <a:off x="457200" y="365760"/>
            <a:ext cx="11274552" cy="420624"/>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A supervisor graph, and consent collected before the panic</a:t>
            </a:r>
            <a:endParaRPr lang="en-US" sz="2500" dirty="0"/>
          </a:p>
        </p:txBody>
      </p:sp>
      <p:sp>
        <p:nvSpPr>
          <p:cNvPr id="5" name="Text 3"/>
          <p:cNvSpPr/>
          <p:nvPr/>
        </p:nvSpPr>
        <p:spPr>
          <a:xfrm>
            <a:off x="457200" y="804672"/>
            <a:ext cx="11274552" cy="256032"/>
          </a:xfrm>
          <a:prstGeom prst="rect">
            <a:avLst/>
          </a:prstGeom>
          <a:noFill/>
          <a:ln/>
        </p:spPr>
        <p:txBody>
          <a:bodyPr wrap="square" lIns="0" tIns="0" rIns="0" bIns="0" rtlCol="0" anchor="ctr"/>
          <a:lstStyle/>
          <a:p>
            <a:pPr indent="0" marL="0">
              <a:buNone/>
            </a:pPr>
            <a:r>
              <a:rPr lang="en-US" sz="1150" dirty="0">
                <a:solidFill>
                  <a:srgbClr val="A9BEDC"/>
                </a:solidFill>
                <a:latin typeface="Calibri" pitchFamily="34" charset="0"/>
                <a:ea typeface="Calibri" pitchFamily="34" charset="-122"/>
                <a:cs typeface="Calibri" pitchFamily="34" charset="-120"/>
              </a:rPr>
              <a:t>Sub-agents propose. Only the executor acts — and only after the policy gate and the consent gate both pass.</a:t>
            </a:r>
            <a:endParaRPr lang="en-US" sz="1150" dirty="0"/>
          </a:p>
        </p:txBody>
      </p:sp>
      <p:sp>
        <p:nvSpPr>
          <p:cNvPr id="6" name="Shape 4"/>
          <p:cNvSpPr/>
          <p:nvPr/>
        </p:nvSpPr>
        <p:spPr>
          <a:xfrm>
            <a:off x="457200" y="1709928"/>
            <a:ext cx="1188720" cy="603504"/>
          </a:xfrm>
          <a:prstGeom prst="roundRect">
            <a:avLst>
              <a:gd name="adj" fmla="val 7576"/>
            </a:avLst>
          </a:prstGeom>
          <a:solidFill>
            <a:srgbClr val="132C52"/>
          </a:solidFill>
          <a:ln w="12700">
            <a:solidFill>
              <a:srgbClr val="3D9CFF"/>
            </a:solidFill>
            <a:prstDash val="solid"/>
          </a:ln>
        </p:spPr>
        <p:txBody>
          <a:bodyPr/>
          <a:p/>
        </p:txBody>
      </p:sp>
      <p:sp>
        <p:nvSpPr>
          <p:cNvPr id="7" name="Text 5"/>
          <p:cNvSpPr/>
          <p:nvPr/>
        </p:nvSpPr>
        <p:spPr>
          <a:xfrm>
            <a:off x="512064" y="1755648"/>
            <a:ext cx="1078992" cy="219456"/>
          </a:xfrm>
          <a:prstGeom prst="rect">
            <a:avLst/>
          </a:prstGeom>
          <a:noFill/>
          <a:ln/>
        </p:spPr>
        <p:txBody>
          <a:bodyPr wrap="square" lIns="0" tIns="0" rIns="0" bIns="0" rtlCol="0" anchor="ctr"/>
          <a:lstStyle/>
          <a:p>
            <a:pPr algn="ctr" indent="0" marL="0">
              <a:buNone/>
            </a:pPr>
            <a:r>
              <a:rPr lang="en-US" sz="850" b="1" dirty="0">
                <a:solidFill>
                  <a:srgbClr val="3D9CFF"/>
                </a:solidFill>
                <a:latin typeface="Calibri" pitchFamily="34" charset="0"/>
                <a:ea typeface="Calibri" pitchFamily="34" charset="-122"/>
                <a:cs typeface="Calibri" pitchFamily="34" charset="-120"/>
              </a:rPr>
              <a:t>WATCHER</a:t>
            </a:r>
            <a:endParaRPr lang="en-US" sz="850" dirty="0"/>
          </a:p>
        </p:txBody>
      </p:sp>
      <p:sp>
        <p:nvSpPr>
          <p:cNvPr id="8" name="Text 6"/>
          <p:cNvSpPr/>
          <p:nvPr/>
        </p:nvSpPr>
        <p:spPr>
          <a:xfrm>
            <a:off x="512064" y="1947672"/>
            <a:ext cx="1078992" cy="310896"/>
          </a:xfrm>
          <a:prstGeom prst="rect">
            <a:avLst/>
          </a:prstGeom>
          <a:noFill/>
          <a:ln/>
        </p:spPr>
        <p:txBody>
          <a:bodyPr wrap="square" lIns="0" tIns="0" rIns="0" bIns="0" rtlCol="0" anchor="ctr"/>
          <a:lstStyle/>
          <a:p>
            <a:pPr algn="ctr" indent="0" marL="0">
              <a:lnSpc>
                <a:spcPts val="860"/>
              </a:lnSpc>
              <a:buNone/>
            </a:pPr>
            <a:r>
              <a:rPr lang="en-US" sz="700" dirty="0">
                <a:solidFill>
                  <a:srgbClr val="A9BEDC"/>
                </a:solidFill>
                <a:latin typeface="Calibri" pitchFamily="34" charset="0"/>
                <a:ea typeface="Calibri" pitchFamily="34" charset="-122"/>
                <a:cs typeface="Calibri" pitchFamily="34" charset="-120"/>
              </a:rPr>
              <a:t>disruption +</a:t>
            </a:r>
            <a:endParaRPr lang="en-US" sz="700" dirty="0"/>
          </a:p>
          <a:p>
            <a:pPr algn="ctr" indent="0" marL="0">
              <a:lnSpc>
                <a:spcPts val="860"/>
              </a:lnSpc>
              <a:buNone/>
            </a:pPr>
            <a:r>
              <a:rPr lang="en-US" sz="700" dirty="0">
                <a:solidFill>
                  <a:srgbClr val="A9BEDC"/>
                </a:solidFill>
                <a:latin typeface="Calibri" pitchFamily="34" charset="0"/>
                <a:ea typeface="Calibri" pitchFamily="34" charset="-122"/>
                <a:cs typeface="Calibri" pitchFamily="34" charset="-120"/>
              </a:rPr>
              <a:t>prediction signals</a:t>
            </a:r>
            <a:endParaRPr lang="en-US" sz="700" dirty="0"/>
          </a:p>
        </p:txBody>
      </p:sp>
      <p:sp>
        <p:nvSpPr>
          <p:cNvPr id="9" name="Shape 7"/>
          <p:cNvSpPr/>
          <p:nvPr/>
        </p:nvSpPr>
        <p:spPr>
          <a:xfrm>
            <a:off x="1719072" y="1938528"/>
            <a:ext cx="146304" cy="146304"/>
          </a:xfrm>
          <a:prstGeom prst="rightArrow">
            <a:avLst/>
          </a:prstGeom>
          <a:solidFill>
            <a:srgbClr val="7B94BA"/>
          </a:solidFill>
          <a:ln w="12700">
            <a:solidFill>
              <a:srgbClr val="333333"/>
            </a:solidFill>
            <a:prstDash val="solid"/>
          </a:ln>
        </p:spPr>
        <p:txBody>
          <a:bodyPr/>
          <a:p/>
        </p:txBody>
      </p:sp>
      <p:sp>
        <p:nvSpPr>
          <p:cNvPr id="10" name="Shape 8"/>
          <p:cNvSpPr/>
          <p:nvPr/>
        </p:nvSpPr>
        <p:spPr>
          <a:xfrm>
            <a:off x="1938528" y="1563624"/>
            <a:ext cx="1389888" cy="896112"/>
          </a:xfrm>
          <a:prstGeom prst="roundRect">
            <a:avLst>
              <a:gd name="adj" fmla="val 5102"/>
            </a:avLst>
          </a:prstGeom>
          <a:solidFill>
            <a:srgbClr val="1B3A69"/>
          </a:solidFill>
          <a:ln w="12700">
            <a:solidFill>
              <a:srgbClr val="3D9CFF"/>
            </a:solidFill>
            <a:prstDash val="solid"/>
          </a:ln>
        </p:spPr>
        <p:txBody>
          <a:bodyPr/>
          <a:p/>
        </p:txBody>
      </p:sp>
      <p:sp>
        <p:nvSpPr>
          <p:cNvPr id="11" name="Text 9"/>
          <p:cNvSpPr/>
          <p:nvPr/>
        </p:nvSpPr>
        <p:spPr>
          <a:xfrm>
            <a:off x="1993392" y="1609344"/>
            <a:ext cx="1280160" cy="219456"/>
          </a:xfrm>
          <a:prstGeom prst="rect">
            <a:avLst/>
          </a:prstGeom>
          <a:noFill/>
          <a:ln/>
        </p:spPr>
        <p:txBody>
          <a:bodyPr wrap="square" lIns="0" tIns="0" rIns="0" bIns="0" rtlCol="0" anchor="ctr"/>
          <a:lstStyle/>
          <a:p>
            <a:pPr algn="ctr" indent="0" marL="0">
              <a:buNone/>
            </a:pPr>
            <a:r>
              <a:rPr lang="en-US" sz="850" b="1" dirty="0">
                <a:solidFill>
                  <a:srgbClr val="3D9CFF"/>
                </a:solidFill>
                <a:latin typeface="Calibri" pitchFamily="34" charset="0"/>
                <a:ea typeface="Calibri" pitchFamily="34" charset="-122"/>
                <a:cs typeface="Calibri" pitchFamily="34" charset="-120"/>
              </a:rPr>
              <a:t>SUPERVISOR</a:t>
            </a:r>
            <a:endParaRPr lang="en-US" sz="850" dirty="0"/>
          </a:p>
        </p:txBody>
      </p:sp>
      <p:sp>
        <p:nvSpPr>
          <p:cNvPr id="12" name="Text 10"/>
          <p:cNvSpPr/>
          <p:nvPr/>
        </p:nvSpPr>
        <p:spPr>
          <a:xfrm>
            <a:off x="1993392" y="1801368"/>
            <a:ext cx="1280160" cy="603504"/>
          </a:xfrm>
          <a:prstGeom prst="rect">
            <a:avLst/>
          </a:prstGeom>
          <a:noFill/>
          <a:ln/>
        </p:spPr>
        <p:txBody>
          <a:bodyPr wrap="square" lIns="0" tIns="0" rIns="0" bIns="0" rtlCol="0" anchor="ctr"/>
          <a:lstStyle/>
          <a:p>
            <a:pPr algn="ctr" indent="0" marL="0">
              <a:lnSpc>
                <a:spcPts val="860"/>
              </a:lnSpc>
              <a:buNone/>
            </a:pPr>
            <a:r>
              <a:rPr lang="en-US" sz="700" dirty="0">
                <a:solidFill>
                  <a:srgbClr val="A9BEDC"/>
                </a:solidFill>
                <a:latin typeface="Calibri" pitchFamily="34" charset="0"/>
                <a:ea typeface="Calibri" pitchFamily="34" charset="-122"/>
                <a:cs typeface="Calibri" pitchFamily="34" charset="-120"/>
              </a:rPr>
              <a:t>routes, never calls</a:t>
            </a:r>
            <a:endParaRPr lang="en-US" sz="700" dirty="0"/>
          </a:p>
          <a:p>
            <a:pPr algn="ctr" indent="0" marL="0">
              <a:lnSpc>
                <a:spcPts val="860"/>
              </a:lnSpc>
              <a:buNone/>
            </a:pPr>
            <a:r>
              <a:rPr lang="en-US" sz="700" dirty="0">
                <a:solidFill>
                  <a:srgbClr val="A9BEDC"/>
                </a:solidFill>
                <a:latin typeface="Calibri" pitchFamily="34" charset="0"/>
                <a:ea typeface="Calibri" pitchFamily="34" charset="-122"/>
                <a:cs typeface="Calibri" pitchFamily="34" charset="-120"/>
              </a:rPr>
              <a:t>a supplier itself</a:t>
            </a:r>
            <a:endParaRPr lang="en-US" sz="700" dirty="0"/>
          </a:p>
        </p:txBody>
      </p:sp>
      <p:sp>
        <p:nvSpPr>
          <p:cNvPr id="13" name="Shape 11"/>
          <p:cNvSpPr/>
          <p:nvPr/>
        </p:nvSpPr>
        <p:spPr>
          <a:xfrm>
            <a:off x="3401568" y="1938528"/>
            <a:ext cx="146304" cy="146304"/>
          </a:xfrm>
          <a:prstGeom prst="rightArrow">
            <a:avLst/>
          </a:prstGeom>
          <a:solidFill>
            <a:srgbClr val="7B94BA"/>
          </a:solidFill>
          <a:ln w="12700">
            <a:solidFill>
              <a:srgbClr val="333333"/>
            </a:solidFill>
            <a:prstDash val="solid"/>
          </a:ln>
        </p:spPr>
        <p:txBody>
          <a:bodyPr/>
          <a:p/>
        </p:txBody>
      </p:sp>
      <p:sp>
        <p:nvSpPr>
          <p:cNvPr id="14" name="Shape 12"/>
          <p:cNvSpPr/>
          <p:nvPr/>
        </p:nvSpPr>
        <p:spPr>
          <a:xfrm>
            <a:off x="3621024" y="1170432"/>
            <a:ext cx="1755648" cy="310896"/>
          </a:xfrm>
          <a:prstGeom prst="roundRect">
            <a:avLst>
              <a:gd name="adj" fmla="val 11765"/>
            </a:avLst>
          </a:prstGeom>
          <a:solidFill>
            <a:srgbClr val="132C52"/>
          </a:solidFill>
          <a:ln w="9525">
            <a:solidFill>
              <a:srgbClr val="9B8CFF"/>
            </a:solidFill>
            <a:prstDash val="solid"/>
          </a:ln>
        </p:spPr>
        <p:txBody>
          <a:bodyPr/>
          <a:p/>
        </p:txBody>
      </p:sp>
      <p:sp>
        <p:nvSpPr>
          <p:cNvPr id="15" name="Text 13"/>
          <p:cNvSpPr/>
          <p:nvPr/>
        </p:nvSpPr>
        <p:spPr>
          <a:xfrm>
            <a:off x="3694176" y="1170432"/>
            <a:ext cx="1024128" cy="310896"/>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Weather agent</a:t>
            </a:r>
            <a:endParaRPr lang="en-US" sz="750" dirty="0"/>
          </a:p>
        </p:txBody>
      </p:sp>
      <p:sp>
        <p:nvSpPr>
          <p:cNvPr id="16" name="Text 14"/>
          <p:cNvSpPr/>
          <p:nvPr/>
        </p:nvSpPr>
        <p:spPr>
          <a:xfrm>
            <a:off x="4718304" y="1170432"/>
            <a:ext cx="585216" cy="310896"/>
          </a:xfrm>
          <a:prstGeom prst="rect">
            <a:avLst/>
          </a:prstGeom>
          <a:noFill/>
          <a:ln/>
        </p:spPr>
        <p:txBody>
          <a:bodyPr wrap="square" lIns="0" tIns="0" rIns="0" bIns="0" rtlCol="0" anchor="ctr"/>
          <a:lstStyle/>
          <a:p>
            <a:pPr algn="r" indent="0" marL="0">
              <a:buNone/>
            </a:pPr>
            <a:r>
              <a:rPr lang="en-US" sz="650" dirty="0">
                <a:solidFill>
                  <a:srgbClr val="A9BEDC"/>
                </a:solidFill>
                <a:latin typeface="Calibri" pitchFamily="34" charset="0"/>
                <a:ea typeface="Calibri" pitchFamily="34" charset="-122"/>
                <a:cs typeface="Calibri" pitchFamily="34" charset="-120"/>
              </a:rPr>
              <a:t>met + risk</a:t>
            </a:r>
            <a:endParaRPr lang="en-US" sz="650" dirty="0"/>
          </a:p>
        </p:txBody>
      </p:sp>
      <p:sp>
        <p:nvSpPr>
          <p:cNvPr id="17" name="Shape 15"/>
          <p:cNvSpPr/>
          <p:nvPr/>
        </p:nvSpPr>
        <p:spPr>
          <a:xfrm>
            <a:off x="3621024" y="1513332"/>
            <a:ext cx="1755648" cy="310896"/>
          </a:xfrm>
          <a:prstGeom prst="roundRect">
            <a:avLst>
              <a:gd name="adj" fmla="val 11765"/>
            </a:avLst>
          </a:prstGeom>
          <a:solidFill>
            <a:srgbClr val="132C52"/>
          </a:solidFill>
          <a:ln w="9525">
            <a:solidFill>
              <a:srgbClr val="9B8CFF"/>
            </a:solidFill>
            <a:prstDash val="solid"/>
          </a:ln>
        </p:spPr>
        <p:txBody>
          <a:bodyPr/>
          <a:p/>
        </p:txBody>
      </p:sp>
      <p:sp>
        <p:nvSpPr>
          <p:cNvPr id="18" name="Text 16"/>
          <p:cNvSpPr/>
          <p:nvPr/>
        </p:nvSpPr>
        <p:spPr>
          <a:xfrm>
            <a:off x="3694176" y="1513332"/>
            <a:ext cx="1024128" cy="310896"/>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Flight agent</a:t>
            </a:r>
            <a:endParaRPr lang="en-US" sz="750" dirty="0"/>
          </a:p>
        </p:txBody>
      </p:sp>
      <p:sp>
        <p:nvSpPr>
          <p:cNvPr id="19" name="Text 17"/>
          <p:cNvSpPr/>
          <p:nvPr/>
        </p:nvSpPr>
        <p:spPr>
          <a:xfrm>
            <a:off x="4718304" y="1513332"/>
            <a:ext cx="585216" cy="310896"/>
          </a:xfrm>
          <a:prstGeom prst="rect">
            <a:avLst/>
          </a:prstGeom>
          <a:noFill/>
          <a:ln/>
        </p:spPr>
        <p:txBody>
          <a:bodyPr wrap="square" lIns="0" tIns="0" rIns="0" bIns="0" rtlCol="0" anchor="ctr"/>
          <a:lstStyle/>
          <a:p>
            <a:pPr algn="r" indent="0" marL="0">
              <a:buNone/>
            </a:pPr>
            <a:r>
              <a:rPr lang="en-US" sz="650" dirty="0">
                <a:solidFill>
                  <a:srgbClr val="A9BEDC"/>
                </a:solidFill>
                <a:latin typeface="Calibri" pitchFamily="34" charset="0"/>
                <a:ea typeface="Calibri" pitchFamily="34" charset="-122"/>
                <a:cs typeface="Calibri" pitchFamily="34" charset="-120"/>
              </a:rPr>
              <a:t>reshop · hold · book</a:t>
            </a:r>
            <a:endParaRPr lang="en-US" sz="650" dirty="0"/>
          </a:p>
        </p:txBody>
      </p:sp>
      <p:sp>
        <p:nvSpPr>
          <p:cNvPr id="20" name="Shape 18"/>
          <p:cNvSpPr/>
          <p:nvPr/>
        </p:nvSpPr>
        <p:spPr>
          <a:xfrm>
            <a:off x="3621024" y="1856232"/>
            <a:ext cx="1755648" cy="310896"/>
          </a:xfrm>
          <a:prstGeom prst="roundRect">
            <a:avLst>
              <a:gd name="adj" fmla="val 11765"/>
            </a:avLst>
          </a:prstGeom>
          <a:solidFill>
            <a:srgbClr val="132C52"/>
          </a:solidFill>
          <a:ln w="9525">
            <a:solidFill>
              <a:srgbClr val="9B8CFF"/>
            </a:solidFill>
            <a:prstDash val="solid"/>
          </a:ln>
        </p:spPr>
        <p:txBody>
          <a:bodyPr/>
          <a:p/>
        </p:txBody>
      </p:sp>
      <p:sp>
        <p:nvSpPr>
          <p:cNvPr id="21" name="Text 19"/>
          <p:cNvSpPr/>
          <p:nvPr/>
        </p:nvSpPr>
        <p:spPr>
          <a:xfrm>
            <a:off x="3694176" y="1856232"/>
            <a:ext cx="1024128" cy="310896"/>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Hotel agent</a:t>
            </a:r>
            <a:endParaRPr lang="en-US" sz="750" dirty="0"/>
          </a:p>
        </p:txBody>
      </p:sp>
      <p:sp>
        <p:nvSpPr>
          <p:cNvPr id="22" name="Text 20"/>
          <p:cNvSpPr/>
          <p:nvPr/>
        </p:nvSpPr>
        <p:spPr>
          <a:xfrm>
            <a:off x="4718304" y="1856232"/>
            <a:ext cx="585216" cy="310896"/>
          </a:xfrm>
          <a:prstGeom prst="rect">
            <a:avLst/>
          </a:prstGeom>
          <a:noFill/>
          <a:ln/>
        </p:spPr>
        <p:txBody>
          <a:bodyPr wrap="square" lIns="0" tIns="0" rIns="0" bIns="0" rtlCol="0" anchor="ctr"/>
          <a:lstStyle/>
          <a:p>
            <a:pPr algn="r" indent="0" marL="0">
              <a:buNone/>
            </a:pPr>
            <a:r>
              <a:rPr lang="en-US" sz="650" dirty="0">
                <a:solidFill>
                  <a:srgbClr val="A9BEDC"/>
                </a:solidFill>
                <a:latin typeface="Calibri" pitchFamily="34" charset="0"/>
                <a:ea typeface="Calibri" pitchFamily="34" charset="-122"/>
                <a:cs typeface="Calibri" pitchFamily="34" charset="-120"/>
              </a:rPr>
              <a:t>re-accommodation</a:t>
            </a:r>
            <a:endParaRPr lang="en-US" sz="650" dirty="0"/>
          </a:p>
        </p:txBody>
      </p:sp>
      <p:sp>
        <p:nvSpPr>
          <p:cNvPr id="23" name="Shape 21"/>
          <p:cNvSpPr/>
          <p:nvPr/>
        </p:nvSpPr>
        <p:spPr>
          <a:xfrm>
            <a:off x="3621024" y="2199132"/>
            <a:ext cx="1755648" cy="310896"/>
          </a:xfrm>
          <a:prstGeom prst="roundRect">
            <a:avLst>
              <a:gd name="adj" fmla="val 11765"/>
            </a:avLst>
          </a:prstGeom>
          <a:solidFill>
            <a:srgbClr val="132C52"/>
          </a:solidFill>
          <a:ln w="9525">
            <a:solidFill>
              <a:srgbClr val="9B8CFF"/>
            </a:solidFill>
            <a:prstDash val="solid"/>
          </a:ln>
        </p:spPr>
        <p:txBody>
          <a:bodyPr/>
          <a:p/>
        </p:txBody>
      </p:sp>
      <p:sp>
        <p:nvSpPr>
          <p:cNvPr id="24" name="Text 22"/>
          <p:cNvSpPr/>
          <p:nvPr/>
        </p:nvSpPr>
        <p:spPr>
          <a:xfrm>
            <a:off x="3694176" y="2199132"/>
            <a:ext cx="1024128" cy="310896"/>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Ground agent</a:t>
            </a:r>
            <a:endParaRPr lang="en-US" sz="750" dirty="0"/>
          </a:p>
        </p:txBody>
      </p:sp>
      <p:sp>
        <p:nvSpPr>
          <p:cNvPr id="25" name="Text 23"/>
          <p:cNvSpPr/>
          <p:nvPr/>
        </p:nvSpPr>
        <p:spPr>
          <a:xfrm>
            <a:off x="4718304" y="2199132"/>
            <a:ext cx="585216" cy="310896"/>
          </a:xfrm>
          <a:prstGeom prst="rect">
            <a:avLst/>
          </a:prstGeom>
          <a:noFill/>
          <a:ln/>
        </p:spPr>
        <p:txBody>
          <a:bodyPr wrap="square" lIns="0" tIns="0" rIns="0" bIns="0" rtlCol="0" anchor="ctr"/>
          <a:lstStyle/>
          <a:p>
            <a:pPr algn="r" indent="0" marL="0">
              <a:buNone/>
            </a:pPr>
            <a:r>
              <a:rPr lang="en-US" sz="650" dirty="0">
                <a:solidFill>
                  <a:srgbClr val="A9BEDC"/>
                </a:solidFill>
                <a:latin typeface="Calibri" pitchFamily="34" charset="0"/>
                <a:ea typeface="Calibri" pitchFamily="34" charset="-122"/>
                <a:cs typeface="Calibri" pitchFamily="34" charset="-120"/>
              </a:rPr>
              <a:t>cab · transfer</a:t>
            </a:r>
            <a:endParaRPr lang="en-US" sz="650" dirty="0"/>
          </a:p>
        </p:txBody>
      </p:sp>
      <p:sp>
        <p:nvSpPr>
          <p:cNvPr id="26" name="Shape 24"/>
          <p:cNvSpPr/>
          <p:nvPr/>
        </p:nvSpPr>
        <p:spPr>
          <a:xfrm>
            <a:off x="3621024" y="2542032"/>
            <a:ext cx="1755648" cy="310896"/>
          </a:xfrm>
          <a:prstGeom prst="roundRect">
            <a:avLst>
              <a:gd name="adj" fmla="val 11765"/>
            </a:avLst>
          </a:prstGeom>
          <a:solidFill>
            <a:srgbClr val="132C52"/>
          </a:solidFill>
          <a:ln w="9525">
            <a:solidFill>
              <a:srgbClr val="9B8CFF"/>
            </a:solidFill>
            <a:prstDash val="solid"/>
          </a:ln>
        </p:spPr>
        <p:txBody>
          <a:bodyPr/>
          <a:p/>
        </p:txBody>
      </p:sp>
      <p:sp>
        <p:nvSpPr>
          <p:cNvPr id="27" name="Text 25"/>
          <p:cNvSpPr/>
          <p:nvPr/>
        </p:nvSpPr>
        <p:spPr>
          <a:xfrm>
            <a:off x="3694176" y="2542032"/>
            <a:ext cx="1024128" cy="310896"/>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Duty-of-care agent</a:t>
            </a:r>
            <a:endParaRPr lang="en-US" sz="750" dirty="0"/>
          </a:p>
        </p:txBody>
      </p:sp>
      <p:sp>
        <p:nvSpPr>
          <p:cNvPr id="28" name="Text 26"/>
          <p:cNvSpPr/>
          <p:nvPr/>
        </p:nvSpPr>
        <p:spPr>
          <a:xfrm>
            <a:off x="4718304" y="2542032"/>
            <a:ext cx="585216" cy="310896"/>
          </a:xfrm>
          <a:prstGeom prst="rect">
            <a:avLst/>
          </a:prstGeom>
          <a:noFill/>
          <a:ln/>
        </p:spPr>
        <p:txBody>
          <a:bodyPr wrap="square" lIns="0" tIns="0" rIns="0" bIns="0" rtlCol="0" anchor="ctr"/>
          <a:lstStyle/>
          <a:p>
            <a:pPr algn="r" indent="0" marL="0">
              <a:buNone/>
            </a:pPr>
            <a:r>
              <a:rPr lang="en-US" sz="650" dirty="0">
                <a:solidFill>
                  <a:srgbClr val="A9BEDC"/>
                </a:solidFill>
                <a:latin typeface="Calibri" pitchFamily="34" charset="0"/>
                <a:ea typeface="Calibri" pitchFamily="34" charset="-122"/>
                <a:cs typeface="Calibri" pitchFamily="34" charset="-120"/>
              </a:rPr>
              <a:t>DGCA entitlement</a:t>
            </a:r>
            <a:endParaRPr lang="en-US" sz="650" dirty="0"/>
          </a:p>
        </p:txBody>
      </p:sp>
      <p:sp>
        <p:nvSpPr>
          <p:cNvPr id="29" name="Shape 27"/>
          <p:cNvSpPr/>
          <p:nvPr/>
        </p:nvSpPr>
        <p:spPr>
          <a:xfrm>
            <a:off x="5449824" y="1938528"/>
            <a:ext cx="146304" cy="146304"/>
          </a:xfrm>
          <a:prstGeom prst="rightArrow">
            <a:avLst/>
          </a:prstGeom>
          <a:solidFill>
            <a:srgbClr val="7B94BA"/>
          </a:solidFill>
          <a:ln w="12700">
            <a:solidFill>
              <a:srgbClr val="333333"/>
            </a:solidFill>
            <a:prstDash val="solid"/>
          </a:ln>
        </p:spPr>
        <p:txBody>
          <a:bodyPr/>
          <a:p/>
        </p:txBody>
      </p:sp>
      <p:sp>
        <p:nvSpPr>
          <p:cNvPr id="30" name="Shape 28"/>
          <p:cNvSpPr/>
          <p:nvPr/>
        </p:nvSpPr>
        <p:spPr>
          <a:xfrm>
            <a:off x="5669280" y="1563624"/>
            <a:ext cx="1298448" cy="896112"/>
          </a:xfrm>
          <a:prstGeom prst="roundRect">
            <a:avLst>
              <a:gd name="adj" fmla="val 5102"/>
            </a:avLst>
          </a:prstGeom>
          <a:solidFill>
            <a:srgbClr val="1B3A69"/>
          </a:solidFill>
          <a:ln w="12700">
            <a:solidFill>
              <a:srgbClr val="FFB020"/>
            </a:solidFill>
            <a:prstDash val="solid"/>
          </a:ln>
        </p:spPr>
        <p:txBody>
          <a:bodyPr/>
          <a:p/>
        </p:txBody>
      </p:sp>
      <p:sp>
        <p:nvSpPr>
          <p:cNvPr id="31" name="Text 29"/>
          <p:cNvSpPr/>
          <p:nvPr/>
        </p:nvSpPr>
        <p:spPr>
          <a:xfrm>
            <a:off x="5724144" y="1609344"/>
            <a:ext cx="1188720" cy="219456"/>
          </a:xfrm>
          <a:prstGeom prst="rect">
            <a:avLst/>
          </a:prstGeom>
          <a:noFill/>
          <a:ln/>
        </p:spPr>
        <p:txBody>
          <a:bodyPr wrap="square" lIns="0" tIns="0" rIns="0" bIns="0" rtlCol="0" anchor="ctr"/>
          <a:lstStyle/>
          <a:p>
            <a:pPr algn="ctr" indent="0" marL="0">
              <a:buNone/>
            </a:pPr>
            <a:r>
              <a:rPr lang="en-US" sz="850" b="1" dirty="0">
                <a:solidFill>
                  <a:srgbClr val="FFB020"/>
                </a:solidFill>
                <a:latin typeface="Calibri" pitchFamily="34" charset="0"/>
                <a:ea typeface="Calibri" pitchFamily="34" charset="-122"/>
                <a:cs typeface="Calibri" pitchFamily="34" charset="-120"/>
              </a:rPr>
              <a:t>POLICY GATE</a:t>
            </a:r>
            <a:endParaRPr lang="en-US" sz="850" dirty="0"/>
          </a:p>
        </p:txBody>
      </p:sp>
      <p:sp>
        <p:nvSpPr>
          <p:cNvPr id="32" name="Text 30"/>
          <p:cNvSpPr/>
          <p:nvPr/>
        </p:nvSpPr>
        <p:spPr>
          <a:xfrm>
            <a:off x="5724144" y="1801368"/>
            <a:ext cx="1188720" cy="603504"/>
          </a:xfrm>
          <a:prstGeom prst="rect">
            <a:avLst/>
          </a:prstGeom>
          <a:noFill/>
          <a:ln/>
        </p:spPr>
        <p:txBody>
          <a:bodyPr wrap="square" lIns="0" tIns="0" rIns="0" bIns="0" rtlCol="0" anchor="ctr"/>
          <a:lstStyle/>
          <a:p>
            <a:pPr algn="ctr" indent="0" marL="0">
              <a:lnSpc>
                <a:spcPts val="860"/>
              </a:lnSpc>
              <a:buNone/>
            </a:pPr>
            <a:r>
              <a:rPr lang="en-US" sz="700" dirty="0">
                <a:solidFill>
                  <a:srgbClr val="A9BEDC"/>
                </a:solidFill>
                <a:latin typeface="Calibri" pitchFamily="34" charset="0"/>
                <a:ea typeface="Calibri" pitchFamily="34" charset="-122"/>
                <a:cs typeface="Calibri" pitchFamily="34" charset="-120"/>
              </a:rPr>
              <a:t>OPA / Rego</a:t>
            </a:r>
            <a:endParaRPr lang="en-US" sz="700" dirty="0"/>
          </a:p>
          <a:p>
            <a:pPr algn="ctr" indent="0" marL="0">
              <a:lnSpc>
                <a:spcPts val="860"/>
              </a:lnSpc>
              <a:buNone/>
            </a:pPr>
            <a:r>
              <a:rPr lang="en-US" sz="700" dirty="0">
                <a:solidFill>
                  <a:srgbClr val="A9BEDC"/>
                </a:solidFill>
                <a:latin typeface="Calibri" pitchFamily="34" charset="0"/>
                <a:ea typeface="Calibri" pitchFamily="34" charset="-122"/>
                <a:cs typeface="Calibri" pitchFamily="34" charset="-120"/>
              </a:rPr>
              <a:t>default deny</a:t>
            </a:r>
            <a:endParaRPr lang="en-US" sz="700" dirty="0"/>
          </a:p>
        </p:txBody>
      </p:sp>
      <p:sp>
        <p:nvSpPr>
          <p:cNvPr id="33" name="Shape 31"/>
          <p:cNvSpPr/>
          <p:nvPr/>
        </p:nvSpPr>
        <p:spPr>
          <a:xfrm>
            <a:off x="7040880" y="1938528"/>
            <a:ext cx="146304" cy="146304"/>
          </a:xfrm>
          <a:prstGeom prst="rightArrow">
            <a:avLst/>
          </a:prstGeom>
          <a:solidFill>
            <a:srgbClr val="7B94BA"/>
          </a:solidFill>
          <a:ln w="12700">
            <a:solidFill>
              <a:srgbClr val="333333"/>
            </a:solidFill>
            <a:prstDash val="solid"/>
          </a:ln>
        </p:spPr>
        <p:txBody>
          <a:bodyPr/>
          <a:p/>
        </p:txBody>
      </p:sp>
      <p:sp>
        <p:nvSpPr>
          <p:cNvPr id="34" name="Shape 32"/>
          <p:cNvSpPr/>
          <p:nvPr/>
        </p:nvSpPr>
        <p:spPr>
          <a:xfrm>
            <a:off x="7260336" y="1563624"/>
            <a:ext cx="1298448" cy="896112"/>
          </a:xfrm>
          <a:prstGeom prst="roundRect">
            <a:avLst>
              <a:gd name="adj" fmla="val 5102"/>
            </a:avLst>
          </a:prstGeom>
          <a:solidFill>
            <a:srgbClr val="1B3A69"/>
          </a:solidFill>
          <a:ln w="12700">
            <a:solidFill>
              <a:srgbClr val="2ECC9A"/>
            </a:solidFill>
            <a:prstDash val="solid"/>
          </a:ln>
        </p:spPr>
        <p:txBody>
          <a:bodyPr/>
          <a:p/>
        </p:txBody>
      </p:sp>
      <p:sp>
        <p:nvSpPr>
          <p:cNvPr id="35" name="Text 33"/>
          <p:cNvSpPr/>
          <p:nvPr/>
        </p:nvSpPr>
        <p:spPr>
          <a:xfrm>
            <a:off x="7315200" y="1609344"/>
            <a:ext cx="1188720" cy="219456"/>
          </a:xfrm>
          <a:prstGeom prst="rect">
            <a:avLst/>
          </a:prstGeom>
          <a:noFill/>
          <a:ln/>
        </p:spPr>
        <p:txBody>
          <a:bodyPr wrap="square" lIns="0" tIns="0" rIns="0" bIns="0" rtlCol="0" anchor="ctr"/>
          <a:lstStyle/>
          <a:p>
            <a:pPr algn="ctr" indent="0" marL="0">
              <a:buNone/>
            </a:pPr>
            <a:r>
              <a:rPr lang="en-US" sz="850" b="1" dirty="0">
                <a:solidFill>
                  <a:srgbClr val="2ECC9A"/>
                </a:solidFill>
                <a:latin typeface="Calibri" pitchFamily="34" charset="0"/>
                <a:ea typeface="Calibri" pitchFamily="34" charset="-122"/>
                <a:cs typeface="Calibri" pitchFamily="34" charset="-120"/>
              </a:rPr>
              <a:t>CONSENT GATE</a:t>
            </a:r>
            <a:endParaRPr lang="en-US" sz="850" dirty="0"/>
          </a:p>
        </p:txBody>
      </p:sp>
      <p:sp>
        <p:nvSpPr>
          <p:cNvPr id="36" name="Text 34"/>
          <p:cNvSpPr/>
          <p:nvPr/>
        </p:nvSpPr>
        <p:spPr>
          <a:xfrm>
            <a:off x="7315200" y="1801368"/>
            <a:ext cx="1188720" cy="603504"/>
          </a:xfrm>
          <a:prstGeom prst="rect">
            <a:avLst/>
          </a:prstGeom>
          <a:noFill/>
          <a:ln/>
        </p:spPr>
        <p:txBody>
          <a:bodyPr wrap="square" lIns="0" tIns="0" rIns="0" bIns="0" rtlCol="0" anchor="ctr"/>
          <a:lstStyle/>
          <a:p>
            <a:pPr algn="ctr" indent="0" marL="0">
              <a:lnSpc>
                <a:spcPts val="860"/>
              </a:lnSpc>
              <a:buNone/>
            </a:pPr>
            <a:r>
              <a:rPr lang="en-US" sz="700" dirty="0">
                <a:solidFill>
                  <a:srgbClr val="A9BEDC"/>
                </a:solidFill>
                <a:latin typeface="Calibri" pitchFamily="34" charset="0"/>
                <a:ea typeface="Calibri" pitchFamily="34" charset="-122"/>
                <a:cs typeface="Calibri" pitchFamily="34" charset="-120"/>
              </a:rPr>
              <a:t>standing permission</a:t>
            </a:r>
            <a:endParaRPr lang="en-US" sz="700" dirty="0"/>
          </a:p>
          <a:p>
            <a:pPr algn="ctr" indent="0" marL="0">
              <a:lnSpc>
                <a:spcPts val="860"/>
              </a:lnSpc>
              <a:buNone/>
            </a:pPr>
            <a:r>
              <a:rPr lang="en-US" sz="700" dirty="0">
                <a:solidFill>
                  <a:srgbClr val="A9BEDC"/>
                </a:solidFill>
                <a:latin typeface="Calibri" pitchFamily="34" charset="0"/>
                <a:ea typeface="Calibri" pitchFamily="34" charset="-122"/>
                <a:cs typeface="Calibri" pitchFamily="34" charset="-120"/>
              </a:rPr>
              <a:t>+ pre-authorisation</a:t>
            </a:r>
            <a:endParaRPr lang="en-US" sz="700" dirty="0"/>
          </a:p>
        </p:txBody>
      </p:sp>
      <p:sp>
        <p:nvSpPr>
          <p:cNvPr id="37" name="Shape 35"/>
          <p:cNvSpPr/>
          <p:nvPr/>
        </p:nvSpPr>
        <p:spPr>
          <a:xfrm>
            <a:off x="8631936" y="1938528"/>
            <a:ext cx="146304" cy="146304"/>
          </a:xfrm>
          <a:prstGeom prst="rightArrow">
            <a:avLst/>
          </a:prstGeom>
          <a:solidFill>
            <a:srgbClr val="7B94BA"/>
          </a:solidFill>
          <a:ln w="12700">
            <a:solidFill>
              <a:srgbClr val="333333"/>
            </a:solidFill>
            <a:prstDash val="solid"/>
          </a:ln>
        </p:spPr>
        <p:txBody>
          <a:bodyPr/>
          <a:p/>
        </p:txBody>
      </p:sp>
      <p:sp>
        <p:nvSpPr>
          <p:cNvPr id="38" name="Shape 36"/>
          <p:cNvSpPr/>
          <p:nvPr/>
        </p:nvSpPr>
        <p:spPr>
          <a:xfrm>
            <a:off x="8851392" y="1344168"/>
            <a:ext cx="1371600" cy="566928"/>
          </a:xfrm>
          <a:prstGeom prst="roundRect">
            <a:avLst>
              <a:gd name="adj" fmla="val 8065"/>
            </a:avLst>
          </a:prstGeom>
          <a:solidFill>
            <a:srgbClr val="132C52"/>
          </a:solidFill>
          <a:ln w="12700">
            <a:solidFill>
              <a:srgbClr val="3D9CFF"/>
            </a:solidFill>
            <a:prstDash val="solid"/>
          </a:ln>
        </p:spPr>
        <p:txBody>
          <a:bodyPr/>
          <a:p/>
        </p:txBody>
      </p:sp>
      <p:sp>
        <p:nvSpPr>
          <p:cNvPr id="39" name="Text 37"/>
          <p:cNvSpPr/>
          <p:nvPr/>
        </p:nvSpPr>
        <p:spPr>
          <a:xfrm>
            <a:off x="8906256" y="1389888"/>
            <a:ext cx="1261872" cy="219456"/>
          </a:xfrm>
          <a:prstGeom prst="rect">
            <a:avLst/>
          </a:prstGeom>
          <a:noFill/>
          <a:ln/>
        </p:spPr>
        <p:txBody>
          <a:bodyPr wrap="square" lIns="0" tIns="0" rIns="0" bIns="0" rtlCol="0" anchor="ctr"/>
          <a:lstStyle/>
          <a:p>
            <a:pPr algn="ctr" indent="0" marL="0">
              <a:buNone/>
            </a:pPr>
            <a:r>
              <a:rPr lang="en-US" sz="850" b="1" dirty="0">
                <a:solidFill>
                  <a:srgbClr val="3D9CFF"/>
                </a:solidFill>
                <a:latin typeface="Calibri" pitchFamily="34" charset="0"/>
                <a:ea typeface="Calibri" pitchFamily="34" charset="-122"/>
                <a:cs typeface="Calibri" pitchFamily="34" charset="-120"/>
              </a:rPr>
              <a:t>EXECUTOR</a:t>
            </a:r>
            <a:endParaRPr lang="en-US" sz="850" dirty="0"/>
          </a:p>
        </p:txBody>
      </p:sp>
      <p:sp>
        <p:nvSpPr>
          <p:cNvPr id="40" name="Text 38"/>
          <p:cNvSpPr/>
          <p:nvPr/>
        </p:nvSpPr>
        <p:spPr>
          <a:xfrm>
            <a:off x="8906256" y="1581912"/>
            <a:ext cx="1261872" cy="274320"/>
          </a:xfrm>
          <a:prstGeom prst="rect">
            <a:avLst/>
          </a:prstGeom>
          <a:noFill/>
          <a:ln/>
        </p:spPr>
        <p:txBody>
          <a:bodyPr wrap="square" lIns="0" tIns="0" rIns="0" bIns="0" rtlCol="0" anchor="ctr"/>
          <a:lstStyle/>
          <a:p>
            <a:pPr algn="ctr" indent="0" marL="0">
              <a:lnSpc>
                <a:spcPts val="860"/>
              </a:lnSpc>
              <a:buNone/>
            </a:pPr>
            <a:r>
              <a:rPr lang="en-US" sz="700" dirty="0">
                <a:solidFill>
                  <a:srgbClr val="A9BEDC"/>
                </a:solidFill>
                <a:latin typeface="Calibri" pitchFamily="34" charset="0"/>
                <a:ea typeface="Calibri" pitchFamily="34" charset="-122"/>
                <a:cs typeface="Calibri" pitchFamily="34" charset="-120"/>
              </a:rPr>
              <a:t>Temporal saga</a:t>
            </a:r>
            <a:endParaRPr lang="en-US" sz="700" dirty="0"/>
          </a:p>
        </p:txBody>
      </p:sp>
      <p:sp>
        <p:nvSpPr>
          <p:cNvPr id="41" name="Shape 39"/>
          <p:cNvSpPr/>
          <p:nvPr/>
        </p:nvSpPr>
        <p:spPr>
          <a:xfrm>
            <a:off x="8851392" y="2002536"/>
            <a:ext cx="1371600" cy="457200"/>
          </a:xfrm>
          <a:prstGeom prst="roundRect">
            <a:avLst>
              <a:gd name="adj" fmla="val 10000"/>
            </a:avLst>
          </a:prstGeom>
          <a:solidFill>
            <a:srgbClr val="132C52"/>
          </a:solidFill>
          <a:ln w="12700">
            <a:solidFill>
              <a:srgbClr val="FF6B6B"/>
            </a:solidFill>
            <a:prstDash val="solid"/>
          </a:ln>
        </p:spPr>
        <p:txBody>
          <a:bodyPr/>
          <a:p/>
        </p:txBody>
      </p:sp>
      <p:sp>
        <p:nvSpPr>
          <p:cNvPr id="42" name="Text 40"/>
          <p:cNvSpPr/>
          <p:nvPr/>
        </p:nvSpPr>
        <p:spPr>
          <a:xfrm>
            <a:off x="8906256" y="2048256"/>
            <a:ext cx="1261872" cy="219456"/>
          </a:xfrm>
          <a:prstGeom prst="rect">
            <a:avLst/>
          </a:prstGeom>
          <a:noFill/>
          <a:ln/>
        </p:spPr>
        <p:txBody>
          <a:bodyPr wrap="square" lIns="0" tIns="0" rIns="0" bIns="0" rtlCol="0" anchor="ctr"/>
          <a:lstStyle/>
          <a:p>
            <a:pPr algn="ctr" indent="0" marL="0">
              <a:buNone/>
            </a:pPr>
            <a:r>
              <a:rPr lang="en-US" sz="850" b="1" dirty="0">
                <a:solidFill>
                  <a:srgbClr val="FF6B6B"/>
                </a:solidFill>
                <a:latin typeface="Calibri" pitchFamily="34" charset="0"/>
                <a:ea typeface="Calibri" pitchFamily="34" charset="-122"/>
                <a:cs typeface="Calibri" pitchFamily="34" charset="-120"/>
              </a:rPr>
              <a:t>ESCALATE</a:t>
            </a:r>
            <a:endParaRPr lang="en-US" sz="850" dirty="0"/>
          </a:p>
        </p:txBody>
      </p:sp>
      <p:sp>
        <p:nvSpPr>
          <p:cNvPr id="43" name="Text 41"/>
          <p:cNvSpPr/>
          <p:nvPr/>
        </p:nvSpPr>
        <p:spPr>
          <a:xfrm>
            <a:off x="8906256" y="2240280"/>
            <a:ext cx="1261872" cy="164592"/>
          </a:xfrm>
          <a:prstGeom prst="rect">
            <a:avLst/>
          </a:prstGeom>
          <a:noFill/>
          <a:ln/>
        </p:spPr>
        <p:txBody>
          <a:bodyPr wrap="square" lIns="0" tIns="0" rIns="0" bIns="0" rtlCol="0" anchor="ctr"/>
          <a:lstStyle/>
          <a:p>
            <a:pPr algn="ctr" indent="0" marL="0">
              <a:lnSpc>
                <a:spcPts val="860"/>
              </a:lnSpc>
              <a:buNone/>
            </a:pPr>
            <a:r>
              <a:rPr lang="en-US" sz="700" dirty="0">
                <a:solidFill>
                  <a:srgbClr val="A9BEDC"/>
                </a:solidFill>
                <a:latin typeface="Calibri" pitchFamily="34" charset="0"/>
                <a:ea typeface="Calibri" pitchFamily="34" charset="-122"/>
                <a:cs typeface="Calibri" pitchFamily="34" charset="-120"/>
              </a:rPr>
              <a:t>human handoff</a:t>
            </a:r>
            <a:endParaRPr lang="en-US" sz="700" dirty="0"/>
          </a:p>
        </p:txBody>
      </p:sp>
      <p:sp>
        <p:nvSpPr>
          <p:cNvPr id="44" name="Shape 42"/>
          <p:cNvSpPr/>
          <p:nvPr/>
        </p:nvSpPr>
        <p:spPr>
          <a:xfrm>
            <a:off x="10296144" y="1938528"/>
            <a:ext cx="146304" cy="146304"/>
          </a:xfrm>
          <a:prstGeom prst="rightArrow">
            <a:avLst/>
          </a:prstGeom>
          <a:solidFill>
            <a:srgbClr val="7B94BA"/>
          </a:solidFill>
          <a:ln w="12700">
            <a:solidFill>
              <a:srgbClr val="333333"/>
            </a:solidFill>
            <a:prstDash val="solid"/>
          </a:ln>
        </p:spPr>
        <p:txBody>
          <a:bodyPr/>
          <a:p/>
        </p:txBody>
      </p:sp>
      <p:sp>
        <p:nvSpPr>
          <p:cNvPr id="45" name="Shape 43"/>
          <p:cNvSpPr/>
          <p:nvPr/>
        </p:nvSpPr>
        <p:spPr>
          <a:xfrm>
            <a:off x="10515600" y="1563624"/>
            <a:ext cx="1216152" cy="896112"/>
          </a:xfrm>
          <a:prstGeom prst="roundRect">
            <a:avLst>
              <a:gd name="adj" fmla="val 5102"/>
            </a:avLst>
          </a:prstGeom>
          <a:solidFill>
            <a:srgbClr val="132C52"/>
          </a:solidFill>
          <a:ln w="12700">
            <a:solidFill>
              <a:srgbClr val="2ECC9A"/>
            </a:solidFill>
            <a:prstDash val="solid"/>
          </a:ln>
        </p:spPr>
        <p:txBody>
          <a:bodyPr/>
          <a:p/>
        </p:txBody>
      </p:sp>
      <p:sp>
        <p:nvSpPr>
          <p:cNvPr id="46" name="Text 44"/>
          <p:cNvSpPr/>
          <p:nvPr/>
        </p:nvSpPr>
        <p:spPr>
          <a:xfrm>
            <a:off x="10570464" y="1609344"/>
            <a:ext cx="1106424" cy="219456"/>
          </a:xfrm>
          <a:prstGeom prst="rect">
            <a:avLst/>
          </a:prstGeom>
          <a:noFill/>
          <a:ln/>
        </p:spPr>
        <p:txBody>
          <a:bodyPr wrap="square" lIns="0" tIns="0" rIns="0" bIns="0" rtlCol="0" anchor="ctr"/>
          <a:lstStyle/>
          <a:p>
            <a:pPr algn="ctr" indent="0" marL="0">
              <a:buNone/>
            </a:pPr>
            <a:r>
              <a:rPr lang="en-US" sz="850" b="1" dirty="0">
                <a:solidFill>
                  <a:srgbClr val="2ECC9A"/>
                </a:solidFill>
                <a:latin typeface="Calibri" pitchFamily="34" charset="0"/>
                <a:ea typeface="Calibri" pitchFamily="34" charset="-122"/>
                <a:cs typeface="Calibri" pitchFamily="34" charset="-120"/>
              </a:rPr>
              <a:t>SANDBOXES</a:t>
            </a:r>
            <a:endParaRPr lang="en-US" sz="850" dirty="0"/>
          </a:p>
        </p:txBody>
      </p:sp>
      <p:sp>
        <p:nvSpPr>
          <p:cNvPr id="47" name="Text 45"/>
          <p:cNvSpPr/>
          <p:nvPr/>
        </p:nvSpPr>
        <p:spPr>
          <a:xfrm>
            <a:off x="10570464" y="1801368"/>
            <a:ext cx="1106424" cy="603504"/>
          </a:xfrm>
          <a:prstGeom prst="rect">
            <a:avLst/>
          </a:prstGeom>
          <a:noFill/>
          <a:ln/>
        </p:spPr>
        <p:txBody>
          <a:bodyPr wrap="square" lIns="0" tIns="0" rIns="0" bIns="0" rtlCol="0" anchor="ctr"/>
          <a:lstStyle/>
          <a:p>
            <a:pPr algn="ctr" indent="0" marL="0">
              <a:lnSpc>
                <a:spcPts val="860"/>
              </a:lnSpc>
              <a:buNone/>
            </a:pPr>
            <a:r>
              <a:rPr lang="en-US" sz="700" dirty="0">
                <a:solidFill>
                  <a:srgbClr val="A9BEDC"/>
                </a:solidFill>
                <a:latin typeface="Calibri" pitchFamily="34" charset="0"/>
                <a:ea typeface="Calibri" pitchFamily="34" charset="-122"/>
                <a:cs typeface="Calibri" pitchFamily="34" charset="-120"/>
              </a:rPr>
              <a:t>Duffel · LiteAPI</a:t>
            </a:r>
            <a:endParaRPr lang="en-US" sz="700" dirty="0"/>
          </a:p>
          <a:p>
            <a:pPr algn="ctr" indent="0" marL="0">
              <a:lnSpc>
                <a:spcPts val="860"/>
              </a:lnSpc>
              <a:buNone/>
            </a:pPr>
            <a:r>
              <a:rPr lang="en-US" sz="700" dirty="0">
                <a:solidFill>
                  <a:srgbClr val="A9BEDC"/>
                </a:solidFill>
                <a:latin typeface="Calibri" pitchFamily="34" charset="0"/>
                <a:ea typeface="Calibri" pitchFamily="34" charset="-122"/>
                <a:cs typeface="Calibri" pitchFamily="34" charset="-120"/>
              </a:rPr>
              <a:t>FCM · free tiers</a:t>
            </a:r>
            <a:endParaRPr lang="en-US" sz="700" dirty="0"/>
          </a:p>
        </p:txBody>
      </p:sp>
      <p:sp>
        <p:nvSpPr>
          <p:cNvPr id="48" name="Text 46"/>
          <p:cNvSpPr/>
          <p:nvPr/>
        </p:nvSpPr>
        <p:spPr>
          <a:xfrm>
            <a:off x="457200" y="2944368"/>
            <a:ext cx="11274552" cy="237744"/>
          </a:xfrm>
          <a:prstGeom prst="rect">
            <a:avLst/>
          </a:prstGeom>
          <a:noFill/>
          <a:ln/>
        </p:spPr>
        <p:txBody>
          <a:bodyPr wrap="square" lIns="0" tIns="0" rIns="0" bIns="0" rtlCol="0" anchor="ctr"/>
          <a:lstStyle/>
          <a:p>
            <a:pPr algn="ctr" indent="0" marL="0">
              <a:buNone/>
            </a:pPr>
            <a:r>
              <a:rPr lang="en-US" sz="850" dirty="0">
                <a:solidFill>
                  <a:srgbClr val="7B94BA"/>
                </a:solidFill>
                <a:latin typeface="Courier New" pitchFamily="34" charset="0"/>
                <a:ea typeface="Courier New" pitchFamily="34" charset="-122"/>
                <a:cs typeface="Courier New" pitchFamily="34" charset="-120"/>
              </a:rPr>
              <a:t>TripState { disruption · pnr · consent · pre_auth? · candidates[] · policy_decisions[] · rejected_offer_ids[] · holds[] · confirmed[] · escalation? }</a:t>
            </a:r>
            <a:endParaRPr lang="en-US" sz="850" dirty="0"/>
          </a:p>
        </p:txBody>
      </p:sp>
      <p:sp>
        <p:nvSpPr>
          <p:cNvPr id="49" name="Shape 47"/>
          <p:cNvSpPr/>
          <p:nvPr/>
        </p:nvSpPr>
        <p:spPr>
          <a:xfrm>
            <a:off x="457200" y="3255264"/>
            <a:ext cx="3630168" cy="1316736"/>
          </a:xfrm>
          <a:prstGeom prst="roundRect">
            <a:avLst>
              <a:gd name="adj" fmla="val 416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pic>
        <p:nvPicPr>
          <p:cNvPr id="50" name="Image 0" descr="preencoded.png">    </p:cNvPr>
          <p:cNvPicPr>
            <a:picLocks noChangeAspect="1"/>
          </p:cNvPicPr>
          <p:nvPr/>
        </p:nvPicPr>
        <p:blipFill>
          <a:blip r:embed="rId1"/>
          <a:stretch>
            <a:fillRect/>
          </a:stretch>
        </p:blipFill>
        <p:spPr>
          <a:xfrm>
            <a:off x="640080" y="3364992"/>
            <a:ext cx="219456" cy="219456"/>
          </a:xfrm>
          <a:prstGeom prst="rect">
            <a:avLst/>
          </a:prstGeom>
        </p:spPr>
      </p:pic>
      <p:sp>
        <p:nvSpPr>
          <p:cNvPr id="51" name="Text 48"/>
          <p:cNvSpPr/>
          <p:nvPr/>
        </p:nvSpPr>
        <p:spPr>
          <a:xfrm>
            <a:off x="932688" y="3346704"/>
            <a:ext cx="3017520" cy="237744"/>
          </a:xfrm>
          <a:prstGeom prst="rect">
            <a:avLst/>
          </a:prstGeom>
          <a:noFill/>
          <a:ln/>
        </p:spPr>
        <p:txBody>
          <a:bodyPr wrap="square" lIns="0" tIns="0" rIns="0" bIns="0" rtlCol="0" anchor="ctr"/>
          <a:lstStyle/>
          <a:p>
            <a:pPr indent="0" marL="0">
              <a:buNone/>
            </a:pPr>
            <a:r>
              <a:rPr lang="en-US" sz="1050" b="1" spc="80" kern="0" dirty="0">
                <a:solidFill>
                  <a:srgbClr val="2ECC9A"/>
                </a:solidFill>
                <a:latin typeface="Calibri" pitchFamily="34" charset="0"/>
                <a:ea typeface="Calibri" pitchFamily="34" charset="-122"/>
                <a:cs typeface="Calibri" pitchFamily="34" charset="-120"/>
              </a:rPr>
              <a:t>1  ·  AUTOPILOT</a:t>
            </a:r>
            <a:endParaRPr lang="en-US" sz="1050" dirty="0"/>
          </a:p>
        </p:txBody>
      </p:sp>
      <p:sp>
        <p:nvSpPr>
          <p:cNvPr id="52" name="Text 49"/>
          <p:cNvSpPr/>
          <p:nvPr/>
        </p:nvSpPr>
        <p:spPr>
          <a:xfrm>
            <a:off x="640080" y="3639312"/>
            <a:ext cx="3291840" cy="566928"/>
          </a:xfrm>
          <a:prstGeom prst="rect">
            <a:avLst/>
          </a:prstGeom>
          <a:noFill/>
          <a:ln/>
        </p:spPr>
        <p:txBody>
          <a:bodyPr wrap="square" lIns="0" tIns="0" rIns="0" bIns="0" rtlCol="0" anchor="ctr"/>
          <a:lstStyle/>
          <a:p>
            <a:pPr indent="0" marL="0">
              <a:lnSpc>
                <a:spcPts val="1100"/>
              </a:lnSpc>
              <a:buNone/>
            </a:pPr>
            <a:r>
              <a:rPr lang="en-US" sz="880" dirty="0">
                <a:solidFill>
                  <a:srgbClr val="A9BEDC"/>
                </a:solidFill>
                <a:latin typeface="Calibri" pitchFamily="34" charset="0"/>
                <a:ea typeface="Calibri" pitchFamily="34" charset="-122"/>
                <a:cs typeface="Calibri" pitchFamily="34" charset="-120"/>
              </a:rPr>
              <a:t>Fix it and tell me after. Captured once, when the card is activated — not a toggle buried in settings.</a:t>
            </a:r>
            <a:endParaRPr lang="en-US" sz="880" dirty="0"/>
          </a:p>
        </p:txBody>
      </p:sp>
      <p:sp>
        <p:nvSpPr>
          <p:cNvPr id="53" name="Text 50"/>
          <p:cNvSpPr/>
          <p:nvPr/>
        </p:nvSpPr>
        <p:spPr>
          <a:xfrm>
            <a:off x="640080" y="4242816"/>
            <a:ext cx="3291840" cy="256032"/>
          </a:xfrm>
          <a:prstGeom prst="rect">
            <a:avLst/>
          </a:prstGeom>
          <a:noFill/>
          <a:ln/>
        </p:spPr>
        <p:txBody>
          <a:bodyPr wrap="square" lIns="0" tIns="0" rIns="0" bIns="0" rtlCol="0" anchor="ctr"/>
          <a:lstStyle/>
          <a:p>
            <a:pPr indent="0" marL="0">
              <a:lnSpc>
                <a:spcPts val="980"/>
              </a:lnSpc>
              <a:buNone/>
            </a:pPr>
            <a:r>
              <a:rPr lang="en-US" sz="800" i="1" dirty="0">
                <a:solidFill>
                  <a:srgbClr val="2ECC9A"/>
                </a:solidFill>
                <a:latin typeface="Calibri" pitchFamily="34" charset="0"/>
                <a:ea typeface="Calibri" pitchFamily="34" charset="-122"/>
                <a:cs typeface="Calibri" pitchFamily="34" charset="-120"/>
              </a:rPr>
              <a:t>Quiet window: notify → 90 s → proceed if silent.</a:t>
            </a:r>
            <a:endParaRPr lang="en-US" sz="800" dirty="0"/>
          </a:p>
        </p:txBody>
      </p:sp>
      <p:sp>
        <p:nvSpPr>
          <p:cNvPr id="54" name="Shape 51"/>
          <p:cNvSpPr/>
          <p:nvPr/>
        </p:nvSpPr>
        <p:spPr>
          <a:xfrm>
            <a:off x="4251960" y="3255264"/>
            <a:ext cx="3630168" cy="1316736"/>
          </a:xfrm>
          <a:prstGeom prst="roundRect">
            <a:avLst>
              <a:gd name="adj" fmla="val 416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pic>
        <p:nvPicPr>
          <p:cNvPr id="55" name="Image 1" descr="preencoded.png">    </p:cNvPr>
          <p:cNvPicPr>
            <a:picLocks noChangeAspect="1"/>
          </p:cNvPicPr>
          <p:nvPr/>
        </p:nvPicPr>
        <p:blipFill>
          <a:blip r:embed="rId2"/>
          <a:stretch>
            <a:fillRect/>
          </a:stretch>
        </p:blipFill>
        <p:spPr>
          <a:xfrm>
            <a:off x="4434840" y="3364992"/>
            <a:ext cx="219456" cy="219456"/>
          </a:xfrm>
          <a:prstGeom prst="rect">
            <a:avLst/>
          </a:prstGeom>
        </p:spPr>
      </p:pic>
      <p:sp>
        <p:nvSpPr>
          <p:cNvPr id="56" name="Text 52"/>
          <p:cNvSpPr/>
          <p:nvPr/>
        </p:nvSpPr>
        <p:spPr>
          <a:xfrm>
            <a:off x="4727448" y="3346704"/>
            <a:ext cx="3017520" cy="237744"/>
          </a:xfrm>
          <a:prstGeom prst="rect">
            <a:avLst/>
          </a:prstGeom>
          <a:noFill/>
          <a:ln/>
        </p:spPr>
        <p:txBody>
          <a:bodyPr wrap="square" lIns="0" tIns="0" rIns="0" bIns="0" rtlCol="0" anchor="ctr"/>
          <a:lstStyle/>
          <a:p>
            <a:pPr indent="0" marL="0">
              <a:buNone/>
            </a:pPr>
            <a:r>
              <a:rPr lang="en-US" sz="1050" b="1" spc="80" kern="0" dirty="0">
                <a:solidFill>
                  <a:srgbClr val="FFB020"/>
                </a:solidFill>
                <a:latin typeface="Calibri" pitchFamily="34" charset="0"/>
                <a:ea typeface="Calibri" pitchFamily="34" charset="-122"/>
                <a:cs typeface="Calibri" pitchFamily="34" charset="-120"/>
              </a:rPr>
              <a:t>2  ·  ASK ME FIRST</a:t>
            </a:r>
            <a:endParaRPr lang="en-US" sz="1050" dirty="0"/>
          </a:p>
        </p:txBody>
      </p:sp>
      <p:sp>
        <p:nvSpPr>
          <p:cNvPr id="57" name="Text 53"/>
          <p:cNvSpPr/>
          <p:nvPr/>
        </p:nvSpPr>
        <p:spPr>
          <a:xfrm>
            <a:off x="4434840" y="3639312"/>
            <a:ext cx="3291840" cy="566928"/>
          </a:xfrm>
          <a:prstGeom prst="rect">
            <a:avLst/>
          </a:prstGeom>
          <a:noFill/>
          <a:ln/>
        </p:spPr>
        <p:txBody>
          <a:bodyPr wrap="square" lIns="0" tIns="0" rIns="0" bIns="0" rtlCol="0" anchor="ctr"/>
          <a:lstStyle/>
          <a:p>
            <a:pPr indent="0" marL="0">
              <a:lnSpc>
                <a:spcPts val="1100"/>
              </a:lnSpc>
              <a:buNone/>
            </a:pPr>
            <a:r>
              <a:rPr lang="en-US" sz="880" dirty="0">
                <a:solidFill>
                  <a:srgbClr val="A9BEDC"/>
                </a:solidFill>
                <a:latin typeface="Calibri" pitchFamily="34" charset="0"/>
                <a:ea typeface="Calibri" pitchFamily="34" charset="-122"/>
                <a:cs typeface="Calibri" pitchFamily="34" charset="-120"/>
              </a:rPr>
              <a:t>Plans, holds and presents — then waits. But consent gates SPENDING, not care: if the recovery costs nothing, silence books it rather than strand you.</a:t>
            </a:r>
            <a:endParaRPr lang="en-US" sz="880" dirty="0"/>
          </a:p>
        </p:txBody>
      </p:sp>
      <p:sp>
        <p:nvSpPr>
          <p:cNvPr id="58" name="Text 54"/>
          <p:cNvSpPr/>
          <p:nvPr/>
        </p:nvSpPr>
        <p:spPr>
          <a:xfrm>
            <a:off x="4434840" y="4242816"/>
            <a:ext cx="3291840" cy="256032"/>
          </a:xfrm>
          <a:prstGeom prst="rect">
            <a:avLst/>
          </a:prstGeom>
          <a:noFill/>
          <a:ln/>
        </p:spPr>
        <p:txBody>
          <a:bodyPr wrap="square" lIns="0" tIns="0" rIns="0" bIns="0" rtlCol="0" anchor="ctr"/>
          <a:lstStyle/>
          <a:p>
            <a:pPr indent="0" marL="0">
              <a:lnSpc>
                <a:spcPts val="980"/>
              </a:lnSpc>
              <a:buNone/>
            </a:pPr>
            <a:r>
              <a:rPr lang="en-US" sz="800" i="1" dirty="0">
                <a:solidFill>
                  <a:srgbClr val="FFB020"/>
                </a:solidFill>
                <a:latin typeface="Calibri" pitchFamily="34" charset="0"/>
                <a:ea typeface="Calibri" pitchFamily="34" charset="-122"/>
                <a:cs typeface="Calibri" pitchFamily="34" charset="-120"/>
              </a:rPr>
              <a:t>Costs money and no answer? We stop and hold.</a:t>
            </a:r>
            <a:endParaRPr lang="en-US" sz="800" dirty="0"/>
          </a:p>
        </p:txBody>
      </p:sp>
      <p:sp>
        <p:nvSpPr>
          <p:cNvPr id="59" name="Shape 55"/>
          <p:cNvSpPr/>
          <p:nvPr/>
        </p:nvSpPr>
        <p:spPr>
          <a:xfrm>
            <a:off x="8046720" y="3255264"/>
            <a:ext cx="3630168" cy="1316736"/>
          </a:xfrm>
          <a:prstGeom prst="roundRect">
            <a:avLst>
              <a:gd name="adj" fmla="val 416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pic>
        <p:nvPicPr>
          <p:cNvPr id="60" name="Image 2" descr="preencoded.png">    </p:cNvPr>
          <p:cNvPicPr>
            <a:picLocks noChangeAspect="1"/>
          </p:cNvPicPr>
          <p:nvPr/>
        </p:nvPicPr>
        <p:blipFill>
          <a:blip r:embed="rId3"/>
          <a:stretch>
            <a:fillRect/>
          </a:stretch>
        </p:blipFill>
        <p:spPr>
          <a:xfrm>
            <a:off x="8229600" y="3364992"/>
            <a:ext cx="219456" cy="219456"/>
          </a:xfrm>
          <a:prstGeom prst="rect">
            <a:avLst/>
          </a:prstGeom>
        </p:spPr>
      </p:pic>
      <p:sp>
        <p:nvSpPr>
          <p:cNvPr id="61" name="Text 56"/>
          <p:cNvSpPr/>
          <p:nvPr/>
        </p:nvSpPr>
        <p:spPr>
          <a:xfrm>
            <a:off x="8522208" y="3346704"/>
            <a:ext cx="3017520" cy="237744"/>
          </a:xfrm>
          <a:prstGeom prst="rect">
            <a:avLst/>
          </a:prstGeom>
          <a:noFill/>
          <a:ln/>
        </p:spPr>
        <p:txBody>
          <a:bodyPr wrap="square" lIns="0" tIns="0" rIns="0" bIns="0" rtlCol="0" anchor="ctr"/>
          <a:lstStyle/>
          <a:p>
            <a:pPr indent="0" marL="0">
              <a:buNone/>
            </a:pPr>
            <a:r>
              <a:rPr lang="en-US" sz="1050" b="1" spc="80" kern="0" dirty="0">
                <a:solidFill>
                  <a:srgbClr val="7B94BA"/>
                </a:solidFill>
                <a:latin typeface="Calibri" pitchFamily="34" charset="0"/>
                <a:ea typeface="Calibri" pitchFamily="34" charset="-122"/>
                <a:cs typeface="Calibri" pitchFamily="34" charset="-120"/>
              </a:rPr>
              <a:t>3  ·  PRE-AUTHORISED</a:t>
            </a:r>
            <a:endParaRPr lang="en-US" sz="1050" dirty="0"/>
          </a:p>
        </p:txBody>
      </p:sp>
      <p:sp>
        <p:nvSpPr>
          <p:cNvPr id="62" name="Text 57"/>
          <p:cNvSpPr/>
          <p:nvPr/>
        </p:nvSpPr>
        <p:spPr>
          <a:xfrm>
            <a:off x="8229600" y="3639312"/>
            <a:ext cx="3291840" cy="566928"/>
          </a:xfrm>
          <a:prstGeom prst="rect">
            <a:avLst/>
          </a:prstGeom>
          <a:noFill/>
          <a:ln/>
        </p:spPr>
        <p:txBody>
          <a:bodyPr wrap="square" lIns="0" tIns="0" rIns="0" bIns="0" rtlCol="0" anchor="ctr"/>
          <a:lstStyle/>
          <a:p>
            <a:pPr indent="0" marL="0">
              <a:lnSpc>
                <a:spcPts val="1100"/>
              </a:lnSpc>
              <a:buNone/>
            </a:pPr>
            <a:r>
              <a:rPr lang="en-US" sz="880" dirty="0">
                <a:solidFill>
                  <a:srgbClr val="A9BEDC"/>
                </a:solidFill>
                <a:latin typeface="Calibri" pitchFamily="34" charset="0"/>
                <a:ea typeface="Calibri" pitchFamily="34" charset="-122"/>
                <a:cs typeface="Calibri" pitchFamily="34" charset="-120"/>
              </a:rPr>
              <a:t>Above 80% risk we ask in advance, while there are hours to think. Answer once and the cancellation needs no 90-second window at all.</a:t>
            </a:r>
            <a:endParaRPr lang="en-US" sz="880" dirty="0"/>
          </a:p>
        </p:txBody>
      </p:sp>
      <p:sp>
        <p:nvSpPr>
          <p:cNvPr id="63" name="Text 58"/>
          <p:cNvSpPr/>
          <p:nvPr/>
        </p:nvSpPr>
        <p:spPr>
          <a:xfrm>
            <a:off x="8229600" y="4242816"/>
            <a:ext cx="3291840" cy="256032"/>
          </a:xfrm>
          <a:prstGeom prst="rect">
            <a:avLst/>
          </a:prstGeom>
          <a:noFill/>
          <a:ln/>
        </p:spPr>
        <p:txBody>
          <a:bodyPr wrap="square" lIns="0" tIns="0" rIns="0" bIns="0" rtlCol="0" anchor="ctr"/>
          <a:lstStyle/>
          <a:p>
            <a:pPr indent="0" marL="0">
              <a:lnSpc>
                <a:spcPts val="980"/>
              </a:lnSpc>
              <a:buNone/>
            </a:pPr>
            <a:r>
              <a:rPr lang="en-US" sz="800" i="1" dirty="0">
                <a:solidFill>
                  <a:srgbClr val="7B94BA"/>
                </a:solidFill>
                <a:latin typeface="Calibri" pitchFamily="34" charset="0"/>
                <a:ea typeface="Calibri" pitchFamily="34" charset="-122"/>
                <a:cs typeface="Calibri" pitchFamily="34" charset="-120"/>
              </a:rPr>
              <a:t>Conditional: it fires only if the flight actually cancels.</a:t>
            </a:r>
            <a:endParaRPr lang="en-US" sz="800" dirty="0"/>
          </a:p>
        </p:txBody>
      </p:sp>
      <p:sp>
        <p:nvSpPr>
          <p:cNvPr id="64" name="Shape 59"/>
          <p:cNvSpPr/>
          <p:nvPr/>
        </p:nvSpPr>
        <p:spPr>
          <a:xfrm>
            <a:off x="457200" y="4663440"/>
            <a:ext cx="5577840" cy="1225296"/>
          </a:xfrm>
          <a:prstGeom prst="roundRect">
            <a:avLst>
              <a:gd name="adj" fmla="val 4478"/>
            </a:avLst>
          </a:prstGeom>
          <a:solidFill>
            <a:srgbClr val="1B3A69"/>
          </a:solidFill>
          <a:ln w="6350">
            <a:solidFill>
              <a:srgbClr val="1B3A69"/>
            </a:solidFill>
            <a:prstDash val="solid"/>
          </a:ln>
          <a:effectLst>
            <a:outerShdw sx="100000" sy="100000" kx="0" ky="0" algn="bl" rotWithShape="0" blurRad="114300" dist="25400" dir="5400000">
              <a:srgbClr val="000000">
                <a:alpha val="34000"/>
              </a:srgbClr>
            </a:outerShdw>
          </a:effectLst>
        </p:spPr>
      </p:sp>
      <p:sp>
        <p:nvSpPr>
          <p:cNvPr id="65" name="Text 60"/>
          <p:cNvSpPr/>
          <p:nvPr/>
        </p:nvSpPr>
        <p:spPr>
          <a:xfrm>
            <a:off x="676656" y="4773168"/>
            <a:ext cx="5120640" cy="219456"/>
          </a:xfrm>
          <a:prstGeom prst="rect">
            <a:avLst/>
          </a:prstGeom>
          <a:noFill/>
          <a:ln/>
        </p:spPr>
        <p:txBody>
          <a:bodyPr wrap="square" lIns="0" tIns="0" rIns="0" bIns="0" rtlCol="0" anchor="ctr"/>
          <a:lstStyle/>
          <a:p>
            <a:pPr indent="0" marL="0">
              <a:buNone/>
            </a:pPr>
            <a:r>
              <a:rPr lang="en-US" sz="850" b="1" spc="130" kern="0" dirty="0">
                <a:solidFill>
                  <a:srgbClr val="3D9CFF"/>
                </a:solidFill>
                <a:latin typeface="Calibri" pitchFamily="34" charset="0"/>
                <a:ea typeface="Calibri" pitchFamily="34" charset="-122"/>
                <a:cs typeface="Calibri" pitchFamily="34" charset="-120"/>
              </a:rPr>
              <a:t>EVERYTHING IS HELD BEFORE IT IS BOUGHT</a:t>
            </a:r>
            <a:endParaRPr lang="en-US" sz="850" dirty="0"/>
          </a:p>
        </p:txBody>
      </p:sp>
      <p:sp>
        <p:nvSpPr>
          <p:cNvPr id="66" name="Text 61"/>
          <p:cNvSpPr/>
          <p:nvPr/>
        </p:nvSpPr>
        <p:spPr>
          <a:xfrm>
            <a:off x="676656" y="5029200"/>
            <a:ext cx="5138928" cy="786384"/>
          </a:xfrm>
          <a:prstGeom prst="rect">
            <a:avLst/>
          </a:prstGeom>
          <a:noFill/>
          <a:ln/>
        </p:spPr>
        <p:txBody>
          <a:bodyPr wrap="square" lIns="0" tIns="0" rIns="0" bIns="0" rtlCol="0" anchor="ctr"/>
          <a:lstStyle/>
          <a:p>
            <a:pPr indent="0" marL="0">
              <a:lnSpc>
                <a:spcPts val="1150"/>
              </a:lnSpc>
              <a:buNone/>
            </a:pPr>
            <a:r>
              <a:rPr lang="en-US" sz="900" dirty="0">
                <a:solidFill>
                  <a:srgbClr val="E8F0FB"/>
                </a:solidFill>
                <a:latin typeface="Calibri" pitchFamily="34" charset="0"/>
                <a:ea typeface="Calibri" pitchFamily="34" charset="-122"/>
                <a:cs typeface="Calibri" pitchFamily="34" charset="-120"/>
              </a:rPr>
              <a:t>Every leg is taken as a tentative hold with a release deadline. The agent confirms only after both gates pass; an unconfirmed hold expires for free. That one decision is what makes the 90-second quiet window safe, the rollback cheap, and tier B possible at all — a plan can be shown to the Card Member before a rupee moves.</a:t>
            </a:r>
            <a:endParaRPr lang="en-US" sz="900" dirty="0"/>
          </a:p>
        </p:txBody>
      </p:sp>
      <p:sp>
        <p:nvSpPr>
          <p:cNvPr id="67" name="Shape 62"/>
          <p:cNvSpPr/>
          <p:nvPr/>
        </p:nvSpPr>
        <p:spPr>
          <a:xfrm>
            <a:off x="6291072" y="4663440"/>
            <a:ext cx="5440680" cy="1225296"/>
          </a:xfrm>
          <a:prstGeom prst="roundRect">
            <a:avLst>
              <a:gd name="adj" fmla="val 4478"/>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68" name="Text 63"/>
          <p:cNvSpPr/>
          <p:nvPr/>
        </p:nvSpPr>
        <p:spPr>
          <a:xfrm>
            <a:off x="6510528" y="4773168"/>
            <a:ext cx="5029200" cy="219456"/>
          </a:xfrm>
          <a:prstGeom prst="rect">
            <a:avLst/>
          </a:prstGeom>
          <a:noFill/>
          <a:ln/>
        </p:spPr>
        <p:txBody>
          <a:bodyPr wrap="square" lIns="0" tIns="0" rIns="0" bIns="0" rtlCol="0" anchor="ctr"/>
          <a:lstStyle/>
          <a:p>
            <a:pPr indent="0" marL="0">
              <a:buNone/>
            </a:pPr>
            <a:r>
              <a:rPr lang="en-US" sz="850" b="1" spc="130" kern="0" dirty="0">
                <a:solidFill>
                  <a:srgbClr val="FFB020"/>
                </a:solidFill>
                <a:latin typeface="Calibri" pitchFamily="34" charset="0"/>
                <a:ea typeface="Calibri" pitchFamily="34" charset="-122"/>
                <a:cs typeface="Calibri" pitchFamily="34" charset="-120"/>
              </a:rPr>
              <a:t>HOW THE AGENTS ARE HARNESSED</a:t>
            </a:r>
            <a:endParaRPr lang="en-US" sz="850" dirty="0"/>
          </a:p>
        </p:txBody>
      </p:sp>
      <p:sp>
        <p:nvSpPr>
          <p:cNvPr id="69" name="Text 64"/>
          <p:cNvSpPr/>
          <p:nvPr/>
        </p:nvSpPr>
        <p:spPr>
          <a:xfrm>
            <a:off x="6510528" y="5010912"/>
            <a:ext cx="5029200" cy="822960"/>
          </a:xfrm>
          <a:prstGeom prst="rect">
            <a:avLst/>
          </a:prstGeom>
          <a:noFill/>
          <a:ln/>
        </p:spPr>
        <p:txBody>
          <a:bodyPr wrap="square" lIns="0" tIns="0" rIns="0" bIns="0" rtlCol="0" anchor="ctr"/>
          <a:lstStyle/>
          <a:p>
            <a:pPr marL="342900" indent="-342900">
              <a:lnSpc>
                <a:spcPts val="1000"/>
              </a:lnSpc>
              <a:spcAft>
                <a:spcPts val="300"/>
              </a:spcAft>
              <a:buSzPct val="100000"/>
              <a:buChar char="•"/>
            </a:pPr>
            <a:r>
              <a:rPr lang="en-US" sz="800" dirty="0">
                <a:solidFill>
                  <a:srgbClr val="A9BEDC"/>
                </a:solidFill>
                <a:latin typeface="Calibri" pitchFamily="34" charset="0"/>
                <a:ea typeface="Calibri" pitchFamily="34" charset="-122"/>
                <a:cs typeface="Calibri" pitchFamily="34" charset="-120"/>
              </a:rPr>
              <a:t>Sub-agents are tool-callers with no authority — each returns a schema-validated proposal.</a:t>
            </a:r>
            <a:endParaRPr lang="en-US" sz="800" dirty="0"/>
          </a:p>
          <a:p>
            <a:pPr marL="342900" indent="-342900">
              <a:lnSpc>
                <a:spcPts val="1000"/>
              </a:lnSpc>
              <a:spcAft>
                <a:spcPts val="300"/>
              </a:spcAft>
              <a:buSzPct val="100000"/>
              <a:buChar char="•"/>
            </a:pPr>
            <a:r>
              <a:rPr lang="en-US" sz="800" dirty="0">
                <a:solidFill>
                  <a:srgbClr val="A9BEDC"/>
                </a:solidFill>
                <a:latin typeface="Calibri" pitchFamily="34" charset="0"/>
                <a:ea typeface="Calibri" pitchFamily="34" charset="-122"/>
                <a:cs typeface="Calibri" pitchFamily="34" charset="-120"/>
              </a:rPr>
              <a:t>Only the executor node touches a supplier, through the Temporal saga.</a:t>
            </a:r>
            <a:endParaRPr lang="en-US" sz="800" dirty="0"/>
          </a:p>
          <a:p>
            <a:pPr marL="342900" indent="-342900">
              <a:lnSpc>
                <a:spcPts val="1000"/>
              </a:lnSpc>
              <a:spcAft>
                <a:spcPts val="300"/>
              </a:spcAft>
              <a:buSzPct val="100000"/>
              <a:buChar char="•"/>
            </a:pPr>
            <a:r>
              <a:rPr lang="en-US" sz="800" dirty="0">
                <a:solidFill>
                  <a:srgbClr val="A9BEDC"/>
                </a:solidFill>
                <a:latin typeface="Calibri" pitchFamily="34" charset="0"/>
                <a:ea typeface="Calibri" pitchFamily="34" charset="-122"/>
                <a:cs typeface="Calibri" pitchFamily="34" charset="-120"/>
              </a:rPr>
              <a:t>Consent tier is an OPA input, not a UI setting — one policy gates fare, cabin and who may confirm.</a:t>
            </a:r>
            <a:endParaRPr lang="en-US" sz="800" dirty="0"/>
          </a:p>
          <a:p>
            <a:pPr marL="342900" indent="-342900">
              <a:lnSpc>
                <a:spcPts val="1000"/>
              </a:lnSpc>
              <a:spcAft>
                <a:spcPts val="300"/>
              </a:spcAft>
              <a:buSzPct val="100000"/>
              <a:buChar char="•"/>
            </a:pPr>
            <a:r>
              <a:rPr lang="en-US" sz="800" dirty="0">
                <a:solidFill>
                  <a:srgbClr val="A9BEDC"/>
                </a:solidFill>
                <a:latin typeface="Calibri" pitchFamily="34" charset="0"/>
                <a:ea typeface="Calibri" pitchFamily="34" charset="-122"/>
                <a:cs typeface="Calibri" pitchFamily="34" charset="-120"/>
              </a:rPr>
              <a:t>Max 3 supervisor iterations, no cycle without progress, unroutable state exits to escalation.</a:t>
            </a:r>
            <a:endParaRPr lang="en-US" sz="800" dirty="0"/>
          </a:p>
        </p:txBody>
      </p:sp>
      <p:sp>
        <p:nvSpPr>
          <p:cNvPr id="70" name="Text 65"/>
          <p:cNvSpPr/>
          <p:nvPr/>
        </p:nvSpPr>
        <p:spPr>
          <a:xfrm>
            <a:off x="457200" y="6382512"/>
            <a:ext cx="11274552" cy="310896"/>
          </a:xfrm>
          <a:prstGeom prst="rect">
            <a:avLst/>
          </a:prstGeom>
          <a:noFill/>
          <a:ln/>
        </p:spPr>
        <p:txBody>
          <a:bodyPr wrap="square" lIns="0" tIns="0" rIns="0" bIns="0" rtlCol="0" anchor="t"/>
          <a:lstStyle/>
          <a:p>
            <a:pPr indent="0" marL="0">
              <a:buNone/>
            </a:pPr>
            <a:r>
              <a:rPr lang="en-US" sz="750" b="1" spc="120" kern="0" dirty="0">
                <a:solidFill>
                  <a:srgbClr val="7B94BA"/>
                </a:solidFill>
                <a:latin typeface="Calibri" pitchFamily="34" charset="0"/>
                <a:ea typeface="Calibri" pitchFamily="34" charset="-122"/>
                <a:cs typeface="Calibri" pitchFamily="34" charset="-120"/>
              </a:rPr>
              <a:t>SOURCES  </a:t>
            </a:r>
            <a:pPr indent="0" marL="0">
              <a:buNone/>
            </a:pPr>
            <a:r>
              <a:rPr lang="en-US" sz="750" dirty="0">
                <a:solidFill>
                  <a:srgbClr val="7B94BA"/>
                </a:solidFill>
                <a:latin typeface="Calibri" pitchFamily="34" charset="0"/>
                <a:ea typeface="Calibri" pitchFamily="34" charset="-122"/>
                <a:cs typeface="Calibri" pitchFamily="34" charset="-120"/>
              </a:rPr>
              <a:t>Supervisor / sub-agent pattern implemented on LangGraph. Consent tiers, the tentative-hold model and the harness rules are original to this submission. Sandbox availability verified: Duffel test mode and the LiteAPI sandbox key are free and self-serve.</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B3D"/>
        </a:solidFill>
      </p:bgPr>
    </p:bg>
    <p:spTree>
      <p:nvGrpSpPr>
        <p:cNvPr id="1" name=""/>
        <p:cNvGrpSpPr/>
        <p:nvPr/>
      </p:nvGrpSpPr>
      <p:grpSpPr>
        <a:xfrm>
          <a:off x="0" y="0"/>
          <a:ext cx="0" cy="0"/>
          <a:chOff x="0" y="0"/>
          <a:chExt cx="0" cy="0"/>
        </a:xfrm>
      </p:grpSpPr>
      <p:sp>
        <p:nvSpPr>
          <p:cNvPr id="2" name="Text 0"/>
          <p:cNvSpPr/>
          <p:nvPr/>
        </p:nvSpPr>
        <p:spPr>
          <a:xfrm>
            <a:off x="457200" y="146304"/>
            <a:ext cx="8229600" cy="201168"/>
          </a:xfrm>
          <a:prstGeom prst="rect">
            <a:avLst/>
          </a:prstGeom>
          <a:noFill/>
          <a:ln/>
        </p:spPr>
        <p:txBody>
          <a:bodyPr wrap="square" lIns="0" tIns="0" rIns="0" bIns="0" rtlCol="0" anchor="ctr"/>
          <a:lstStyle/>
          <a:p>
            <a:pPr indent="0" marL="0">
              <a:buNone/>
            </a:pPr>
            <a:r>
              <a:rPr lang="en-US" sz="850" b="1" spc="220" kern="0" dirty="0">
                <a:solidFill>
                  <a:srgbClr val="3D9CFF"/>
                </a:solidFill>
                <a:latin typeface="Calibri" pitchFamily="34" charset="0"/>
                <a:ea typeface="Calibri" pitchFamily="34" charset="-122"/>
                <a:cs typeface="Calibri" pitchFamily="34" charset="-120"/>
              </a:rPr>
              <a:t>04 · ARCHITECTURE &amp; FLOW</a:t>
            </a:r>
            <a:endParaRPr lang="en-US" sz="850" dirty="0"/>
          </a:p>
        </p:txBody>
      </p:sp>
      <p:sp>
        <p:nvSpPr>
          <p:cNvPr id="3" name="Text 1"/>
          <p:cNvSpPr/>
          <p:nvPr/>
        </p:nvSpPr>
        <p:spPr>
          <a:xfrm>
            <a:off x="11155680" y="146304"/>
            <a:ext cx="576072" cy="201168"/>
          </a:xfrm>
          <a:prstGeom prst="rect">
            <a:avLst/>
          </a:prstGeom>
          <a:noFill/>
          <a:ln/>
        </p:spPr>
        <p:txBody>
          <a:bodyPr wrap="square" lIns="0" tIns="0" rIns="0" bIns="0" rtlCol="0" anchor="ctr"/>
          <a:lstStyle/>
          <a:p>
            <a:pPr algn="r" indent="0" marL="0">
              <a:buNone/>
            </a:pPr>
            <a:r>
              <a:rPr lang="en-US" sz="850" dirty="0">
                <a:solidFill>
                  <a:srgbClr val="7B94BA"/>
                </a:solidFill>
                <a:latin typeface="Calibri" pitchFamily="34" charset="0"/>
                <a:ea typeface="Calibri" pitchFamily="34" charset="-122"/>
                <a:cs typeface="Calibri" pitchFamily="34" charset="-120"/>
              </a:rPr>
              <a:t>5</a:t>
            </a:r>
            <a:endParaRPr lang="en-US" sz="850" dirty="0"/>
          </a:p>
        </p:txBody>
      </p:sp>
      <p:sp>
        <p:nvSpPr>
          <p:cNvPr id="4" name="Text 2"/>
          <p:cNvSpPr/>
          <p:nvPr/>
        </p:nvSpPr>
        <p:spPr>
          <a:xfrm>
            <a:off x="457200" y="365760"/>
            <a:ext cx="11274552" cy="420624"/>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Six layers — and one edge that deliberately does not exist</a:t>
            </a:r>
            <a:endParaRPr lang="en-US" sz="2500" dirty="0"/>
          </a:p>
        </p:txBody>
      </p:sp>
      <p:sp>
        <p:nvSpPr>
          <p:cNvPr id="5" name="Text 3"/>
          <p:cNvSpPr/>
          <p:nvPr/>
        </p:nvSpPr>
        <p:spPr>
          <a:xfrm>
            <a:off x="457200" y="804672"/>
            <a:ext cx="11274552" cy="256032"/>
          </a:xfrm>
          <a:prstGeom prst="rect">
            <a:avLst/>
          </a:prstGeom>
          <a:noFill/>
          <a:ln/>
        </p:spPr>
        <p:txBody>
          <a:bodyPr wrap="square" lIns="0" tIns="0" rIns="0" bIns="0" rtlCol="0" anchor="ctr"/>
          <a:lstStyle/>
          <a:p>
            <a:pPr indent="0" marL="0">
              <a:buNone/>
            </a:pPr>
            <a:r>
              <a:rPr lang="en-US" sz="1150" dirty="0">
                <a:solidFill>
                  <a:srgbClr val="A9BEDC"/>
                </a:solidFill>
                <a:latin typeface="Calibri" pitchFamily="34" charset="0"/>
                <a:ea typeface="Calibri" pitchFamily="34" charset="-122"/>
                <a:cs typeface="Calibri" pitchFamily="34" charset="-120"/>
              </a:rPr>
              <a:t>The agent proposes. It has no network route to an integration except through the control plane.</a:t>
            </a:r>
            <a:endParaRPr lang="en-US" sz="1150" dirty="0"/>
          </a:p>
        </p:txBody>
      </p:sp>
      <p:sp>
        <p:nvSpPr>
          <p:cNvPr id="6" name="Shape 4"/>
          <p:cNvSpPr/>
          <p:nvPr/>
        </p:nvSpPr>
        <p:spPr>
          <a:xfrm>
            <a:off x="457200" y="1152144"/>
            <a:ext cx="7973568" cy="566928"/>
          </a:xfrm>
          <a:prstGeom prst="roundRect">
            <a:avLst>
              <a:gd name="adj" fmla="val 967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7" name="Text 5"/>
          <p:cNvSpPr/>
          <p:nvPr/>
        </p:nvSpPr>
        <p:spPr>
          <a:xfrm>
            <a:off x="621792" y="1207008"/>
            <a:ext cx="1572768" cy="457200"/>
          </a:xfrm>
          <a:prstGeom prst="rect">
            <a:avLst/>
          </a:prstGeom>
          <a:noFill/>
          <a:ln/>
        </p:spPr>
        <p:txBody>
          <a:bodyPr wrap="square" lIns="0" tIns="0" rIns="0" bIns="0" rtlCol="0" anchor="ctr"/>
          <a:lstStyle/>
          <a:p>
            <a:pPr indent="0" marL="0">
              <a:lnSpc>
                <a:spcPts val="1000"/>
              </a:lnSpc>
              <a:buNone/>
            </a:pPr>
            <a:r>
              <a:rPr lang="en-US" sz="850" b="1" spc="110" kern="0" dirty="0">
                <a:solidFill>
                  <a:srgbClr val="3D9CFF"/>
                </a:solidFill>
                <a:latin typeface="Calibri" pitchFamily="34" charset="0"/>
                <a:ea typeface="Calibri" pitchFamily="34" charset="-122"/>
                <a:cs typeface="Calibri" pitchFamily="34" charset="-120"/>
              </a:rPr>
              <a:t>1 EXPERIENCE</a:t>
            </a:r>
            <a:endParaRPr lang="en-US" sz="850" dirty="0"/>
          </a:p>
        </p:txBody>
      </p:sp>
      <p:sp>
        <p:nvSpPr>
          <p:cNvPr id="8" name="Shape 6"/>
          <p:cNvSpPr/>
          <p:nvPr/>
        </p:nvSpPr>
        <p:spPr>
          <a:xfrm>
            <a:off x="2286000" y="1243584"/>
            <a:ext cx="1408176" cy="384048"/>
          </a:xfrm>
          <a:prstGeom prst="roundRect">
            <a:avLst>
              <a:gd name="adj" fmla="val 11905"/>
            </a:avLst>
          </a:prstGeom>
          <a:solidFill>
            <a:srgbClr val="0D2246"/>
          </a:solidFill>
          <a:ln w="9525">
            <a:solidFill>
              <a:srgbClr val="3D9CFF"/>
            </a:solidFill>
            <a:prstDash val="solid"/>
          </a:ln>
        </p:spPr>
      </p:sp>
      <p:sp>
        <p:nvSpPr>
          <p:cNvPr id="9" name="Text 7"/>
          <p:cNvSpPr/>
          <p:nvPr/>
        </p:nvSpPr>
        <p:spPr>
          <a:xfrm>
            <a:off x="2322576" y="1243584"/>
            <a:ext cx="1335024" cy="384048"/>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React Native</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push + dashboard</a:t>
            </a:r>
            <a:endParaRPr lang="en-US" sz="750" dirty="0"/>
          </a:p>
        </p:txBody>
      </p:sp>
      <p:sp>
        <p:nvSpPr>
          <p:cNvPr id="10" name="Shape 8"/>
          <p:cNvSpPr/>
          <p:nvPr/>
        </p:nvSpPr>
        <p:spPr>
          <a:xfrm>
            <a:off x="3785616" y="1243584"/>
            <a:ext cx="1408176" cy="384048"/>
          </a:xfrm>
          <a:prstGeom prst="roundRect">
            <a:avLst>
              <a:gd name="adj" fmla="val 11905"/>
            </a:avLst>
          </a:prstGeom>
          <a:solidFill>
            <a:srgbClr val="0D2246"/>
          </a:solidFill>
          <a:ln w="9525">
            <a:solidFill>
              <a:srgbClr val="3D9CFF"/>
            </a:solidFill>
            <a:prstDash val="solid"/>
          </a:ln>
        </p:spPr>
      </p:sp>
      <p:sp>
        <p:nvSpPr>
          <p:cNvPr id="11" name="Text 9"/>
          <p:cNvSpPr/>
          <p:nvPr/>
        </p:nvSpPr>
        <p:spPr>
          <a:xfrm>
            <a:off x="3822192" y="1243584"/>
            <a:ext cx="1335024" cy="384048"/>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Chat surface</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(fallback)</a:t>
            </a:r>
            <a:endParaRPr lang="en-US" sz="750" dirty="0"/>
          </a:p>
        </p:txBody>
      </p:sp>
      <p:sp>
        <p:nvSpPr>
          <p:cNvPr id="12" name="Shape 10"/>
          <p:cNvSpPr/>
          <p:nvPr/>
        </p:nvSpPr>
        <p:spPr>
          <a:xfrm>
            <a:off x="5285232" y="1243584"/>
            <a:ext cx="1408176" cy="384048"/>
          </a:xfrm>
          <a:prstGeom prst="roundRect">
            <a:avLst>
              <a:gd name="adj" fmla="val 11905"/>
            </a:avLst>
          </a:prstGeom>
          <a:solidFill>
            <a:srgbClr val="0D2246"/>
          </a:solidFill>
          <a:ln w="9525">
            <a:solidFill>
              <a:srgbClr val="3D9CFF"/>
            </a:solidFill>
            <a:prstDash val="solid"/>
          </a:ln>
        </p:spPr>
      </p:sp>
      <p:sp>
        <p:nvSpPr>
          <p:cNvPr id="13" name="Text 11"/>
          <p:cNvSpPr/>
          <p:nvPr/>
        </p:nvSpPr>
        <p:spPr>
          <a:xfrm>
            <a:off x="5321808" y="1243584"/>
            <a:ext cx="1335024" cy="384048"/>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Wallet / pass</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update</a:t>
            </a:r>
            <a:endParaRPr lang="en-US" sz="750" dirty="0"/>
          </a:p>
        </p:txBody>
      </p:sp>
      <p:sp>
        <p:nvSpPr>
          <p:cNvPr id="14" name="Shape 12"/>
          <p:cNvSpPr/>
          <p:nvPr/>
        </p:nvSpPr>
        <p:spPr>
          <a:xfrm>
            <a:off x="6784848" y="1243584"/>
            <a:ext cx="1408176" cy="384048"/>
          </a:xfrm>
          <a:prstGeom prst="roundRect">
            <a:avLst>
              <a:gd name="adj" fmla="val 11905"/>
            </a:avLst>
          </a:prstGeom>
          <a:solidFill>
            <a:srgbClr val="0D2246"/>
          </a:solidFill>
          <a:ln w="9525">
            <a:solidFill>
              <a:srgbClr val="3D9CFF"/>
            </a:solidFill>
            <a:prstDash val="solid"/>
          </a:ln>
        </p:spPr>
      </p:sp>
      <p:sp>
        <p:nvSpPr>
          <p:cNvPr id="15" name="Text 13"/>
          <p:cNvSpPr/>
          <p:nvPr/>
        </p:nvSpPr>
        <p:spPr>
          <a:xfrm>
            <a:off x="6821424" y="1243584"/>
            <a:ext cx="1335024" cy="384048"/>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Ops console</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audit view</a:t>
            </a:r>
            <a:endParaRPr lang="en-US" sz="750" dirty="0"/>
          </a:p>
        </p:txBody>
      </p:sp>
      <p:sp>
        <p:nvSpPr>
          <p:cNvPr id="16" name="Shape 14"/>
          <p:cNvSpPr/>
          <p:nvPr/>
        </p:nvSpPr>
        <p:spPr>
          <a:xfrm>
            <a:off x="457200" y="1792224"/>
            <a:ext cx="7973568" cy="566928"/>
          </a:xfrm>
          <a:prstGeom prst="roundRect">
            <a:avLst>
              <a:gd name="adj" fmla="val 967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17" name="Text 15"/>
          <p:cNvSpPr/>
          <p:nvPr/>
        </p:nvSpPr>
        <p:spPr>
          <a:xfrm>
            <a:off x="621792" y="1847088"/>
            <a:ext cx="1572768" cy="457200"/>
          </a:xfrm>
          <a:prstGeom prst="rect">
            <a:avLst/>
          </a:prstGeom>
          <a:noFill/>
          <a:ln/>
        </p:spPr>
        <p:txBody>
          <a:bodyPr wrap="square" lIns="0" tIns="0" rIns="0" bIns="0" rtlCol="0" anchor="ctr"/>
          <a:lstStyle/>
          <a:p>
            <a:pPr indent="0" marL="0">
              <a:lnSpc>
                <a:spcPts val="1000"/>
              </a:lnSpc>
              <a:buNone/>
            </a:pPr>
            <a:r>
              <a:rPr lang="en-US" sz="850" b="1" spc="110" kern="0" dirty="0">
                <a:solidFill>
                  <a:srgbClr val="3D9CFF"/>
                </a:solidFill>
                <a:latin typeface="Calibri" pitchFamily="34" charset="0"/>
                <a:ea typeface="Calibri" pitchFamily="34" charset="-122"/>
                <a:cs typeface="Calibri" pitchFamily="34" charset="-120"/>
              </a:rPr>
              <a:t>2 EDGE</a:t>
            </a:r>
            <a:endParaRPr lang="en-US" sz="850" dirty="0"/>
          </a:p>
        </p:txBody>
      </p:sp>
      <p:sp>
        <p:nvSpPr>
          <p:cNvPr id="18" name="Shape 16"/>
          <p:cNvSpPr/>
          <p:nvPr/>
        </p:nvSpPr>
        <p:spPr>
          <a:xfrm>
            <a:off x="2286000" y="1883664"/>
            <a:ext cx="1408176" cy="384048"/>
          </a:xfrm>
          <a:prstGeom prst="roundRect">
            <a:avLst>
              <a:gd name="adj" fmla="val 11905"/>
            </a:avLst>
          </a:prstGeom>
          <a:solidFill>
            <a:srgbClr val="0D2246"/>
          </a:solidFill>
          <a:ln w="9525">
            <a:solidFill>
              <a:srgbClr val="3D9CFF"/>
            </a:solidFill>
            <a:prstDash val="solid"/>
          </a:ln>
        </p:spPr>
      </p:sp>
      <p:sp>
        <p:nvSpPr>
          <p:cNvPr id="19" name="Text 17"/>
          <p:cNvSpPr/>
          <p:nvPr/>
        </p:nvSpPr>
        <p:spPr>
          <a:xfrm>
            <a:off x="2322576" y="1883664"/>
            <a:ext cx="1335024" cy="384048"/>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API gateway</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 mTLS</a:t>
            </a:r>
            <a:endParaRPr lang="en-US" sz="750" dirty="0"/>
          </a:p>
        </p:txBody>
      </p:sp>
      <p:sp>
        <p:nvSpPr>
          <p:cNvPr id="20" name="Shape 18"/>
          <p:cNvSpPr/>
          <p:nvPr/>
        </p:nvSpPr>
        <p:spPr>
          <a:xfrm>
            <a:off x="3785616" y="1883664"/>
            <a:ext cx="1408176" cy="384048"/>
          </a:xfrm>
          <a:prstGeom prst="roundRect">
            <a:avLst>
              <a:gd name="adj" fmla="val 11905"/>
            </a:avLst>
          </a:prstGeom>
          <a:solidFill>
            <a:srgbClr val="0D2246"/>
          </a:solidFill>
          <a:ln w="9525">
            <a:solidFill>
              <a:srgbClr val="3D9CFF"/>
            </a:solidFill>
            <a:prstDash val="solid"/>
          </a:ln>
        </p:spPr>
      </p:sp>
      <p:sp>
        <p:nvSpPr>
          <p:cNvPr id="21" name="Text 19"/>
          <p:cNvSpPr/>
          <p:nvPr/>
        </p:nvSpPr>
        <p:spPr>
          <a:xfrm>
            <a:off x="3822192" y="1883664"/>
            <a:ext cx="1335024" cy="384048"/>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AuthN / AuthZ</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OAuth 2.0</a:t>
            </a:r>
            <a:endParaRPr lang="en-US" sz="750" dirty="0"/>
          </a:p>
        </p:txBody>
      </p:sp>
      <p:sp>
        <p:nvSpPr>
          <p:cNvPr id="22" name="Shape 20"/>
          <p:cNvSpPr/>
          <p:nvPr/>
        </p:nvSpPr>
        <p:spPr>
          <a:xfrm>
            <a:off x="5285232" y="1883664"/>
            <a:ext cx="1408176" cy="384048"/>
          </a:xfrm>
          <a:prstGeom prst="roundRect">
            <a:avLst>
              <a:gd name="adj" fmla="val 11905"/>
            </a:avLst>
          </a:prstGeom>
          <a:solidFill>
            <a:srgbClr val="0D2246"/>
          </a:solidFill>
          <a:ln w="9525">
            <a:solidFill>
              <a:srgbClr val="3D9CFF"/>
            </a:solidFill>
            <a:prstDash val="solid"/>
          </a:ln>
        </p:spPr>
      </p:sp>
      <p:sp>
        <p:nvSpPr>
          <p:cNvPr id="23" name="Text 21"/>
          <p:cNvSpPr/>
          <p:nvPr/>
        </p:nvSpPr>
        <p:spPr>
          <a:xfrm>
            <a:off x="5321808" y="1883664"/>
            <a:ext cx="1335024" cy="384048"/>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Per-credential</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rate limiter</a:t>
            </a:r>
            <a:endParaRPr lang="en-US" sz="750" dirty="0"/>
          </a:p>
        </p:txBody>
      </p:sp>
      <p:sp>
        <p:nvSpPr>
          <p:cNvPr id="24" name="Shape 22"/>
          <p:cNvSpPr/>
          <p:nvPr/>
        </p:nvSpPr>
        <p:spPr>
          <a:xfrm>
            <a:off x="6784848" y="1883664"/>
            <a:ext cx="1408176" cy="384048"/>
          </a:xfrm>
          <a:prstGeom prst="roundRect">
            <a:avLst>
              <a:gd name="adj" fmla="val 11905"/>
            </a:avLst>
          </a:prstGeom>
          <a:solidFill>
            <a:srgbClr val="0D2246"/>
          </a:solidFill>
          <a:ln w="9525">
            <a:solidFill>
              <a:srgbClr val="3D9CFF"/>
            </a:solidFill>
            <a:prstDash val="solid"/>
          </a:ln>
        </p:spPr>
      </p:sp>
      <p:sp>
        <p:nvSpPr>
          <p:cNvPr id="25" name="Text 23"/>
          <p:cNvSpPr/>
          <p:nvPr/>
        </p:nvSpPr>
        <p:spPr>
          <a:xfrm>
            <a:off x="6821424" y="1883664"/>
            <a:ext cx="1335024" cy="384048"/>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Idempotency</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filter</a:t>
            </a:r>
            <a:endParaRPr lang="en-US" sz="750" dirty="0"/>
          </a:p>
        </p:txBody>
      </p:sp>
      <p:sp>
        <p:nvSpPr>
          <p:cNvPr id="26" name="Shape 24"/>
          <p:cNvSpPr/>
          <p:nvPr/>
        </p:nvSpPr>
        <p:spPr>
          <a:xfrm>
            <a:off x="457200" y="2432304"/>
            <a:ext cx="7973568" cy="731520"/>
          </a:xfrm>
          <a:prstGeom prst="roundRect">
            <a:avLst>
              <a:gd name="adj" fmla="val 7500"/>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27" name="Text 25"/>
          <p:cNvSpPr/>
          <p:nvPr/>
        </p:nvSpPr>
        <p:spPr>
          <a:xfrm>
            <a:off x="621792" y="2487168"/>
            <a:ext cx="1572768" cy="621792"/>
          </a:xfrm>
          <a:prstGeom prst="rect">
            <a:avLst/>
          </a:prstGeom>
          <a:noFill/>
          <a:ln/>
        </p:spPr>
        <p:txBody>
          <a:bodyPr wrap="square" lIns="0" tIns="0" rIns="0" bIns="0" rtlCol="0" anchor="ctr"/>
          <a:lstStyle/>
          <a:p>
            <a:pPr indent="0" marL="0">
              <a:lnSpc>
                <a:spcPts val="1000"/>
              </a:lnSpc>
              <a:buNone/>
            </a:pPr>
            <a:r>
              <a:rPr lang="en-US" sz="850" b="1" spc="110" kern="0" dirty="0">
                <a:solidFill>
                  <a:srgbClr val="9B8CFF"/>
                </a:solidFill>
                <a:latin typeface="Calibri" pitchFamily="34" charset="0"/>
                <a:ea typeface="Calibri" pitchFamily="34" charset="-122"/>
                <a:cs typeface="Calibri" pitchFamily="34" charset="-120"/>
              </a:rPr>
              <a:t>3 AGENT LAYER</a:t>
            </a:r>
            <a:endParaRPr lang="en-US" sz="850" dirty="0"/>
          </a:p>
          <a:p>
            <a:pPr indent="0" marL="0">
              <a:lnSpc>
                <a:spcPts val="1000"/>
              </a:lnSpc>
              <a:buNone/>
            </a:pPr>
            <a:r>
              <a:rPr lang="en-US" sz="850" b="1" spc="110" kern="0" dirty="0">
                <a:solidFill>
                  <a:srgbClr val="9B8CFF"/>
                </a:solidFill>
                <a:latin typeface="Calibri" pitchFamily="34" charset="0"/>
                <a:ea typeface="Calibri" pitchFamily="34" charset="-122"/>
                <a:cs typeface="Calibri" pitchFamily="34" charset="-120"/>
              </a:rPr>
              <a:t>proposes only</a:t>
            </a:r>
            <a:endParaRPr lang="en-US" sz="850" dirty="0"/>
          </a:p>
        </p:txBody>
      </p:sp>
      <p:sp>
        <p:nvSpPr>
          <p:cNvPr id="28" name="Shape 26"/>
          <p:cNvSpPr/>
          <p:nvPr/>
        </p:nvSpPr>
        <p:spPr>
          <a:xfrm>
            <a:off x="2286000" y="2523744"/>
            <a:ext cx="1108253" cy="548640"/>
          </a:xfrm>
          <a:prstGeom prst="roundRect">
            <a:avLst>
              <a:gd name="adj" fmla="val 8333"/>
            </a:avLst>
          </a:prstGeom>
          <a:solidFill>
            <a:srgbClr val="0D2246"/>
          </a:solidFill>
          <a:ln w="9525">
            <a:solidFill>
              <a:srgbClr val="9B8CFF"/>
            </a:solidFill>
            <a:prstDash val="solid"/>
          </a:ln>
        </p:spPr>
      </p:sp>
      <p:sp>
        <p:nvSpPr>
          <p:cNvPr id="29" name="Text 27"/>
          <p:cNvSpPr/>
          <p:nvPr/>
        </p:nvSpPr>
        <p:spPr>
          <a:xfrm>
            <a:off x="2322576" y="2523744"/>
            <a:ext cx="1035101" cy="548640"/>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Planner</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LangChain</a:t>
            </a:r>
            <a:endParaRPr lang="en-US" sz="750" dirty="0"/>
          </a:p>
        </p:txBody>
      </p:sp>
      <p:sp>
        <p:nvSpPr>
          <p:cNvPr id="30" name="Shape 28"/>
          <p:cNvSpPr/>
          <p:nvPr/>
        </p:nvSpPr>
        <p:spPr>
          <a:xfrm>
            <a:off x="3485693" y="2523744"/>
            <a:ext cx="1108253" cy="548640"/>
          </a:xfrm>
          <a:prstGeom prst="roundRect">
            <a:avLst>
              <a:gd name="adj" fmla="val 8333"/>
            </a:avLst>
          </a:prstGeom>
          <a:solidFill>
            <a:srgbClr val="0D2246"/>
          </a:solidFill>
          <a:ln w="9525">
            <a:solidFill>
              <a:srgbClr val="9B8CFF"/>
            </a:solidFill>
            <a:prstDash val="solid"/>
          </a:ln>
        </p:spPr>
      </p:sp>
      <p:sp>
        <p:nvSpPr>
          <p:cNvPr id="31" name="Text 29"/>
          <p:cNvSpPr/>
          <p:nvPr/>
        </p:nvSpPr>
        <p:spPr>
          <a:xfrm>
            <a:off x="3522269" y="2523744"/>
            <a:ext cx="1035101" cy="548640"/>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Ranker</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 explainer</a:t>
            </a:r>
            <a:endParaRPr lang="en-US" sz="750" dirty="0"/>
          </a:p>
        </p:txBody>
      </p:sp>
      <p:sp>
        <p:nvSpPr>
          <p:cNvPr id="32" name="Shape 30"/>
          <p:cNvSpPr/>
          <p:nvPr/>
        </p:nvSpPr>
        <p:spPr>
          <a:xfrm>
            <a:off x="4685386" y="2523744"/>
            <a:ext cx="1108253" cy="548640"/>
          </a:xfrm>
          <a:prstGeom prst="roundRect">
            <a:avLst>
              <a:gd name="adj" fmla="val 8333"/>
            </a:avLst>
          </a:prstGeom>
          <a:solidFill>
            <a:srgbClr val="0D2246"/>
          </a:solidFill>
          <a:ln w="9525">
            <a:solidFill>
              <a:srgbClr val="9B8CFF"/>
            </a:solidFill>
            <a:prstDash val="solid"/>
          </a:ln>
        </p:spPr>
      </p:sp>
      <p:sp>
        <p:nvSpPr>
          <p:cNvPr id="33" name="Text 31"/>
          <p:cNvSpPr/>
          <p:nvPr/>
        </p:nvSpPr>
        <p:spPr>
          <a:xfrm>
            <a:off x="4721962" y="2523744"/>
            <a:ext cx="1035101" cy="548640"/>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MCP tool</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clients</a:t>
            </a:r>
            <a:endParaRPr lang="en-US" sz="750" dirty="0"/>
          </a:p>
        </p:txBody>
      </p:sp>
      <p:sp>
        <p:nvSpPr>
          <p:cNvPr id="34" name="Shape 32"/>
          <p:cNvSpPr/>
          <p:nvPr/>
        </p:nvSpPr>
        <p:spPr>
          <a:xfrm>
            <a:off x="5885078" y="2523744"/>
            <a:ext cx="1108253" cy="548640"/>
          </a:xfrm>
          <a:prstGeom prst="roundRect">
            <a:avLst>
              <a:gd name="adj" fmla="val 8333"/>
            </a:avLst>
          </a:prstGeom>
          <a:solidFill>
            <a:srgbClr val="0D2246"/>
          </a:solidFill>
          <a:ln w="9525">
            <a:solidFill>
              <a:srgbClr val="9B8CFF"/>
            </a:solidFill>
            <a:prstDash val="solid"/>
          </a:ln>
        </p:spPr>
      </p:sp>
      <p:sp>
        <p:nvSpPr>
          <p:cNvPr id="35" name="Text 33"/>
          <p:cNvSpPr/>
          <p:nvPr/>
        </p:nvSpPr>
        <p:spPr>
          <a:xfrm>
            <a:off x="5921654" y="2523744"/>
            <a:ext cx="1035101" cy="548640"/>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Grounding</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offer-ID</a:t>
            </a:r>
            <a:endParaRPr lang="en-US" sz="750" dirty="0"/>
          </a:p>
        </p:txBody>
      </p:sp>
      <p:sp>
        <p:nvSpPr>
          <p:cNvPr id="36" name="Shape 34"/>
          <p:cNvSpPr/>
          <p:nvPr/>
        </p:nvSpPr>
        <p:spPr>
          <a:xfrm>
            <a:off x="7084771" y="2523744"/>
            <a:ext cx="1108253" cy="548640"/>
          </a:xfrm>
          <a:prstGeom prst="roundRect">
            <a:avLst>
              <a:gd name="adj" fmla="val 8333"/>
            </a:avLst>
          </a:prstGeom>
          <a:solidFill>
            <a:srgbClr val="0D2246"/>
          </a:solidFill>
          <a:ln w="9525">
            <a:solidFill>
              <a:srgbClr val="9B8CFF"/>
            </a:solidFill>
            <a:prstDash val="solid"/>
          </a:ln>
        </p:spPr>
      </p:sp>
      <p:sp>
        <p:nvSpPr>
          <p:cNvPr id="37" name="Text 35"/>
          <p:cNvSpPr/>
          <p:nvPr/>
        </p:nvSpPr>
        <p:spPr>
          <a:xfrm>
            <a:off x="7121347" y="2523744"/>
            <a:ext cx="1035101" cy="548640"/>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Escalation</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classifier</a:t>
            </a:r>
            <a:endParaRPr lang="en-US" sz="750" dirty="0"/>
          </a:p>
        </p:txBody>
      </p:sp>
      <p:sp>
        <p:nvSpPr>
          <p:cNvPr id="38" name="Shape 36"/>
          <p:cNvSpPr/>
          <p:nvPr/>
        </p:nvSpPr>
        <p:spPr>
          <a:xfrm>
            <a:off x="457200" y="3236976"/>
            <a:ext cx="7973568" cy="694944"/>
          </a:xfrm>
          <a:prstGeom prst="roundRect">
            <a:avLst>
              <a:gd name="adj" fmla="val 7895"/>
            </a:avLst>
          </a:prstGeom>
          <a:solidFill>
            <a:srgbClr val="1B3A69"/>
          </a:solidFill>
          <a:ln w="6350">
            <a:solidFill>
              <a:srgbClr val="1B3A69"/>
            </a:solidFill>
            <a:prstDash val="solid"/>
          </a:ln>
          <a:effectLst>
            <a:outerShdw sx="100000" sy="100000" kx="0" ky="0" algn="bl" rotWithShape="0" blurRad="114300" dist="25400" dir="5400000">
              <a:srgbClr val="000000">
                <a:alpha val="34000"/>
              </a:srgbClr>
            </a:outerShdw>
          </a:effectLst>
        </p:spPr>
      </p:sp>
      <p:sp>
        <p:nvSpPr>
          <p:cNvPr id="39" name="Text 37"/>
          <p:cNvSpPr/>
          <p:nvPr/>
        </p:nvSpPr>
        <p:spPr>
          <a:xfrm>
            <a:off x="621792" y="3291840"/>
            <a:ext cx="1572768" cy="585216"/>
          </a:xfrm>
          <a:prstGeom prst="rect">
            <a:avLst/>
          </a:prstGeom>
          <a:noFill/>
          <a:ln/>
        </p:spPr>
        <p:txBody>
          <a:bodyPr wrap="square" lIns="0" tIns="0" rIns="0" bIns="0" rtlCol="0" anchor="ctr"/>
          <a:lstStyle/>
          <a:p>
            <a:pPr indent="0" marL="0">
              <a:lnSpc>
                <a:spcPts val="1000"/>
              </a:lnSpc>
              <a:buNone/>
            </a:pPr>
            <a:r>
              <a:rPr lang="en-US" sz="850" b="1" spc="110" kern="0" dirty="0">
                <a:solidFill>
                  <a:srgbClr val="FFB020"/>
                </a:solidFill>
                <a:latin typeface="Calibri" pitchFamily="34" charset="0"/>
                <a:ea typeface="Calibri" pitchFamily="34" charset="-122"/>
                <a:cs typeface="Calibri" pitchFamily="34" charset="-120"/>
              </a:rPr>
              <a:t>4 CONTROL PLANE</a:t>
            </a:r>
            <a:endParaRPr lang="en-US" sz="850" dirty="0"/>
          </a:p>
          <a:p>
            <a:pPr indent="0" marL="0">
              <a:lnSpc>
                <a:spcPts val="1000"/>
              </a:lnSpc>
              <a:buNone/>
            </a:pPr>
            <a:r>
              <a:rPr lang="en-US" sz="850" b="1" spc="110" kern="0" dirty="0">
                <a:solidFill>
                  <a:srgbClr val="FFB020"/>
                </a:solidFill>
                <a:latin typeface="Calibri" pitchFamily="34" charset="0"/>
                <a:ea typeface="Calibri" pitchFamily="34" charset="-122"/>
                <a:cs typeface="Calibri" pitchFamily="34" charset="-120"/>
              </a:rPr>
              <a:t>authority lives here</a:t>
            </a:r>
            <a:endParaRPr lang="en-US" sz="850" dirty="0"/>
          </a:p>
        </p:txBody>
      </p:sp>
      <p:sp>
        <p:nvSpPr>
          <p:cNvPr id="40" name="Shape 38"/>
          <p:cNvSpPr/>
          <p:nvPr/>
        </p:nvSpPr>
        <p:spPr>
          <a:xfrm>
            <a:off x="2286000" y="3328416"/>
            <a:ext cx="2907792" cy="512064"/>
          </a:xfrm>
          <a:prstGeom prst="roundRect">
            <a:avLst>
              <a:gd name="adj" fmla="val 8929"/>
            </a:avLst>
          </a:prstGeom>
          <a:solidFill>
            <a:srgbClr val="0D2246"/>
          </a:solidFill>
          <a:ln w="9525">
            <a:solidFill>
              <a:srgbClr val="FFB020"/>
            </a:solidFill>
            <a:prstDash val="solid"/>
          </a:ln>
        </p:spPr>
      </p:sp>
      <p:sp>
        <p:nvSpPr>
          <p:cNvPr id="41" name="Text 39"/>
          <p:cNvSpPr/>
          <p:nvPr/>
        </p:nvSpPr>
        <p:spPr>
          <a:xfrm>
            <a:off x="2322576" y="3328416"/>
            <a:ext cx="2834640" cy="512064"/>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OPA / Rego PDP</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default deny · decision log</a:t>
            </a:r>
            <a:endParaRPr lang="en-US" sz="750" dirty="0"/>
          </a:p>
        </p:txBody>
      </p:sp>
      <p:sp>
        <p:nvSpPr>
          <p:cNvPr id="42" name="Shape 40"/>
          <p:cNvSpPr/>
          <p:nvPr/>
        </p:nvSpPr>
        <p:spPr>
          <a:xfrm>
            <a:off x="5285232" y="3328416"/>
            <a:ext cx="2907792" cy="512064"/>
          </a:xfrm>
          <a:prstGeom prst="roundRect">
            <a:avLst>
              <a:gd name="adj" fmla="val 8929"/>
            </a:avLst>
          </a:prstGeom>
          <a:solidFill>
            <a:srgbClr val="0D2246"/>
          </a:solidFill>
          <a:ln w="9525">
            <a:solidFill>
              <a:srgbClr val="FFB020"/>
            </a:solidFill>
            <a:prstDash val="solid"/>
          </a:ln>
        </p:spPr>
      </p:sp>
      <p:sp>
        <p:nvSpPr>
          <p:cNvPr id="43" name="Text 41"/>
          <p:cNvSpPr/>
          <p:nvPr/>
        </p:nvSpPr>
        <p:spPr>
          <a:xfrm>
            <a:off x="5321808" y="3328416"/>
            <a:ext cx="2834640" cy="512064"/>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Temporal.io</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durable workflows · saga</a:t>
            </a:r>
            <a:endParaRPr lang="en-US" sz="750" dirty="0"/>
          </a:p>
        </p:txBody>
      </p:sp>
      <p:sp>
        <p:nvSpPr>
          <p:cNvPr id="44" name="Shape 42"/>
          <p:cNvSpPr/>
          <p:nvPr/>
        </p:nvSpPr>
        <p:spPr>
          <a:xfrm>
            <a:off x="457200" y="4005072"/>
            <a:ext cx="7973568" cy="640080"/>
          </a:xfrm>
          <a:prstGeom prst="roundRect">
            <a:avLst>
              <a:gd name="adj" fmla="val 8571"/>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45" name="Text 43"/>
          <p:cNvSpPr/>
          <p:nvPr/>
        </p:nvSpPr>
        <p:spPr>
          <a:xfrm>
            <a:off x="621792" y="4059936"/>
            <a:ext cx="1572768" cy="530352"/>
          </a:xfrm>
          <a:prstGeom prst="rect">
            <a:avLst/>
          </a:prstGeom>
          <a:noFill/>
          <a:ln/>
        </p:spPr>
        <p:txBody>
          <a:bodyPr wrap="square" lIns="0" tIns="0" rIns="0" bIns="0" rtlCol="0" anchor="ctr"/>
          <a:lstStyle/>
          <a:p>
            <a:pPr indent="0" marL="0">
              <a:lnSpc>
                <a:spcPts val="1000"/>
              </a:lnSpc>
              <a:buNone/>
            </a:pPr>
            <a:r>
              <a:rPr lang="en-US" sz="850" b="1" spc="110" kern="0" dirty="0">
                <a:solidFill>
                  <a:srgbClr val="2ECC9A"/>
                </a:solidFill>
                <a:latin typeface="Calibri" pitchFamily="34" charset="0"/>
                <a:ea typeface="Calibri" pitchFamily="34" charset="-122"/>
                <a:cs typeface="Calibri" pitchFamily="34" charset="-120"/>
              </a:rPr>
              <a:t>5 INTEGRATION</a:t>
            </a:r>
            <a:endParaRPr lang="en-US" sz="850" dirty="0"/>
          </a:p>
        </p:txBody>
      </p:sp>
      <p:sp>
        <p:nvSpPr>
          <p:cNvPr id="46" name="Shape 44"/>
          <p:cNvSpPr/>
          <p:nvPr/>
        </p:nvSpPr>
        <p:spPr>
          <a:xfrm>
            <a:off x="2286000" y="4096512"/>
            <a:ext cx="1108253" cy="457200"/>
          </a:xfrm>
          <a:prstGeom prst="roundRect">
            <a:avLst>
              <a:gd name="adj" fmla="val 10000"/>
            </a:avLst>
          </a:prstGeom>
          <a:solidFill>
            <a:srgbClr val="0D2246"/>
          </a:solidFill>
          <a:ln w="9525">
            <a:solidFill>
              <a:srgbClr val="2ECC9A"/>
            </a:solidFill>
            <a:prstDash val="solid"/>
          </a:ln>
        </p:spPr>
      </p:sp>
      <p:sp>
        <p:nvSpPr>
          <p:cNvPr id="47" name="Text 45"/>
          <p:cNvSpPr/>
          <p:nvPr/>
        </p:nvSpPr>
        <p:spPr>
          <a:xfrm>
            <a:off x="2322576" y="4096512"/>
            <a:ext cx="1035101" cy="457200"/>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Sabre agentic</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APIs / MCP</a:t>
            </a:r>
            <a:endParaRPr lang="en-US" sz="750" dirty="0"/>
          </a:p>
        </p:txBody>
      </p:sp>
      <p:sp>
        <p:nvSpPr>
          <p:cNvPr id="48" name="Shape 46"/>
          <p:cNvSpPr/>
          <p:nvPr/>
        </p:nvSpPr>
        <p:spPr>
          <a:xfrm>
            <a:off x="3485693" y="4096512"/>
            <a:ext cx="1108253" cy="457200"/>
          </a:xfrm>
          <a:prstGeom prst="roundRect">
            <a:avLst>
              <a:gd name="adj" fmla="val 10000"/>
            </a:avLst>
          </a:prstGeom>
          <a:solidFill>
            <a:srgbClr val="0D2246"/>
          </a:solidFill>
          <a:ln w="9525">
            <a:solidFill>
              <a:srgbClr val="2ECC9A"/>
            </a:solidFill>
            <a:prstDash val="solid"/>
          </a:ln>
        </p:spPr>
      </p:sp>
      <p:sp>
        <p:nvSpPr>
          <p:cNvPr id="49" name="Text 47"/>
          <p:cNvSpPr/>
          <p:nvPr/>
        </p:nvSpPr>
        <p:spPr>
          <a:xfrm>
            <a:off x="3522269" y="4096512"/>
            <a:ext cx="1035101" cy="457200"/>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Lumo</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predictive</a:t>
            </a:r>
            <a:endParaRPr lang="en-US" sz="750" dirty="0"/>
          </a:p>
        </p:txBody>
      </p:sp>
      <p:sp>
        <p:nvSpPr>
          <p:cNvPr id="50" name="Shape 48"/>
          <p:cNvSpPr/>
          <p:nvPr/>
        </p:nvSpPr>
        <p:spPr>
          <a:xfrm>
            <a:off x="4685386" y="4096512"/>
            <a:ext cx="1108253" cy="457200"/>
          </a:xfrm>
          <a:prstGeom prst="roundRect">
            <a:avLst>
              <a:gd name="adj" fmla="val 10000"/>
            </a:avLst>
          </a:prstGeom>
          <a:solidFill>
            <a:srgbClr val="0D2246"/>
          </a:solidFill>
          <a:ln w="9525">
            <a:solidFill>
              <a:srgbClr val="2ECC9A"/>
            </a:solidFill>
            <a:prstDash val="solid"/>
          </a:ln>
        </p:spPr>
      </p:sp>
      <p:sp>
        <p:nvSpPr>
          <p:cNvPr id="51" name="Text 49"/>
          <p:cNvSpPr/>
          <p:nvPr/>
        </p:nvSpPr>
        <p:spPr>
          <a:xfrm>
            <a:off x="4721962" y="4096512"/>
            <a:ext cx="1035101" cy="457200"/>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Hotel CSL</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 ground</a:t>
            </a:r>
            <a:endParaRPr lang="en-US" sz="750" dirty="0"/>
          </a:p>
        </p:txBody>
      </p:sp>
      <p:sp>
        <p:nvSpPr>
          <p:cNvPr id="52" name="Shape 50"/>
          <p:cNvSpPr/>
          <p:nvPr/>
        </p:nvSpPr>
        <p:spPr>
          <a:xfrm>
            <a:off x="5885078" y="4096512"/>
            <a:ext cx="1108253" cy="457200"/>
          </a:xfrm>
          <a:prstGeom prst="roundRect">
            <a:avLst>
              <a:gd name="adj" fmla="val 10000"/>
            </a:avLst>
          </a:prstGeom>
          <a:solidFill>
            <a:srgbClr val="0D2246"/>
          </a:solidFill>
          <a:ln w="9525">
            <a:solidFill>
              <a:srgbClr val="2ECC9A"/>
            </a:solidFill>
            <a:prstDash val="solid"/>
          </a:ln>
        </p:spPr>
      </p:sp>
      <p:sp>
        <p:nvSpPr>
          <p:cNvPr id="53" name="Text 51"/>
          <p:cNvSpPr/>
          <p:nvPr/>
        </p:nvSpPr>
        <p:spPr>
          <a:xfrm>
            <a:off x="5921654" y="4096512"/>
            <a:ext cx="1035101" cy="457200"/>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Amex ACE</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 vPayment</a:t>
            </a:r>
            <a:endParaRPr lang="en-US" sz="750" dirty="0"/>
          </a:p>
        </p:txBody>
      </p:sp>
      <p:sp>
        <p:nvSpPr>
          <p:cNvPr id="54" name="Shape 52"/>
          <p:cNvSpPr/>
          <p:nvPr/>
        </p:nvSpPr>
        <p:spPr>
          <a:xfrm>
            <a:off x="7084771" y="4096512"/>
            <a:ext cx="1108253" cy="457200"/>
          </a:xfrm>
          <a:prstGeom prst="roundRect">
            <a:avLst>
              <a:gd name="adj" fmla="val 10000"/>
            </a:avLst>
          </a:prstGeom>
          <a:solidFill>
            <a:srgbClr val="0D2246"/>
          </a:solidFill>
          <a:ln w="9525">
            <a:solidFill>
              <a:srgbClr val="2ECC9A"/>
            </a:solidFill>
            <a:prstDash val="solid"/>
          </a:ln>
        </p:spPr>
      </p:sp>
      <p:sp>
        <p:nvSpPr>
          <p:cNvPr id="55" name="Text 53"/>
          <p:cNvSpPr/>
          <p:nvPr/>
        </p:nvSpPr>
        <p:spPr>
          <a:xfrm>
            <a:off x="7121347" y="4096512"/>
            <a:ext cx="1035101" cy="457200"/>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FCM v1</a:t>
            </a:r>
            <a:endParaRPr lang="en-US" sz="750" dirty="0"/>
          </a:p>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data messages</a:t>
            </a:r>
            <a:endParaRPr lang="en-US" sz="750" dirty="0"/>
          </a:p>
        </p:txBody>
      </p:sp>
      <p:sp>
        <p:nvSpPr>
          <p:cNvPr id="56" name="Shape 54"/>
          <p:cNvSpPr/>
          <p:nvPr/>
        </p:nvSpPr>
        <p:spPr>
          <a:xfrm>
            <a:off x="457200" y="4718304"/>
            <a:ext cx="7973568" cy="530352"/>
          </a:xfrm>
          <a:prstGeom prst="roundRect">
            <a:avLst>
              <a:gd name="adj" fmla="val 10345"/>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57" name="Text 55"/>
          <p:cNvSpPr/>
          <p:nvPr/>
        </p:nvSpPr>
        <p:spPr>
          <a:xfrm>
            <a:off x="621792" y="4773168"/>
            <a:ext cx="1572768" cy="420624"/>
          </a:xfrm>
          <a:prstGeom prst="rect">
            <a:avLst/>
          </a:prstGeom>
          <a:noFill/>
          <a:ln/>
        </p:spPr>
        <p:txBody>
          <a:bodyPr wrap="square" lIns="0" tIns="0" rIns="0" bIns="0" rtlCol="0" anchor="ctr"/>
          <a:lstStyle/>
          <a:p>
            <a:pPr indent="0" marL="0">
              <a:lnSpc>
                <a:spcPts val="1000"/>
              </a:lnSpc>
              <a:buNone/>
            </a:pPr>
            <a:r>
              <a:rPr lang="en-US" sz="850" b="1" spc="110" kern="0" dirty="0">
                <a:solidFill>
                  <a:srgbClr val="7B94BA"/>
                </a:solidFill>
                <a:latin typeface="Calibri" pitchFamily="34" charset="0"/>
                <a:ea typeface="Calibri" pitchFamily="34" charset="-122"/>
                <a:cs typeface="Calibri" pitchFamily="34" charset="-120"/>
              </a:rPr>
              <a:t>6 DATA &amp; AUDIT</a:t>
            </a:r>
            <a:endParaRPr lang="en-US" sz="850" dirty="0"/>
          </a:p>
        </p:txBody>
      </p:sp>
      <p:sp>
        <p:nvSpPr>
          <p:cNvPr id="58" name="Shape 56"/>
          <p:cNvSpPr/>
          <p:nvPr/>
        </p:nvSpPr>
        <p:spPr>
          <a:xfrm>
            <a:off x="2286000" y="4809744"/>
            <a:ext cx="1408176" cy="347472"/>
          </a:xfrm>
          <a:prstGeom prst="roundRect">
            <a:avLst>
              <a:gd name="adj" fmla="val 13158"/>
            </a:avLst>
          </a:prstGeom>
          <a:solidFill>
            <a:srgbClr val="0D2246"/>
          </a:solidFill>
          <a:ln w="9525">
            <a:solidFill>
              <a:srgbClr val="7B94BA"/>
            </a:solidFill>
            <a:prstDash val="solid"/>
          </a:ln>
        </p:spPr>
      </p:sp>
      <p:sp>
        <p:nvSpPr>
          <p:cNvPr id="59" name="Text 57"/>
          <p:cNvSpPr/>
          <p:nvPr/>
        </p:nvSpPr>
        <p:spPr>
          <a:xfrm>
            <a:off x="2322576" y="4809744"/>
            <a:ext cx="1335024" cy="347472"/>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Event bus</a:t>
            </a:r>
            <a:endParaRPr lang="en-US" sz="750" dirty="0"/>
          </a:p>
        </p:txBody>
      </p:sp>
      <p:sp>
        <p:nvSpPr>
          <p:cNvPr id="60" name="Shape 58"/>
          <p:cNvSpPr/>
          <p:nvPr/>
        </p:nvSpPr>
        <p:spPr>
          <a:xfrm>
            <a:off x="3785616" y="4809744"/>
            <a:ext cx="1408176" cy="347472"/>
          </a:xfrm>
          <a:prstGeom prst="roundRect">
            <a:avLst>
              <a:gd name="adj" fmla="val 13158"/>
            </a:avLst>
          </a:prstGeom>
          <a:solidFill>
            <a:srgbClr val="0D2246"/>
          </a:solidFill>
          <a:ln w="9525">
            <a:solidFill>
              <a:srgbClr val="7B94BA"/>
            </a:solidFill>
            <a:prstDash val="solid"/>
          </a:ln>
        </p:spPr>
      </p:sp>
      <p:sp>
        <p:nvSpPr>
          <p:cNvPr id="61" name="Text 59"/>
          <p:cNvSpPr/>
          <p:nvPr/>
        </p:nvSpPr>
        <p:spPr>
          <a:xfrm>
            <a:off x="3822192" y="4809744"/>
            <a:ext cx="1335024" cy="347472"/>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Feature store</a:t>
            </a:r>
            <a:endParaRPr lang="en-US" sz="750" dirty="0"/>
          </a:p>
        </p:txBody>
      </p:sp>
      <p:sp>
        <p:nvSpPr>
          <p:cNvPr id="62" name="Shape 60"/>
          <p:cNvSpPr/>
          <p:nvPr/>
        </p:nvSpPr>
        <p:spPr>
          <a:xfrm>
            <a:off x="5285232" y="4809744"/>
            <a:ext cx="1408176" cy="347472"/>
          </a:xfrm>
          <a:prstGeom prst="roundRect">
            <a:avLst>
              <a:gd name="adj" fmla="val 13158"/>
            </a:avLst>
          </a:prstGeom>
          <a:solidFill>
            <a:srgbClr val="0D2246"/>
          </a:solidFill>
          <a:ln w="9525">
            <a:solidFill>
              <a:srgbClr val="7B94BA"/>
            </a:solidFill>
            <a:prstDash val="solid"/>
          </a:ln>
        </p:spPr>
      </p:sp>
      <p:sp>
        <p:nvSpPr>
          <p:cNvPr id="63" name="Text 61"/>
          <p:cNvSpPr/>
          <p:nvPr/>
        </p:nvSpPr>
        <p:spPr>
          <a:xfrm>
            <a:off x="5321808" y="4809744"/>
            <a:ext cx="1335024" cy="347472"/>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Decision ledger</a:t>
            </a:r>
            <a:endParaRPr lang="en-US" sz="750" dirty="0"/>
          </a:p>
        </p:txBody>
      </p:sp>
      <p:sp>
        <p:nvSpPr>
          <p:cNvPr id="64" name="Shape 62"/>
          <p:cNvSpPr/>
          <p:nvPr/>
        </p:nvSpPr>
        <p:spPr>
          <a:xfrm>
            <a:off x="6784848" y="4809744"/>
            <a:ext cx="1408176" cy="347472"/>
          </a:xfrm>
          <a:prstGeom prst="roundRect">
            <a:avLst>
              <a:gd name="adj" fmla="val 13158"/>
            </a:avLst>
          </a:prstGeom>
          <a:solidFill>
            <a:srgbClr val="0D2246"/>
          </a:solidFill>
          <a:ln w="9525">
            <a:solidFill>
              <a:srgbClr val="7B94BA"/>
            </a:solidFill>
            <a:prstDash val="solid"/>
          </a:ln>
        </p:spPr>
      </p:sp>
      <p:sp>
        <p:nvSpPr>
          <p:cNvPr id="65" name="Text 63"/>
          <p:cNvSpPr/>
          <p:nvPr/>
        </p:nvSpPr>
        <p:spPr>
          <a:xfrm>
            <a:off x="6821424" y="4809744"/>
            <a:ext cx="1335024" cy="347472"/>
          </a:xfrm>
          <a:prstGeom prst="rect">
            <a:avLst/>
          </a:prstGeom>
          <a:noFill/>
          <a:ln/>
        </p:spPr>
        <p:txBody>
          <a:bodyPr wrap="square" lIns="0" tIns="0" rIns="0" bIns="0" rtlCol="0" anchor="ctr"/>
          <a:lstStyle/>
          <a:p>
            <a:pPr algn="ctr" indent="0" marL="0">
              <a:lnSpc>
                <a:spcPts val="950"/>
              </a:lnSpc>
              <a:buNone/>
            </a:pPr>
            <a:r>
              <a:rPr lang="en-US" sz="750" dirty="0">
                <a:solidFill>
                  <a:srgbClr val="E8F0FB"/>
                </a:solidFill>
                <a:latin typeface="Calibri" pitchFamily="34" charset="0"/>
                <a:ea typeface="Calibri" pitchFamily="34" charset="-122"/>
                <a:cs typeface="Calibri" pitchFamily="34" charset="-120"/>
              </a:rPr>
              <a:t>BigQuery KPI</a:t>
            </a:r>
            <a:endParaRPr lang="en-US" sz="750" dirty="0"/>
          </a:p>
        </p:txBody>
      </p:sp>
      <p:sp>
        <p:nvSpPr>
          <p:cNvPr id="66" name="Shape 64"/>
          <p:cNvSpPr/>
          <p:nvPr/>
        </p:nvSpPr>
        <p:spPr>
          <a:xfrm>
            <a:off x="8613648" y="1152144"/>
            <a:ext cx="3118104" cy="4096512"/>
          </a:xfrm>
          <a:prstGeom prst="roundRect">
            <a:avLst>
              <a:gd name="adj" fmla="val 1760"/>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67" name="Text 65"/>
          <p:cNvSpPr/>
          <p:nvPr/>
        </p:nvSpPr>
        <p:spPr>
          <a:xfrm>
            <a:off x="8814816" y="1261872"/>
            <a:ext cx="2743200" cy="219456"/>
          </a:xfrm>
          <a:prstGeom prst="rect">
            <a:avLst/>
          </a:prstGeom>
          <a:noFill/>
          <a:ln/>
        </p:spPr>
        <p:txBody>
          <a:bodyPr wrap="square" lIns="0" tIns="0" rIns="0" bIns="0" rtlCol="0" anchor="ctr"/>
          <a:lstStyle/>
          <a:p>
            <a:pPr indent="0" marL="0">
              <a:buNone/>
            </a:pPr>
            <a:r>
              <a:rPr lang="en-US" sz="850" b="1" spc="130" kern="0" dirty="0">
                <a:solidFill>
                  <a:srgbClr val="3D9CFF"/>
                </a:solidFill>
                <a:latin typeface="Calibri" pitchFamily="34" charset="0"/>
                <a:ea typeface="Calibri" pitchFamily="34" charset="-122"/>
                <a:cs typeface="Calibri" pitchFamily="34" charset="-120"/>
              </a:rPr>
              <a:t>THE RECOVERY, IN SIX STEPS</a:t>
            </a:r>
            <a:endParaRPr lang="en-US" sz="850" dirty="0"/>
          </a:p>
        </p:txBody>
      </p:sp>
      <p:sp>
        <p:nvSpPr>
          <p:cNvPr id="68" name="Text 66"/>
          <p:cNvSpPr/>
          <p:nvPr/>
        </p:nvSpPr>
        <p:spPr>
          <a:xfrm>
            <a:off x="8814816" y="1554480"/>
            <a:ext cx="384048" cy="256032"/>
          </a:xfrm>
          <a:prstGeom prst="rect">
            <a:avLst/>
          </a:prstGeom>
          <a:noFill/>
          <a:ln/>
        </p:spPr>
        <p:txBody>
          <a:bodyPr wrap="square" lIns="0" tIns="0" rIns="0" bIns="0" rtlCol="0" anchor="ctr"/>
          <a:lstStyle/>
          <a:p>
            <a:pPr indent="0" marL="0">
              <a:buNone/>
            </a:pPr>
            <a:r>
              <a:rPr lang="en-US" sz="950" b="1" dirty="0">
                <a:solidFill>
                  <a:srgbClr val="3D9CFF"/>
                </a:solidFill>
                <a:latin typeface="Courier New" pitchFamily="34" charset="0"/>
                <a:ea typeface="Courier New" pitchFamily="34" charset="-122"/>
                <a:cs typeface="Courier New" pitchFamily="34" charset="-120"/>
              </a:rPr>
              <a:t>01</a:t>
            </a:r>
            <a:endParaRPr lang="en-US" sz="950" dirty="0"/>
          </a:p>
        </p:txBody>
      </p:sp>
      <p:sp>
        <p:nvSpPr>
          <p:cNvPr id="69" name="Text 67"/>
          <p:cNvSpPr/>
          <p:nvPr/>
        </p:nvSpPr>
        <p:spPr>
          <a:xfrm>
            <a:off x="9235440" y="1527048"/>
            <a:ext cx="233172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Disruption signal</a:t>
            </a:r>
            <a:endParaRPr lang="en-US" sz="1000" dirty="0"/>
          </a:p>
        </p:txBody>
      </p:sp>
      <p:sp>
        <p:nvSpPr>
          <p:cNvPr id="70" name="Text 68"/>
          <p:cNvSpPr/>
          <p:nvPr/>
        </p:nvSpPr>
        <p:spPr>
          <a:xfrm>
            <a:off x="9235440" y="1737360"/>
            <a:ext cx="2331720" cy="201168"/>
          </a:xfrm>
          <a:prstGeom prst="rect">
            <a:avLst/>
          </a:prstGeom>
          <a:noFill/>
          <a:ln/>
        </p:spPr>
        <p:txBody>
          <a:bodyPr wrap="square" lIns="0" tIns="0" rIns="0" bIns="0" rtlCol="0" anchor="ctr"/>
          <a:lstStyle/>
          <a:p>
            <a:pPr indent="0" marL="0">
              <a:buNone/>
            </a:pPr>
            <a:r>
              <a:rPr lang="en-US" sz="800" dirty="0">
                <a:solidFill>
                  <a:srgbClr val="A9BEDC"/>
                </a:solidFill>
                <a:latin typeface="Calibri" pitchFamily="34" charset="0"/>
                <a:ea typeface="Calibri" pitchFamily="34" charset="-122"/>
                <a:cs typeface="Calibri" pitchFamily="34" charset="-120"/>
              </a:rPr>
              <a:t>webhook / prediction</a:t>
            </a:r>
            <a:endParaRPr lang="en-US" sz="800" dirty="0"/>
          </a:p>
        </p:txBody>
      </p:sp>
      <p:sp>
        <p:nvSpPr>
          <p:cNvPr id="71" name="Text 69"/>
          <p:cNvSpPr/>
          <p:nvPr/>
        </p:nvSpPr>
        <p:spPr>
          <a:xfrm>
            <a:off x="8814816" y="2103120"/>
            <a:ext cx="384048" cy="256032"/>
          </a:xfrm>
          <a:prstGeom prst="rect">
            <a:avLst/>
          </a:prstGeom>
          <a:noFill/>
          <a:ln/>
        </p:spPr>
        <p:txBody>
          <a:bodyPr wrap="square" lIns="0" tIns="0" rIns="0" bIns="0" rtlCol="0" anchor="ctr"/>
          <a:lstStyle/>
          <a:p>
            <a:pPr indent="0" marL="0">
              <a:buNone/>
            </a:pPr>
            <a:r>
              <a:rPr lang="en-US" sz="950" b="1" dirty="0">
                <a:solidFill>
                  <a:srgbClr val="3D9CFF"/>
                </a:solidFill>
                <a:latin typeface="Courier New" pitchFamily="34" charset="0"/>
                <a:ea typeface="Courier New" pitchFamily="34" charset="-122"/>
                <a:cs typeface="Courier New" pitchFamily="34" charset="-120"/>
              </a:rPr>
              <a:t>02</a:t>
            </a:r>
            <a:endParaRPr lang="en-US" sz="950" dirty="0"/>
          </a:p>
        </p:txBody>
      </p:sp>
      <p:sp>
        <p:nvSpPr>
          <p:cNvPr id="72" name="Text 70"/>
          <p:cNvSpPr/>
          <p:nvPr/>
        </p:nvSpPr>
        <p:spPr>
          <a:xfrm>
            <a:off x="9235440" y="2075688"/>
            <a:ext cx="233172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Context assembly</a:t>
            </a:r>
            <a:endParaRPr lang="en-US" sz="1000" dirty="0"/>
          </a:p>
        </p:txBody>
      </p:sp>
      <p:sp>
        <p:nvSpPr>
          <p:cNvPr id="73" name="Text 71"/>
          <p:cNvSpPr/>
          <p:nvPr/>
        </p:nvSpPr>
        <p:spPr>
          <a:xfrm>
            <a:off x="9235440" y="2286000"/>
            <a:ext cx="2331720" cy="201168"/>
          </a:xfrm>
          <a:prstGeom prst="rect">
            <a:avLst/>
          </a:prstGeom>
          <a:noFill/>
          <a:ln/>
        </p:spPr>
        <p:txBody>
          <a:bodyPr wrap="square" lIns="0" tIns="0" rIns="0" bIns="0" rtlCol="0" anchor="ctr"/>
          <a:lstStyle/>
          <a:p>
            <a:pPr indent="0" marL="0">
              <a:buNone/>
            </a:pPr>
            <a:r>
              <a:rPr lang="en-US" sz="800" dirty="0">
                <a:solidFill>
                  <a:srgbClr val="A9BEDC"/>
                </a:solidFill>
                <a:latin typeface="Calibri" pitchFamily="34" charset="0"/>
                <a:ea typeface="Calibri" pitchFamily="34" charset="-122"/>
                <a:cs typeface="Calibri" pitchFamily="34" charset="-120"/>
              </a:rPr>
              <a:t>PNR · DAG · benefits</a:t>
            </a:r>
            <a:endParaRPr lang="en-US" sz="800" dirty="0"/>
          </a:p>
        </p:txBody>
      </p:sp>
      <p:sp>
        <p:nvSpPr>
          <p:cNvPr id="74" name="Text 72"/>
          <p:cNvSpPr/>
          <p:nvPr/>
        </p:nvSpPr>
        <p:spPr>
          <a:xfrm>
            <a:off x="8814816" y="2651760"/>
            <a:ext cx="384048" cy="256032"/>
          </a:xfrm>
          <a:prstGeom prst="rect">
            <a:avLst/>
          </a:prstGeom>
          <a:noFill/>
          <a:ln/>
        </p:spPr>
        <p:txBody>
          <a:bodyPr wrap="square" lIns="0" tIns="0" rIns="0" bIns="0" rtlCol="0" anchor="ctr"/>
          <a:lstStyle/>
          <a:p>
            <a:pPr indent="0" marL="0">
              <a:buNone/>
            </a:pPr>
            <a:r>
              <a:rPr lang="en-US" sz="950" b="1" dirty="0">
                <a:solidFill>
                  <a:srgbClr val="3D9CFF"/>
                </a:solidFill>
                <a:latin typeface="Courier New" pitchFamily="34" charset="0"/>
                <a:ea typeface="Courier New" pitchFamily="34" charset="-122"/>
                <a:cs typeface="Courier New" pitchFamily="34" charset="-120"/>
              </a:rPr>
              <a:t>03</a:t>
            </a:r>
            <a:endParaRPr lang="en-US" sz="950" dirty="0"/>
          </a:p>
        </p:txBody>
      </p:sp>
      <p:sp>
        <p:nvSpPr>
          <p:cNvPr id="75" name="Text 73"/>
          <p:cNvSpPr/>
          <p:nvPr/>
        </p:nvSpPr>
        <p:spPr>
          <a:xfrm>
            <a:off x="9235440" y="2624328"/>
            <a:ext cx="233172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Option generation</a:t>
            </a:r>
            <a:endParaRPr lang="en-US" sz="1000" dirty="0"/>
          </a:p>
        </p:txBody>
      </p:sp>
      <p:sp>
        <p:nvSpPr>
          <p:cNvPr id="76" name="Text 74"/>
          <p:cNvSpPr/>
          <p:nvPr/>
        </p:nvSpPr>
        <p:spPr>
          <a:xfrm>
            <a:off x="9235440" y="2834640"/>
            <a:ext cx="2331720" cy="201168"/>
          </a:xfrm>
          <a:prstGeom prst="rect">
            <a:avLst/>
          </a:prstGeom>
          <a:noFill/>
          <a:ln/>
        </p:spPr>
        <p:txBody>
          <a:bodyPr wrap="square" lIns="0" tIns="0" rIns="0" bIns="0" rtlCol="0" anchor="ctr"/>
          <a:lstStyle/>
          <a:p>
            <a:pPr indent="0" marL="0">
              <a:buNone/>
            </a:pPr>
            <a:r>
              <a:rPr lang="en-US" sz="800" dirty="0">
                <a:solidFill>
                  <a:srgbClr val="A9BEDC"/>
                </a:solidFill>
                <a:latin typeface="Calibri" pitchFamily="34" charset="0"/>
                <a:ea typeface="Calibri" pitchFamily="34" charset="-122"/>
                <a:cs typeface="Calibri" pitchFamily="34" charset="-120"/>
              </a:rPr>
              <a:t>reshop + lodging + ground</a:t>
            </a:r>
            <a:endParaRPr lang="en-US" sz="800" dirty="0"/>
          </a:p>
        </p:txBody>
      </p:sp>
      <p:sp>
        <p:nvSpPr>
          <p:cNvPr id="77" name="Text 75"/>
          <p:cNvSpPr/>
          <p:nvPr/>
        </p:nvSpPr>
        <p:spPr>
          <a:xfrm>
            <a:off x="8814816" y="3200400"/>
            <a:ext cx="384048" cy="256032"/>
          </a:xfrm>
          <a:prstGeom prst="rect">
            <a:avLst/>
          </a:prstGeom>
          <a:noFill/>
          <a:ln/>
        </p:spPr>
        <p:txBody>
          <a:bodyPr wrap="square" lIns="0" tIns="0" rIns="0" bIns="0" rtlCol="0" anchor="ctr"/>
          <a:lstStyle/>
          <a:p>
            <a:pPr indent="0" marL="0">
              <a:buNone/>
            </a:pPr>
            <a:r>
              <a:rPr lang="en-US" sz="950" b="1" dirty="0">
                <a:solidFill>
                  <a:srgbClr val="FFB020"/>
                </a:solidFill>
                <a:latin typeface="Courier New" pitchFamily="34" charset="0"/>
                <a:ea typeface="Courier New" pitchFamily="34" charset="-122"/>
                <a:cs typeface="Courier New" pitchFamily="34" charset="-120"/>
              </a:rPr>
              <a:t>04</a:t>
            </a:r>
            <a:endParaRPr lang="en-US" sz="950" dirty="0"/>
          </a:p>
        </p:txBody>
      </p:sp>
      <p:sp>
        <p:nvSpPr>
          <p:cNvPr id="78" name="Text 76"/>
          <p:cNvSpPr/>
          <p:nvPr/>
        </p:nvSpPr>
        <p:spPr>
          <a:xfrm>
            <a:off x="9235440" y="3172968"/>
            <a:ext cx="233172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Policy evaluation</a:t>
            </a:r>
            <a:endParaRPr lang="en-US" sz="1000" dirty="0"/>
          </a:p>
        </p:txBody>
      </p:sp>
      <p:sp>
        <p:nvSpPr>
          <p:cNvPr id="79" name="Text 77"/>
          <p:cNvSpPr/>
          <p:nvPr/>
        </p:nvSpPr>
        <p:spPr>
          <a:xfrm>
            <a:off x="9235440" y="3383280"/>
            <a:ext cx="2331720" cy="201168"/>
          </a:xfrm>
          <a:prstGeom prst="rect">
            <a:avLst/>
          </a:prstGeom>
          <a:noFill/>
          <a:ln/>
        </p:spPr>
        <p:txBody>
          <a:bodyPr wrap="square" lIns="0" tIns="0" rIns="0" bIns="0" rtlCol="0" anchor="ctr"/>
          <a:lstStyle/>
          <a:p>
            <a:pPr indent="0" marL="0">
              <a:buNone/>
            </a:pPr>
            <a:r>
              <a:rPr lang="en-US" sz="800" dirty="0">
                <a:solidFill>
                  <a:srgbClr val="A9BEDC"/>
                </a:solidFill>
                <a:latin typeface="Calibri" pitchFamily="34" charset="0"/>
                <a:ea typeface="Calibri" pitchFamily="34" charset="-122"/>
                <a:cs typeface="Calibri" pitchFamily="34" charset="-120"/>
              </a:rPr>
              <a:t>OPA admits or denies</a:t>
            </a:r>
            <a:endParaRPr lang="en-US" sz="800" dirty="0"/>
          </a:p>
        </p:txBody>
      </p:sp>
      <p:sp>
        <p:nvSpPr>
          <p:cNvPr id="80" name="Text 78"/>
          <p:cNvSpPr/>
          <p:nvPr/>
        </p:nvSpPr>
        <p:spPr>
          <a:xfrm>
            <a:off x="8814816" y="3749040"/>
            <a:ext cx="384048" cy="256032"/>
          </a:xfrm>
          <a:prstGeom prst="rect">
            <a:avLst/>
          </a:prstGeom>
          <a:noFill/>
          <a:ln/>
        </p:spPr>
        <p:txBody>
          <a:bodyPr wrap="square" lIns="0" tIns="0" rIns="0" bIns="0" rtlCol="0" anchor="ctr"/>
          <a:lstStyle/>
          <a:p>
            <a:pPr indent="0" marL="0">
              <a:buNone/>
            </a:pPr>
            <a:r>
              <a:rPr lang="en-US" sz="950" b="1" dirty="0">
                <a:solidFill>
                  <a:srgbClr val="3D9CFF"/>
                </a:solidFill>
                <a:latin typeface="Courier New" pitchFamily="34" charset="0"/>
                <a:ea typeface="Courier New" pitchFamily="34" charset="-122"/>
                <a:cs typeface="Courier New" pitchFamily="34" charset="-120"/>
              </a:rPr>
              <a:t>05</a:t>
            </a:r>
            <a:endParaRPr lang="en-US" sz="950" dirty="0"/>
          </a:p>
        </p:txBody>
      </p:sp>
      <p:sp>
        <p:nvSpPr>
          <p:cNvPr id="81" name="Text 79"/>
          <p:cNvSpPr/>
          <p:nvPr/>
        </p:nvSpPr>
        <p:spPr>
          <a:xfrm>
            <a:off x="9235440" y="3721608"/>
            <a:ext cx="233172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Saga execution</a:t>
            </a:r>
            <a:endParaRPr lang="en-US" sz="1000" dirty="0"/>
          </a:p>
        </p:txBody>
      </p:sp>
      <p:sp>
        <p:nvSpPr>
          <p:cNvPr id="82" name="Text 80"/>
          <p:cNvSpPr/>
          <p:nvPr/>
        </p:nvSpPr>
        <p:spPr>
          <a:xfrm>
            <a:off x="9235440" y="3931920"/>
            <a:ext cx="2331720" cy="201168"/>
          </a:xfrm>
          <a:prstGeom prst="rect">
            <a:avLst/>
          </a:prstGeom>
          <a:noFill/>
          <a:ln/>
        </p:spPr>
        <p:txBody>
          <a:bodyPr wrap="square" lIns="0" tIns="0" rIns="0" bIns="0" rtlCol="0" anchor="ctr"/>
          <a:lstStyle/>
          <a:p>
            <a:pPr indent="0" marL="0">
              <a:buNone/>
            </a:pPr>
            <a:r>
              <a:rPr lang="en-US" sz="800" dirty="0">
                <a:solidFill>
                  <a:srgbClr val="A9BEDC"/>
                </a:solidFill>
                <a:latin typeface="Calibri" pitchFamily="34" charset="0"/>
                <a:ea typeface="Calibri" pitchFamily="34" charset="-122"/>
                <a:cs typeface="Calibri" pitchFamily="34" charset="-120"/>
              </a:rPr>
              <a:t>compensation registered first</a:t>
            </a:r>
            <a:endParaRPr lang="en-US" sz="800" dirty="0"/>
          </a:p>
        </p:txBody>
      </p:sp>
      <p:sp>
        <p:nvSpPr>
          <p:cNvPr id="83" name="Text 81"/>
          <p:cNvSpPr/>
          <p:nvPr/>
        </p:nvSpPr>
        <p:spPr>
          <a:xfrm>
            <a:off x="8814816" y="4297680"/>
            <a:ext cx="384048" cy="256032"/>
          </a:xfrm>
          <a:prstGeom prst="rect">
            <a:avLst/>
          </a:prstGeom>
          <a:noFill/>
          <a:ln/>
        </p:spPr>
        <p:txBody>
          <a:bodyPr wrap="square" lIns="0" tIns="0" rIns="0" bIns="0" rtlCol="0" anchor="ctr"/>
          <a:lstStyle/>
          <a:p>
            <a:pPr indent="0" marL="0">
              <a:buNone/>
            </a:pPr>
            <a:r>
              <a:rPr lang="en-US" sz="950" b="1" dirty="0">
                <a:solidFill>
                  <a:srgbClr val="2ECC9A"/>
                </a:solidFill>
                <a:latin typeface="Courier New" pitchFamily="34" charset="0"/>
                <a:ea typeface="Courier New" pitchFamily="34" charset="-122"/>
                <a:cs typeface="Courier New" pitchFamily="34" charset="-120"/>
              </a:rPr>
              <a:t>06</a:t>
            </a:r>
            <a:endParaRPr lang="en-US" sz="950" dirty="0"/>
          </a:p>
        </p:txBody>
      </p:sp>
      <p:sp>
        <p:nvSpPr>
          <p:cNvPr id="84" name="Text 82"/>
          <p:cNvSpPr/>
          <p:nvPr/>
        </p:nvSpPr>
        <p:spPr>
          <a:xfrm>
            <a:off x="9235440" y="4270248"/>
            <a:ext cx="233172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Settlement + notify</a:t>
            </a:r>
            <a:endParaRPr lang="en-US" sz="1000" dirty="0"/>
          </a:p>
        </p:txBody>
      </p:sp>
      <p:sp>
        <p:nvSpPr>
          <p:cNvPr id="85" name="Text 83"/>
          <p:cNvSpPr/>
          <p:nvPr/>
        </p:nvSpPr>
        <p:spPr>
          <a:xfrm>
            <a:off x="9235440" y="4480560"/>
            <a:ext cx="2331720" cy="201168"/>
          </a:xfrm>
          <a:prstGeom prst="rect">
            <a:avLst/>
          </a:prstGeom>
          <a:noFill/>
          <a:ln/>
        </p:spPr>
        <p:txBody>
          <a:bodyPr wrap="square" lIns="0" tIns="0" rIns="0" bIns="0" rtlCol="0" anchor="ctr"/>
          <a:lstStyle/>
          <a:p>
            <a:pPr indent="0" marL="0">
              <a:buNone/>
            </a:pPr>
            <a:r>
              <a:rPr lang="en-US" sz="800" dirty="0">
                <a:solidFill>
                  <a:srgbClr val="A9BEDC"/>
                </a:solidFill>
                <a:latin typeface="Calibri" pitchFamily="34" charset="0"/>
                <a:ea typeface="Calibri" pitchFamily="34" charset="-122"/>
                <a:cs typeface="Calibri" pitchFamily="34" charset="-120"/>
              </a:rPr>
              <a:t>vPayment VAN, then FCM</a:t>
            </a:r>
            <a:endParaRPr lang="en-US" sz="800" dirty="0"/>
          </a:p>
        </p:txBody>
      </p:sp>
      <p:sp>
        <p:nvSpPr>
          <p:cNvPr id="86" name="Shape 84"/>
          <p:cNvSpPr/>
          <p:nvPr/>
        </p:nvSpPr>
        <p:spPr>
          <a:xfrm>
            <a:off x="8796528" y="4864608"/>
            <a:ext cx="2752344" cy="310896"/>
          </a:xfrm>
          <a:prstGeom prst="roundRect">
            <a:avLst>
              <a:gd name="adj" fmla="val 17647"/>
            </a:avLst>
          </a:prstGeom>
          <a:solidFill>
            <a:srgbClr val="0D2246"/>
          </a:solidFill>
          <a:ln w="6350">
            <a:solidFill>
              <a:srgbClr val="0D2246"/>
            </a:solidFill>
            <a:prstDash val="solid"/>
          </a:ln>
          <a:effectLst>
            <a:outerShdw sx="100000" sy="100000" kx="0" ky="0" algn="bl" rotWithShape="0" blurRad="114300" dist="25400" dir="5400000">
              <a:srgbClr val="000000">
                <a:alpha val="34000"/>
              </a:srgbClr>
            </a:outerShdw>
          </a:effectLst>
        </p:spPr>
      </p:sp>
      <p:sp>
        <p:nvSpPr>
          <p:cNvPr id="87" name="Text 85"/>
          <p:cNvSpPr/>
          <p:nvPr/>
        </p:nvSpPr>
        <p:spPr>
          <a:xfrm>
            <a:off x="8796528" y="4864608"/>
            <a:ext cx="2752344" cy="310896"/>
          </a:xfrm>
          <a:prstGeom prst="rect">
            <a:avLst/>
          </a:prstGeom>
          <a:noFill/>
          <a:ln/>
        </p:spPr>
        <p:txBody>
          <a:bodyPr wrap="square" lIns="0" tIns="0" rIns="0" bIns="0" rtlCol="0" anchor="ctr"/>
          <a:lstStyle/>
          <a:p>
            <a:pPr algn="ctr" indent="0" marL="0">
              <a:buNone/>
            </a:pPr>
            <a:r>
              <a:rPr lang="en-US" sz="850" dirty="0">
                <a:solidFill>
                  <a:srgbClr val="FFB020"/>
                </a:solidFill>
                <a:latin typeface="Calibri" pitchFamily="34" charset="0"/>
                <a:ea typeface="Calibri" pitchFamily="34" charset="-122"/>
                <a:cs typeface="Calibri" pitchFamily="34" charset="-120"/>
              </a:rPr>
              <a:t>deny at 04  →  escalate to pipeline 04</a:t>
            </a:r>
            <a:endParaRPr lang="en-US" sz="850" dirty="0"/>
          </a:p>
        </p:txBody>
      </p:sp>
      <p:sp>
        <p:nvSpPr>
          <p:cNvPr id="88" name="Shape 86"/>
          <p:cNvSpPr/>
          <p:nvPr/>
        </p:nvSpPr>
        <p:spPr>
          <a:xfrm>
            <a:off x="457200" y="5358384"/>
            <a:ext cx="11274552" cy="512064"/>
          </a:xfrm>
          <a:prstGeom prst="roundRect">
            <a:avLst>
              <a:gd name="adj" fmla="val 10714"/>
            </a:avLst>
          </a:prstGeom>
          <a:solidFill>
            <a:srgbClr val="1B3A69"/>
          </a:solidFill>
          <a:ln w="6350">
            <a:solidFill>
              <a:srgbClr val="1B3A69"/>
            </a:solidFill>
            <a:prstDash val="solid"/>
          </a:ln>
          <a:effectLst>
            <a:outerShdw sx="100000" sy="100000" kx="0" ky="0" algn="bl" rotWithShape="0" blurRad="114300" dist="25400" dir="5400000">
              <a:srgbClr val="000000">
                <a:alpha val="34000"/>
              </a:srgbClr>
            </a:outerShdw>
          </a:effectLst>
        </p:spPr>
      </p:sp>
      <p:sp>
        <p:nvSpPr>
          <p:cNvPr id="89" name="Text 87"/>
          <p:cNvSpPr/>
          <p:nvPr/>
        </p:nvSpPr>
        <p:spPr>
          <a:xfrm>
            <a:off x="457200" y="5358384"/>
            <a:ext cx="11274552" cy="512064"/>
          </a:xfrm>
          <a:prstGeom prst="rect">
            <a:avLst/>
          </a:prstGeom>
          <a:noFill/>
          <a:ln/>
        </p:spPr>
        <p:txBody>
          <a:bodyPr wrap="square" lIns="0" tIns="0" rIns="0" bIns="0" rtlCol="0" anchor="ctr"/>
          <a:lstStyle/>
          <a:p>
            <a:pPr algn="ctr" indent="0" marL="0">
              <a:buNone/>
            </a:pPr>
            <a:r>
              <a:rPr lang="en-US" sz="1050" dirty="0">
                <a:solidFill>
                  <a:srgbClr val="3D9CFF"/>
                </a:solidFill>
                <a:latin typeface="Courier New" pitchFamily="34" charset="0"/>
                <a:ea typeface="Courier New" pitchFamily="34" charset="-122"/>
                <a:cs typeface="Courier New" pitchFamily="34" charset="-120"/>
              </a:rPr>
              <a:t>invariant:   every executed side effect   ⇒   exactly one OPA allow decision   ∧   exactly one registered compensation</a:t>
            </a:r>
            <a:endParaRPr lang="en-US" sz="1050" dirty="0"/>
          </a:p>
        </p:txBody>
      </p:sp>
      <p:sp>
        <p:nvSpPr>
          <p:cNvPr id="90" name="Text 88"/>
          <p:cNvSpPr/>
          <p:nvPr/>
        </p:nvSpPr>
        <p:spPr>
          <a:xfrm>
            <a:off x="457200" y="5943600"/>
            <a:ext cx="11274552" cy="274320"/>
          </a:xfrm>
          <a:prstGeom prst="rect">
            <a:avLst/>
          </a:prstGeom>
          <a:noFill/>
          <a:ln/>
        </p:spPr>
        <p:txBody>
          <a:bodyPr wrap="square" lIns="0" tIns="0" rIns="0" bIns="0" rtlCol="0" anchor="ctr"/>
          <a:lstStyle/>
          <a:p>
            <a:pPr indent="0" marL="0">
              <a:buNone/>
            </a:pPr>
            <a:r>
              <a:rPr lang="en-US" sz="900" i="1" dirty="0">
                <a:solidFill>
                  <a:srgbClr val="A9BEDC"/>
                </a:solidFill>
                <a:latin typeface="Calibri" pitchFamily="34" charset="0"/>
                <a:ea typeface="Calibri" pitchFamily="34" charset="-122"/>
                <a:cs typeface="Calibri" pitchFamily="34" charset="-120"/>
              </a:rPr>
              <a:t>Testable, not aspirational: a property test asserts the decision ledger and the compensation registry each hold one matching entry for every side effect in the workflow history.</a:t>
            </a:r>
            <a:endParaRPr lang="en-US" sz="900" dirty="0"/>
          </a:p>
        </p:txBody>
      </p:sp>
      <p:sp>
        <p:nvSpPr>
          <p:cNvPr id="91" name="Text 89"/>
          <p:cNvSpPr/>
          <p:nvPr/>
        </p:nvSpPr>
        <p:spPr>
          <a:xfrm>
            <a:off x="457200" y="6382512"/>
            <a:ext cx="11274552" cy="310896"/>
          </a:xfrm>
          <a:prstGeom prst="rect">
            <a:avLst/>
          </a:prstGeom>
          <a:noFill/>
          <a:ln/>
        </p:spPr>
        <p:txBody>
          <a:bodyPr wrap="square" lIns="0" tIns="0" rIns="0" bIns="0" rtlCol="0" anchor="t"/>
          <a:lstStyle/>
          <a:p>
            <a:pPr indent="0" marL="0">
              <a:buNone/>
            </a:pPr>
            <a:r>
              <a:rPr lang="en-US" sz="750" b="1" spc="120" kern="0" dirty="0">
                <a:solidFill>
                  <a:srgbClr val="7B94BA"/>
                </a:solidFill>
                <a:latin typeface="Calibri" pitchFamily="34" charset="0"/>
                <a:ea typeface="Calibri" pitchFamily="34" charset="-122"/>
                <a:cs typeface="Calibri" pitchFamily="34" charset="-120"/>
              </a:rPr>
              <a:t>SOURCES  </a:t>
            </a:r>
            <a:pPr indent="0" marL="0">
              <a:buNone/>
            </a:pPr>
            <a:r>
              <a:rPr lang="en-US" sz="750" dirty="0">
                <a:solidFill>
                  <a:srgbClr val="7B94BA"/>
                </a:solidFill>
                <a:latin typeface="Calibri" pitchFamily="34" charset="0"/>
                <a:ea typeface="Calibri" pitchFamily="34" charset="-122"/>
                <a:cs typeface="Calibri" pitchFamily="34" charset="-120"/>
              </a:rPr>
              <a:t>Original architecture. Component capabilities: Sabre developer hub; Lumo API reference; Amex ACE / vPayment; Firebase Cloud Messaging; Temporal.io; Open Policy Agent.</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B3D"/>
        </a:solidFill>
      </p:bgPr>
    </p:bg>
    <p:spTree>
      <p:nvGrpSpPr>
        <p:cNvPr id="1" name=""/>
        <p:cNvGrpSpPr/>
        <p:nvPr/>
      </p:nvGrpSpPr>
      <p:grpSpPr>
        <a:xfrm>
          <a:off x="0" y="0"/>
          <a:ext cx="0" cy="0"/>
          <a:chOff x="0" y="0"/>
          <a:chExt cx="0" cy="0"/>
        </a:xfrm>
      </p:grpSpPr>
      <p:sp>
        <p:nvSpPr>
          <p:cNvPr id="2" name="Text 0"/>
          <p:cNvSpPr/>
          <p:nvPr/>
        </p:nvSpPr>
        <p:spPr>
          <a:xfrm>
            <a:off x="457200" y="146304"/>
            <a:ext cx="8229600" cy="201168"/>
          </a:xfrm>
          <a:prstGeom prst="rect">
            <a:avLst/>
          </a:prstGeom>
          <a:noFill/>
          <a:ln/>
        </p:spPr>
        <p:txBody>
          <a:bodyPr wrap="square" lIns="0" tIns="0" rIns="0" bIns="0" rtlCol="0" anchor="ctr"/>
          <a:lstStyle/>
          <a:p>
            <a:pPr indent="0" marL="0">
              <a:buNone/>
            </a:pPr>
            <a:r>
              <a:rPr lang="en-US" sz="850" b="1" spc="220" kern="0" dirty="0">
                <a:solidFill>
                  <a:srgbClr val="3D9CFF"/>
                </a:solidFill>
                <a:latin typeface="Calibri" pitchFamily="34" charset="0"/>
                <a:ea typeface="Calibri" pitchFamily="34" charset="-122"/>
                <a:cs typeface="Calibri" pitchFamily="34" charset="-120"/>
              </a:rPr>
              <a:t>05 · TRUST &amp; POLICY LIMITS</a:t>
            </a:r>
            <a:endParaRPr lang="en-US" sz="850" dirty="0"/>
          </a:p>
        </p:txBody>
      </p:sp>
      <p:sp>
        <p:nvSpPr>
          <p:cNvPr id="3" name="Text 1"/>
          <p:cNvSpPr/>
          <p:nvPr/>
        </p:nvSpPr>
        <p:spPr>
          <a:xfrm>
            <a:off x="11155680" y="146304"/>
            <a:ext cx="576072" cy="201168"/>
          </a:xfrm>
          <a:prstGeom prst="rect">
            <a:avLst/>
          </a:prstGeom>
          <a:noFill/>
          <a:ln/>
        </p:spPr>
        <p:txBody>
          <a:bodyPr wrap="square" lIns="0" tIns="0" rIns="0" bIns="0" rtlCol="0" anchor="ctr"/>
          <a:lstStyle/>
          <a:p>
            <a:pPr algn="r" indent="0" marL="0">
              <a:buNone/>
            </a:pPr>
            <a:r>
              <a:rPr lang="en-US" sz="850" dirty="0">
                <a:solidFill>
                  <a:srgbClr val="7B94BA"/>
                </a:solidFill>
                <a:latin typeface="Calibri" pitchFamily="34" charset="0"/>
                <a:ea typeface="Calibri" pitchFamily="34" charset="-122"/>
                <a:cs typeface="Calibri" pitchFamily="34" charset="-120"/>
              </a:rPr>
              <a:t>6</a:t>
            </a:r>
            <a:endParaRPr lang="en-US" sz="850" dirty="0"/>
          </a:p>
        </p:txBody>
      </p:sp>
      <p:sp>
        <p:nvSpPr>
          <p:cNvPr id="4" name="Text 2"/>
          <p:cNvSpPr/>
          <p:nvPr/>
        </p:nvSpPr>
        <p:spPr>
          <a:xfrm>
            <a:off x="457200" y="365760"/>
            <a:ext cx="11274552" cy="420624"/>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How an AI gets spend authority without becoming a liability</a:t>
            </a:r>
            <a:endParaRPr lang="en-US" sz="2500" dirty="0"/>
          </a:p>
        </p:txBody>
      </p:sp>
      <p:sp>
        <p:nvSpPr>
          <p:cNvPr id="5" name="Text 3"/>
          <p:cNvSpPr/>
          <p:nvPr/>
        </p:nvSpPr>
        <p:spPr>
          <a:xfrm>
            <a:off x="457200" y="804672"/>
            <a:ext cx="11274552" cy="256032"/>
          </a:xfrm>
          <a:prstGeom prst="rect">
            <a:avLst/>
          </a:prstGeom>
          <a:noFill/>
          <a:ln/>
        </p:spPr>
        <p:txBody>
          <a:bodyPr wrap="square" lIns="0" tIns="0" rIns="0" bIns="0" rtlCol="0" anchor="ctr"/>
          <a:lstStyle/>
          <a:p>
            <a:pPr indent="0" marL="0">
              <a:buNone/>
            </a:pPr>
            <a:r>
              <a:rPr lang="en-US" sz="1150" dirty="0">
                <a:solidFill>
                  <a:srgbClr val="A9BEDC"/>
                </a:solidFill>
                <a:latin typeface="Calibri" pitchFamily="34" charset="0"/>
                <a:ea typeface="Calibri" pitchFamily="34" charset="-122"/>
                <a:cs typeface="Calibri" pitchFamily="34" charset="-120"/>
              </a:rPr>
              <a:t>The model never touches a payment API. It emits a proposal; three independent layers decide whether it survives.</a:t>
            </a:r>
            <a:endParaRPr lang="en-US" sz="1150" dirty="0"/>
          </a:p>
        </p:txBody>
      </p:sp>
      <p:sp>
        <p:nvSpPr>
          <p:cNvPr id="6" name="Shape 4"/>
          <p:cNvSpPr/>
          <p:nvPr/>
        </p:nvSpPr>
        <p:spPr>
          <a:xfrm>
            <a:off x="457200" y="1152144"/>
            <a:ext cx="3886200" cy="3931920"/>
          </a:xfrm>
          <a:prstGeom prst="roundRect">
            <a:avLst>
              <a:gd name="adj" fmla="val 1412"/>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7" name="Text 5"/>
          <p:cNvSpPr/>
          <p:nvPr/>
        </p:nvSpPr>
        <p:spPr>
          <a:xfrm>
            <a:off x="676656" y="1261872"/>
            <a:ext cx="3474720" cy="219456"/>
          </a:xfrm>
          <a:prstGeom prst="rect">
            <a:avLst/>
          </a:prstGeom>
          <a:noFill/>
          <a:ln/>
        </p:spPr>
        <p:txBody>
          <a:bodyPr wrap="square" lIns="0" tIns="0" rIns="0" bIns="0" rtlCol="0" anchor="ctr"/>
          <a:lstStyle/>
          <a:p>
            <a:pPr indent="0" marL="0">
              <a:buNone/>
            </a:pPr>
            <a:r>
              <a:rPr lang="en-US" sz="850" b="1" spc="130" kern="0" dirty="0">
                <a:solidFill>
                  <a:srgbClr val="3D9CFF"/>
                </a:solidFill>
                <a:latin typeface="Calibri" pitchFamily="34" charset="0"/>
                <a:ea typeface="Calibri" pitchFamily="34" charset="-122"/>
                <a:cs typeface="Calibri" pitchFamily="34" charset="-120"/>
              </a:rPr>
              <a:t>WHEN A BOOKING FAILS HALFWAY</a:t>
            </a:r>
            <a:endParaRPr lang="en-US" sz="850" dirty="0"/>
          </a:p>
        </p:txBody>
      </p:sp>
      <p:sp>
        <p:nvSpPr>
          <p:cNvPr id="8" name="Shape 6"/>
          <p:cNvSpPr/>
          <p:nvPr/>
        </p:nvSpPr>
        <p:spPr>
          <a:xfrm>
            <a:off x="713232" y="1572768"/>
            <a:ext cx="3337560" cy="274320"/>
          </a:xfrm>
          <a:prstGeom prst="roundRect">
            <a:avLst>
              <a:gd name="adj" fmla="val 13333"/>
            </a:avLst>
          </a:prstGeom>
          <a:solidFill>
            <a:srgbClr val="1B3A69"/>
          </a:solidFill>
          <a:ln w="12700">
            <a:solidFill>
              <a:srgbClr val="333333"/>
            </a:solidFill>
            <a:prstDash val="solid"/>
          </a:ln>
        </p:spPr>
      </p:sp>
      <p:sp>
        <p:nvSpPr>
          <p:cNvPr id="9" name="Text 7"/>
          <p:cNvSpPr/>
          <p:nvPr/>
        </p:nvSpPr>
        <p:spPr>
          <a:xfrm>
            <a:off x="822960" y="1572768"/>
            <a:ext cx="384048" cy="274320"/>
          </a:xfrm>
          <a:prstGeom prst="rect">
            <a:avLst/>
          </a:prstGeom>
          <a:noFill/>
          <a:ln/>
        </p:spPr>
        <p:txBody>
          <a:bodyPr wrap="square" lIns="0" tIns="0" rIns="0" bIns="0" rtlCol="0" anchor="ctr"/>
          <a:lstStyle/>
          <a:p>
            <a:pPr indent="0" marL="0">
              <a:buNone/>
            </a:pPr>
            <a:r>
              <a:rPr lang="en-US" sz="900" b="1" dirty="0">
                <a:solidFill>
                  <a:srgbClr val="2ECC9A"/>
                </a:solidFill>
                <a:latin typeface="Courier New" pitchFamily="34" charset="0"/>
                <a:ea typeface="Courier New" pitchFamily="34" charset="-122"/>
                <a:cs typeface="Courier New" pitchFamily="34" charset="-120"/>
              </a:rPr>
              <a:t>A1</a:t>
            </a:r>
            <a:endParaRPr lang="en-US" sz="900" dirty="0"/>
          </a:p>
        </p:txBody>
      </p:sp>
      <p:sp>
        <p:nvSpPr>
          <p:cNvPr id="10" name="Text 8"/>
          <p:cNvSpPr/>
          <p:nvPr/>
        </p:nvSpPr>
        <p:spPr>
          <a:xfrm>
            <a:off x="1243584" y="1572768"/>
            <a:ext cx="1417320" cy="27432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reserveVAN</a:t>
            </a:r>
            <a:endParaRPr lang="en-US" sz="950" dirty="0"/>
          </a:p>
        </p:txBody>
      </p:sp>
      <p:sp>
        <p:nvSpPr>
          <p:cNvPr id="11" name="Text 9"/>
          <p:cNvSpPr/>
          <p:nvPr/>
        </p:nvSpPr>
        <p:spPr>
          <a:xfrm>
            <a:off x="2697480" y="1572768"/>
            <a:ext cx="1234440" cy="274320"/>
          </a:xfrm>
          <a:prstGeom prst="rect">
            <a:avLst/>
          </a:prstGeom>
          <a:noFill/>
          <a:ln/>
        </p:spPr>
        <p:txBody>
          <a:bodyPr wrap="square" lIns="0" tIns="0" rIns="0" bIns="0" rtlCol="0" anchor="ctr"/>
          <a:lstStyle/>
          <a:p>
            <a:pPr algn="r" indent="0" marL="0">
              <a:buNone/>
            </a:pPr>
            <a:r>
              <a:rPr lang="en-US" sz="850" dirty="0">
                <a:solidFill>
                  <a:srgbClr val="7B94BA"/>
                </a:solidFill>
                <a:latin typeface="Calibri" pitchFamily="34" charset="0"/>
                <a:ea typeface="Calibri" pitchFamily="34" charset="-122"/>
                <a:cs typeface="Calibri" pitchFamily="34" charset="-120"/>
              </a:rPr>
              <a:t>ok</a:t>
            </a:r>
            <a:endParaRPr lang="en-US" sz="850" dirty="0"/>
          </a:p>
        </p:txBody>
      </p:sp>
      <p:sp>
        <p:nvSpPr>
          <p:cNvPr id="12" name="Shape 10"/>
          <p:cNvSpPr/>
          <p:nvPr/>
        </p:nvSpPr>
        <p:spPr>
          <a:xfrm>
            <a:off x="713232" y="1920240"/>
            <a:ext cx="3337560" cy="274320"/>
          </a:xfrm>
          <a:prstGeom prst="roundRect">
            <a:avLst>
              <a:gd name="adj" fmla="val 13333"/>
            </a:avLst>
          </a:prstGeom>
          <a:solidFill>
            <a:srgbClr val="1B3A69"/>
          </a:solidFill>
          <a:ln w="12700">
            <a:solidFill>
              <a:srgbClr val="333333"/>
            </a:solidFill>
            <a:prstDash val="solid"/>
          </a:ln>
        </p:spPr>
      </p:sp>
      <p:sp>
        <p:nvSpPr>
          <p:cNvPr id="13" name="Text 11"/>
          <p:cNvSpPr/>
          <p:nvPr/>
        </p:nvSpPr>
        <p:spPr>
          <a:xfrm>
            <a:off x="822960" y="1920240"/>
            <a:ext cx="384048" cy="274320"/>
          </a:xfrm>
          <a:prstGeom prst="rect">
            <a:avLst/>
          </a:prstGeom>
          <a:noFill/>
          <a:ln/>
        </p:spPr>
        <p:txBody>
          <a:bodyPr wrap="square" lIns="0" tIns="0" rIns="0" bIns="0" rtlCol="0" anchor="ctr"/>
          <a:lstStyle/>
          <a:p>
            <a:pPr indent="0" marL="0">
              <a:buNone/>
            </a:pPr>
            <a:r>
              <a:rPr lang="en-US" sz="900" b="1" dirty="0">
                <a:solidFill>
                  <a:srgbClr val="2ECC9A"/>
                </a:solidFill>
                <a:latin typeface="Courier New" pitchFamily="34" charset="0"/>
                <a:ea typeface="Courier New" pitchFamily="34" charset="-122"/>
                <a:cs typeface="Courier New" pitchFamily="34" charset="-120"/>
              </a:rPr>
              <a:t>A2</a:t>
            </a:r>
            <a:endParaRPr lang="en-US" sz="900" dirty="0"/>
          </a:p>
        </p:txBody>
      </p:sp>
      <p:sp>
        <p:nvSpPr>
          <p:cNvPr id="14" name="Text 12"/>
          <p:cNvSpPr/>
          <p:nvPr/>
        </p:nvSpPr>
        <p:spPr>
          <a:xfrm>
            <a:off x="1243584" y="1920240"/>
            <a:ext cx="1417320" cy="27432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bookFlight</a:t>
            </a:r>
            <a:endParaRPr lang="en-US" sz="950" dirty="0"/>
          </a:p>
        </p:txBody>
      </p:sp>
      <p:sp>
        <p:nvSpPr>
          <p:cNvPr id="15" name="Text 13"/>
          <p:cNvSpPr/>
          <p:nvPr/>
        </p:nvSpPr>
        <p:spPr>
          <a:xfrm>
            <a:off x="2697480" y="1920240"/>
            <a:ext cx="1234440" cy="274320"/>
          </a:xfrm>
          <a:prstGeom prst="rect">
            <a:avLst/>
          </a:prstGeom>
          <a:noFill/>
          <a:ln/>
        </p:spPr>
        <p:txBody>
          <a:bodyPr wrap="square" lIns="0" tIns="0" rIns="0" bIns="0" rtlCol="0" anchor="ctr"/>
          <a:lstStyle/>
          <a:p>
            <a:pPr algn="r" indent="0" marL="0">
              <a:buNone/>
            </a:pPr>
            <a:r>
              <a:rPr lang="en-US" sz="850" dirty="0">
                <a:solidFill>
                  <a:srgbClr val="7B94BA"/>
                </a:solidFill>
                <a:latin typeface="Calibri" pitchFamily="34" charset="0"/>
                <a:ea typeface="Calibri" pitchFamily="34" charset="-122"/>
                <a:cs typeface="Calibri" pitchFamily="34" charset="-120"/>
              </a:rPr>
              <a:t>ok</a:t>
            </a:r>
            <a:endParaRPr lang="en-US" sz="850" dirty="0"/>
          </a:p>
        </p:txBody>
      </p:sp>
      <p:sp>
        <p:nvSpPr>
          <p:cNvPr id="16" name="Shape 14"/>
          <p:cNvSpPr/>
          <p:nvPr/>
        </p:nvSpPr>
        <p:spPr>
          <a:xfrm>
            <a:off x="713232" y="2267712"/>
            <a:ext cx="3337560" cy="274320"/>
          </a:xfrm>
          <a:prstGeom prst="roundRect">
            <a:avLst>
              <a:gd name="adj" fmla="val 13333"/>
            </a:avLst>
          </a:prstGeom>
          <a:solidFill>
            <a:srgbClr val="1B3A69"/>
          </a:solidFill>
          <a:ln w="12700">
            <a:solidFill>
              <a:srgbClr val="333333"/>
            </a:solidFill>
            <a:prstDash val="solid"/>
          </a:ln>
        </p:spPr>
      </p:sp>
      <p:sp>
        <p:nvSpPr>
          <p:cNvPr id="17" name="Text 15"/>
          <p:cNvSpPr/>
          <p:nvPr/>
        </p:nvSpPr>
        <p:spPr>
          <a:xfrm>
            <a:off x="822960" y="2267712"/>
            <a:ext cx="384048" cy="274320"/>
          </a:xfrm>
          <a:prstGeom prst="rect">
            <a:avLst/>
          </a:prstGeom>
          <a:noFill/>
          <a:ln/>
        </p:spPr>
        <p:txBody>
          <a:bodyPr wrap="square" lIns="0" tIns="0" rIns="0" bIns="0" rtlCol="0" anchor="ctr"/>
          <a:lstStyle/>
          <a:p>
            <a:pPr indent="0" marL="0">
              <a:buNone/>
            </a:pPr>
            <a:r>
              <a:rPr lang="en-US" sz="900" b="1" dirty="0">
                <a:solidFill>
                  <a:srgbClr val="2ECC9A"/>
                </a:solidFill>
                <a:latin typeface="Courier New" pitchFamily="34" charset="0"/>
                <a:ea typeface="Courier New" pitchFamily="34" charset="-122"/>
                <a:cs typeface="Courier New" pitchFamily="34" charset="-120"/>
              </a:rPr>
              <a:t>A3</a:t>
            </a:r>
            <a:endParaRPr lang="en-US" sz="900" dirty="0"/>
          </a:p>
        </p:txBody>
      </p:sp>
      <p:sp>
        <p:nvSpPr>
          <p:cNvPr id="18" name="Text 16"/>
          <p:cNvSpPr/>
          <p:nvPr/>
        </p:nvSpPr>
        <p:spPr>
          <a:xfrm>
            <a:off x="1243584" y="2267712"/>
            <a:ext cx="1417320" cy="27432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bookHotel</a:t>
            </a:r>
            <a:endParaRPr lang="en-US" sz="950" dirty="0"/>
          </a:p>
        </p:txBody>
      </p:sp>
      <p:sp>
        <p:nvSpPr>
          <p:cNvPr id="19" name="Text 17"/>
          <p:cNvSpPr/>
          <p:nvPr/>
        </p:nvSpPr>
        <p:spPr>
          <a:xfrm>
            <a:off x="2697480" y="2267712"/>
            <a:ext cx="1234440" cy="274320"/>
          </a:xfrm>
          <a:prstGeom prst="rect">
            <a:avLst/>
          </a:prstGeom>
          <a:noFill/>
          <a:ln/>
        </p:spPr>
        <p:txBody>
          <a:bodyPr wrap="square" lIns="0" tIns="0" rIns="0" bIns="0" rtlCol="0" anchor="ctr"/>
          <a:lstStyle/>
          <a:p>
            <a:pPr algn="r" indent="0" marL="0">
              <a:buNone/>
            </a:pPr>
            <a:r>
              <a:rPr lang="en-US" sz="850" dirty="0">
                <a:solidFill>
                  <a:srgbClr val="7B94BA"/>
                </a:solidFill>
                <a:latin typeface="Calibri" pitchFamily="34" charset="0"/>
                <a:ea typeface="Calibri" pitchFamily="34" charset="-122"/>
                <a:cs typeface="Calibri" pitchFamily="34" charset="-120"/>
              </a:rPr>
              <a:t>ok</a:t>
            </a:r>
            <a:endParaRPr lang="en-US" sz="850" dirty="0"/>
          </a:p>
        </p:txBody>
      </p:sp>
      <p:sp>
        <p:nvSpPr>
          <p:cNvPr id="20" name="Shape 18"/>
          <p:cNvSpPr/>
          <p:nvPr/>
        </p:nvSpPr>
        <p:spPr>
          <a:xfrm>
            <a:off x="713232" y="2615184"/>
            <a:ext cx="3337560" cy="274320"/>
          </a:xfrm>
          <a:prstGeom prst="roundRect">
            <a:avLst>
              <a:gd name="adj" fmla="val 13333"/>
            </a:avLst>
          </a:prstGeom>
          <a:solidFill>
            <a:srgbClr val="5A2436"/>
          </a:solidFill>
          <a:ln w="12700">
            <a:solidFill>
              <a:srgbClr val="333333"/>
            </a:solidFill>
            <a:prstDash val="solid"/>
          </a:ln>
        </p:spPr>
      </p:sp>
      <p:sp>
        <p:nvSpPr>
          <p:cNvPr id="21" name="Text 19"/>
          <p:cNvSpPr/>
          <p:nvPr/>
        </p:nvSpPr>
        <p:spPr>
          <a:xfrm>
            <a:off x="822960" y="2615184"/>
            <a:ext cx="384048" cy="274320"/>
          </a:xfrm>
          <a:prstGeom prst="rect">
            <a:avLst/>
          </a:prstGeom>
          <a:noFill/>
          <a:ln/>
        </p:spPr>
        <p:txBody>
          <a:bodyPr wrap="square" lIns="0" tIns="0" rIns="0" bIns="0" rtlCol="0" anchor="ctr"/>
          <a:lstStyle/>
          <a:p>
            <a:pPr indent="0" marL="0">
              <a:buNone/>
            </a:pPr>
            <a:r>
              <a:rPr lang="en-US" sz="900" b="1" dirty="0">
                <a:solidFill>
                  <a:srgbClr val="FF6B6B"/>
                </a:solidFill>
                <a:latin typeface="Courier New" pitchFamily="34" charset="0"/>
                <a:ea typeface="Courier New" pitchFamily="34" charset="-122"/>
                <a:cs typeface="Courier New" pitchFamily="34" charset="-120"/>
              </a:rPr>
              <a:t>A4</a:t>
            </a:r>
            <a:endParaRPr lang="en-US" sz="900" dirty="0"/>
          </a:p>
        </p:txBody>
      </p:sp>
      <p:sp>
        <p:nvSpPr>
          <p:cNvPr id="22" name="Text 20"/>
          <p:cNvSpPr/>
          <p:nvPr/>
        </p:nvSpPr>
        <p:spPr>
          <a:xfrm>
            <a:off x="1243584" y="2615184"/>
            <a:ext cx="1417320" cy="27432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bookGround</a:t>
            </a:r>
            <a:endParaRPr lang="en-US" sz="950" dirty="0"/>
          </a:p>
        </p:txBody>
      </p:sp>
      <p:sp>
        <p:nvSpPr>
          <p:cNvPr id="23" name="Text 21"/>
          <p:cNvSpPr/>
          <p:nvPr/>
        </p:nvSpPr>
        <p:spPr>
          <a:xfrm>
            <a:off x="2697480" y="2615184"/>
            <a:ext cx="1234440" cy="274320"/>
          </a:xfrm>
          <a:prstGeom prst="rect">
            <a:avLst/>
          </a:prstGeom>
          <a:noFill/>
          <a:ln/>
        </p:spPr>
        <p:txBody>
          <a:bodyPr wrap="square" lIns="0" tIns="0" rIns="0" bIns="0" rtlCol="0" anchor="ctr"/>
          <a:lstStyle/>
          <a:p>
            <a:pPr algn="r" indent="0" marL="0">
              <a:buNone/>
            </a:pPr>
            <a:r>
              <a:rPr lang="en-US" sz="850" dirty="0">
                <a:solidFill>
                  <a:srgbClr val="FF6B6B"/>
                </a:solidFill>
                <a:latin typeface="Calibri" pitchFamily="34" charset="0"/>
                <a:ea typeface="Calibri" pitchFamily="34" charset="-122"/>
                <a:cs typeface="Calibri" pitchFamily="34" charset="-120"/>
              </a:rPr>
              <a:t>FAILS</a:t>
            </a:r>
            <a:endParaRPr lang="en-US" sz="850" dirty="0"/>
          </a:p>
        </p:txBody>
      </p:sp>
      <p:pic>
        <p:nvPicPr>
          <p:cNvPr id="24" name="Image 0" descr="preencoded.png">    </p:cNvPr>
          <p:cNvPicPr>
            <a:picLocks noChangeAspect="1"/>
          </p:cNvPicPr>
          <p:nvPr/>
        </p:nvPicPr>
        <p:blipFill>
          <a:blip r:embed="rId1"/>
          <a:stretch>
            <a:fillRect/>
          </a:stretch>
        </p:blipFill>
        <p:spPr>
          <a:xfrm>
            <a:off x="713232" y="2999232"/>
            <a:ext cx="237744" cy="237744"/>
          </a:xfrm>
          <a:prstGeom prst="rect">
            <a:avLst/>
          </a:prstGeom>
        </p:spPr>
      </p:pic>
      <p:sp>
        <p:nvSpPr>
          <p:cNvPr id="25" name="Text 22"/>
          <p:cNvSpPr/>
          <p:nvPr/>
        </p:nvSpPr>
        <p:spPr>
          <a:xfrm>
            <a:off x="1024128" y="2999232"/>
            <a:ext cx="3017520" cy="237744"/>
          </a:xfrm>
          <a:prstGeom prst="rect">
            <a:avLst/>
          </a:prstGeom>
          <a:noFill/>
          <a:ln/>
        </p:spPr>
        <p:txBody>
          <a:bodyPr wrap="square" lIns="0" tIns="0" rIns="0" bIns="0" rtlCol="0" anchor="ctr"/>
          <a:lstStyle/>
          <a:p>
            <a:pPr indent="0" marL="0">
              <a:buNone/>
            </a:pPr>
            <a:r>
              <a:rPr lang="en-US" sz="900" b="1" dirty="0">
                <a:solidFill>
                  <a:srgbClr val="FF6B6B"/>
                </a:solidFill>
                <a:latin typeface="Calibri" pitchFamily="34" charset="0"/>
                <a:ea typeface="Calibri" pitchFamily="34" charset="-122"/>
                <a:cs typeface="Calibri" pitchFamily="34" charset="-120"/>
              </a:rPr>
              <a:t>compensations run in reverse (LIFO)</a:t>
            </a:r>
            <a:endParaRPr lang="en-US" sz="900" dirty="0"/>
          </a:p>
        </p:txBody>
      </p:sp>
      <p:sp>
        <p:nvSpPr>
          <p:cNvPr id="26" name="Shape 23"/>
          <p:cNvSpPr/>
          <p:nvPr/>
        </p:nvSpPr>
        <p:spPr>
          <a:xfrm>
            <a:off x="713232" y="3310128"/>
            <a:ext cx="3337560" cy="274320"/>
          </a:xfrm>
          <a:prstGeom prst="roundRect">
            <a:avLst>
              <a:gd name="adj" fmla="val 13333"/>
            </a:avLst>
          </a:prstGeom>
          <a:solidFill>
            <a:srgbClr val="1B3A69"/>
          </a:solidFill>
          <a:ln w="12700">
            <a:solidFill>
              <a:srgbClr val="333333"/>
            </a:solidFill>
            <a:prstDash val="solid"/>
          </a:ln>
        </p:spPr>
      </p:sp>
      <p:sp>
        <p:nvSpPr>
          <p:cNvPr id="27" name="Text 24"/>
          <p:cNvSpPr/>
          <p:nvPr/>
        </p:nvSpPr>
        <p:spPr>
          <a:xfrm>
            <a:off x="822960" y="3310128"/>
            <a:ext cx="384048" cy="274320"/>
          </a:xfrm>
          <a:prstGeom prst="rect">
            <a:avLst/>
          </a:prstGeom>
          <a:noFill/>
          <a:ln/>
        </p:spPr>
        <p:txBody>
          <a:bodyPr wrap="square" lIns="0" tIns="0" rIns="0" bIns="0" rtlCol="0" anchor="ctr"/>
          <a:lstStyle/>
          <a:p>
            <a:pPr indent="0" marL="0">
              <a:buNone/>
            </a:pPr>
            <a:r>
              <a:rPr lang="en-US" sz="900" b="1" dirty="0">
                <a:solidFill>
                  <a:srgbClr val="FF6B6B"/>
                </a:solidFill>
                <a:latin typeface="Courier New" pitchFamily="34" charset="0"/>
                <a:ea typeface="Courier New" pitchFamily="34" charset="-122"/>
                <a:cs typeface="Courier New" pitchFamily="34" charset="-120"/>
              </a:rPr>
              <a:t>C4</a:t>
            </a:r>
            <a:endParaRPr lang="en-US" sz="900" dirty="0"/>
          </a:p>
        </p:txBody>
      </p:sp>
      <p:sp>
        <p:nvSpPr>
          <p:cNvPr id="28" name="Text 25"/>
          <p:cNvSpPr/>
          <p:nvPr/>
        </p:nvSpPr>
        <p:spPr>
          <a:xfrm>
            <a:off x="1243584" y="3310128"/>
            <a:ext cx="1463040" cy="27432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cancelGround</a:t>
            </a:r>
            <a:endParaRPr lang="en-US" sz="950" dirty="0"/>
          </a:p>
        </p:txBody>
      </p:sp>
      <p:sp>
        <p:nvSpPr>
          <p:cNvPr id="29" name="Text 26"/>
          <p:cNvSpPr/>
          <p:nvPr/>
        </p:nvSpPr>
        <p:spPr>
          <a:xfrm>
            <a:off x="2697480" y="3310128"/>
            <a:ext cx="1234440" cy="274320"/>
          </a:xfrm>
          <a:prstGeom prst="rect">
            <a:avLst/>
          </a:prstGeom>
          <a:noFill/>
          <a:ln/>
        </p:spPr>
        <p:txBody>
          <a:bodyPr wrap="square" lIns="0" tIns="0" rIns="0" bIns="0" rtlCol="0" anchor="ctr"/>
          <a:lstStyle/>
          <a:p>
            <a:pPr algn="r" indent="0" marL="0">
              <a:buNone/>
            </a:pPr>
            <a:r>
              <a:rPr lang="en-US" sz="850" dirty="0">
                <a:solidFill>
                  <a:srgbClr val="7B94BA"/>
                </a:solidFill>
                <a:latin typeface="Calibri" pitchFamily="34" charset="0"/>
                <a:ea typeface="Calibri" pitchFamily="34" charset="-122"/>
                <a:cs typeface="Calibri" pitchFamily="34" charset="-120"/>
              </a:rPr>
              <a:t>no-op</a:t>
            </a:r>
            <a:endParaRPr lang="en-US" sz="850" dirty="0"/>
          </a:p>
        </p:txBody>
      </p:sp>
      <p:sp>
        <p:nvSpPr>
          <p:cNvPr id="30" name="Shape 27"/>
          <p:cNvSpPr/>
          <p:nvPr/>
        </p:nvSpPr>
        <p:spPr>
          <a:xfrm>
            <a:off x="713232" y="3657600"/>
            <a:ext cx="3337560" cy="274320"/>
          </a:xfrm>
          <a:prstGeom prst="roundRect">
            <a:avLst>
              <a:gd name="adj" fmla="val 13333"/>
            </a:avLst>
          </a:prstGeom>
          <a:solidFill>
            <a:srgbClr val="1B3A69"/>
          </a:solidFill>
          <a:ln w="12700">
            <a:solidFill>
              <a:srgbClr val="333333"/>
            </a:solidFill>
            <a:prstDash val="solid"/>
          </a:ln>
        </p:spPr>
      </p:sp>
      <p:sp>
        <p:nvSpPr>
          <p:cNvPr id="31" name="Text 28"/>
          <p:cNvSpPr/>
          <p:nvPr/>
        </p:nvSpPr>
        <p:spPr>
          <a:xfrm>
            <a:off x="822960" y="3657600"/>
            <a:ext cx="384048" cy="274320"/>
          </a:xfrm>
          <a:prstGeom prst="rect">
            <a:avLst/>
          </a:prstGeom>
          <a:noFill/>
          <a:ln/>
        </p:spPr>
        <p:txBody>
          <a:bodyPr wrap="square" lIns="0" tIns="0" rIns="0" bIns="0" rtlCol="0" anchor="ctr"/>
          <a:lstStyle/>
          <a:p>
            <a:pPr indent="0" marL="0">
              <a:buNone/>
            </a:pPr>
            <a:r>
              <a:rPr lang="en-US" sz="900" b="1" dirty="0">
                <a:solidFill>
                  <a:srgbClr val="FF6B6B"/>
                </a:solidFill>
                <a:latin typeface="Courier New" pitchFamily="34" charset="0"/>
                <a:ea typeface="Courier New" pitchFamily="34" charset="-122"/>
                <a:cs typeface="Courier New" pitchFamily="34" charset="-120"/>
              </a:rPr>
              <a:t>C3</a:t>
            </a:r>
            <a:endParaRPr lang="en-US" sz="900" dirty="0"/>
          </a:p>
        </p:txBody>
      </p:sp>
      <p:sp>
        <p:nvSpPr>
          <p:cNvPr id="32" name="Text 29"/>
          <p:cNvSpPr/>
          <p:nvPr/>
        </p:nvSpPr>
        <p:spPr>
          <a:xfrm>
            <a:off x="1243584" y="3657600"/>
            <a:ext cx="1463040" cy="27432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cancelHotel</a:t>
            </a:r>
            <a:endParaRPr lang="en-US" sz="950" dirty="0"/>
          </a:p>
        </p:txBody>
      </p:sp>
      <p:sp>
        <p:nvSpPr>
          <p:cNvPr id="33" name="Text 30"/>
          <p:cNvSpPr/>
          <p:nvPr/>
        </p:nvSpPr>
        <p:spPr>
          <a:xfrm>
            <a:off x="2697480" y="3657600"/>
            <a:ext cx="1234440" cy="274320"/>
          </a:xfrm>
          <a:prstGeom prst="rect">
            <a:avLst/>
          </a:prstGeom>
          <a:noFill/>
          <a:ln/>
        </p:spPr>
        <p:txBody>
          <a:bodyPr wrap="square" lIns="0" tIns="0" rIns="0" bIns="0" rtlCol="0" anchor="ctr"/>
          <a:lstStyle/>
          <a:p>
            <a:pPr algn="r" indent="0" marL="0">
              <a:buNone/>
            </a:pPr>
            <a:r>
              <a:rPr lang="en-US" sz="850" dirty="0">
                <a:solidFill>
                  <a:srgbClr val="7B94BA"/>
                </a:solidFill>
                <a:latin typeface="Calibri" pitchFamily="34" charset="0"/>
                <a:ea typeface="Calibri" pitchFamily="34" charset="-122"/>
                <a:cs typeface="Calibri" pitchFamily="34" charset="-120"/>
              </a:rPr>
              <a:t>confirmed</a:t>
            </a:r>
            <a:endParaRPr lang="en-US" sz="850" dirty="0"/>
          </a:p>
        </p:txBody>
      </p:sp>
      <p:sp>
        <p:nvSpPr>
          <p:cNvPr id="34" name="Shape 31"/>
          <p:cNvSpPr/>
          <p:nvPr/>
        </p:nvSpPr>
        <p:spPr>
          <a:xfrm>
            <a:off x="713232" y="4005072"/>
            <a:ext cx="3337560" cy="274320"/>
          </a:xfrm>
          <a:prstGeom prst="roundRect">
            <a:avLst>
              <a:gd name="adj" fmla="val 13333"/>
            </a:avLst>
          </a:prstGeom>
          <a:solidFill>
            <a:srgbClr val="1B3A69"/>
          </a:solidFill>
          <a:ln w="12700">
            <a:solidFill>
              <a:srgbClr val="333333"/>
            </a:solidFill>
            <a:prstDash val="solid"/>
          </a:ln>
        </p:spPr>
      </p:sp>
      <p:sp>
        <p:nvSpPr>
          <p:cNvPr id="35" name="Text 32"/>
          <p:cNvSpPr/>
          <p:nvPr/>
        </p:nvSpPr>
        <p:spPr>
          <a:xfrm>
            <a:off x="822960" y="4005072"/>
            <a:ext cx="384048" cy="274320"/>
          </a:xfrm>
          <a:prstGeom prst="rect">
            <a:avLst/>
          </a:prstGeom>
          <a:noFill/>
          <a:ln/>
        </p:spPr>
        <p:txBody>
          <a:bodyPr wrap="square" lIns="0" tIns="0" rIns="0" bIns="0" rtlCol="0" anchor="ctr"/>
          <a:lstStyle/>
          <a:p>
            <a:pPr indent="0" marL="0">
              <a:buNone/>
            </a:pPr>
            <a:r>
              <a:rPr lang="en-US" sz="900" b="1" dirty="0">
                <a:solidFill>
                  <a:srgbClr val="FF6B6B"/>
                </a:solidFill>
                <a:latin typeface="Courier New" pitchFamily="34" charset="0"/>
                <a:ea typeface="Courier New" pitchFamily="34" charset="-122"/>
                <a:cs typeface="Courier New" pitchFamily="34" charset="-120"/>
              </a:rPr>
              <a:t>C2</a:t>
            </a:r>
            <a:endParaRPr lang="en-US" sz="900" dirty="0"/>
          </a:p>
        </p:txBody>
      </p:sp>
      <p:sp>
        <p:nvSpPr>
          <p:cNvPr id="36" name="Text 33"/>
          <p:cNvSpPr/>
          <p:nvPr/>
        </p:nvSpPr>
        <p:spPr>
          <a:xfrm>
            <a:off x="1243584" y="4005072"/>
            <a:ext cx="1463040" cy="27432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voidFlight</a:t>
            </a:r>
            <a:endParaRPr lang="en-US" sz="950" dirty="0"/>
          </a:p>
        </p:txBody>
      </p:sp>
      <p:sp>
        <p:nvSpPr>
          <p:cNvPr id="37" name="Text 34"/>
          <p:cNvSpPr/>
          <p:nvPr/>
        </p:nvSpPr>
        <p:spPr>
          <a:xfrm>
            <a:off x="2697480" y="4005072"/>
            <a:ext cx="1234440" cy="274320"/>
          </a:xfrm>
          <a:prstGeom prst="rect">
            <a:avLst/>
          </a:prstGeom>
          <a:noFill/>
          <a:ln/>
        </p:spPr>
        <p:txBody>
          <a:bodyPr wrap="square" lIns="0" tIns="0" rIns="0" bIns="0" rtlCol="0" anchor="ctr"/>
          <a:lstStyle/>
          <a:p>
            <a:pPr algn="r" indent="0" marL="0">
              <a:buNone/>
            </a:pPr>
            <a:r>
              <a:rPr lang="en-US" sz="850" dirty="0">
                <a:solidFill>
                  <a:srgbClr val="7B94BA"/>
                </a:solidFill>
                <a:latin typeface="Calibri" pitchFamily="34" charset="0"/>
                <a:ea typeface="Calibri" pitchFamily="34" charset="-122"/>
                <a:cs typeface="Calibri" pitchFamily="34" charset="-120"/>
              </a:rPr>
              <a:t>in window</a:t>
            </a:r>
            <a:endParaRPr lang="en-US" sz="850" dirty="0"/>
          </a:p>
        </p:txBody>
      </p:sp>
      <p:sp>
        <p:nvSpPr>
          <p:cNvPr id="38" name="Shape 35"/>
          <p:cNvSpPr/>
          <p:nvPr/>
        </p:nvSpPr>
        <p:spPr>
          <a:xfrm>
            <a:off x="713232" y="4352544"/>
            <a:ext cx="3337560" cy="274320"/>
          </a:xfrm>
          <a:prstGeom prst="roundRect">
            <a:avLst>
              <a:gd name="adj" fmla="val 13333"/>
            </a:avLst>
          </a:prstGeom>
          <a:solidFill>
            <a:srgbClr val="1B3A69"/>
          </a:solidFill>
          <a:ln w="12700">
            <a:solidFill>
              <a:srgbClr val="333333"/>
            </a:solidFill>
            <a:prstDash val="solid"/>
          </a:ln>
        </p:spPr>
      </p:sp>
      <p:sp>
        <p:nvSpPr>
          <p:cNvPr id="39" name="Text 36"/>
          <p:cNvSpPr/>
          <p:nvPr/>
        </p:nvSpPr>
        <p:spPr>
          <a:xfrm>
            <a:off x="822960" y="4352544"/>
            <a:ext cx="384048" cy="274320"/>
          </a:xfrm>
          <a:prstGeom prst="rect">
            <a:avLst/>
          </a:prstGeom>
          <a:noFill/>
          <a:ln/>
        </p:spPr>
        <p:txBody>
          <a:bodyPr wrap="square" lIns="0" tIns="0" rIns="0" bIns="0" rtlCol="0" anchor="ctr"/>
          <a:lstStyle/>
          <a:p>
            <a:pPr indent="0" marL="0">
              <a:buNone/>
            </a:pPr>
            <a:r>
              <a:rPr lang="en-US" sz="900" b="1" dirty="0">
                <a:solidFill>
                  <a:srgbClr val="FF6B6B"/>
                </a:solidFill>
                <a:latin typeface="Courier New" pitchFamily="34" charset="0"/>
                <a:ea typeface="Courier New" pitchFamily="34" charset="-122"/>
                <a:cs typeface="Courier New" pitchFamily="34" charset="-120"/>
              </a:rPr>
              <a:t>C1</a:t>
            </a:r>
            <a:endParaRPr lang="en-US" sz="900" dirty="0"/>
          </a:p>
        </p:txBody>
      </p:sp>
      <p:sp>
        <p:nvSpPr>
          <p:cNvPr id="40" name="Text 37"/>
          <p:cNvSpPr/>
          <p:nvPr/>
        </p:nvSpPr>
        <p:spPr>
          <a:xfrm>
            <a:off x="1243584" y="4352544"/>
            <a:ext cx="1463040" cy="27432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releaseVAN</a:t>
            </a:r>
            <a:endParaRPr lang="en-US" sz="950" dirty="0"/>
          </a:p>
        </p:txBody>
      </p:sp>
      <p:sp>
        <p:nvSpPr>
          <p:cNvPr id="41" name="Text 38"/>
          <p:cNvSpPr/>
          <p:nvPr/>
        </p:nvSpPr>
        <p:spPr>
          <a:xfrm>
            <a:off x="2697480" y="4352544"/>
            <a:ext cx="1234440" cy="274320"/>
          </a:xfrm>
          <a:prstGeom prst="rect">
            <a:avLst/>
          </a:prstGeom>
          <a:noFill/>
          <a:ln/>
        </p:spPr>
        <p:txBody>
          <a:bodyPr wrap="square" lIns="0" tIns="0" rIns="0" bIns="0" rtlCol="0" anchor="ctr"/>
          <a:lstStyle/>
          <a:p>
            <a:pPr algn="r" indent="0" marL="0">
              <a:buNone/>
            </a:pPr>
            <a:r>
              <a:rPr lang="en-US" sz="850" dirty="0">
                <a:solidFill>
                  <a:srgbClr val="7B94BA"/>
                </a:solidFill>
                <a:latin typeface="Calibri" pitchFamily="34" charset="0"/>
                <a:ea typeface="Calibri" pitchFamily="34" charset="-122"/>
                <a:cs typeface="Calibri" pitchFamily="34" charset="-120"/>
              </a:rPr>
              <a:t>reversed</a:t>
            </a:r>
            <a:endParaRPr lang="en-US" sz="850" dirty="0"/>
          </a:p>
        </p:txBody>
      </p:sp>
      <p:sp>
        <p:nvSpPr>
          <p:cNvPr id="42" name="Text 39"/>
          <p:cNvSpPr/>
          <p:nvPr/>
        </p:nvSpPr>
        <p:spPr>
          <a:xfrm>
            <a:off x="713232" y="4718304"/>
            <a:ext cx="3383280" cy="274320"/>
          </a:xfrm>
          <a:prstGeom prst="rect">
            <a:avLst/>
          </a:prstGeom>
          <a:noFill/>
          <a:ln/>
        </p:spPr>
        <p:txBody>
          <a:bodyPr wrap="square" lIns="0" tIns="0" rIns="0" bIns="0" rtlCol="0" anchor="ctr"/>
          <a:lstStyle/>
          <a:p>
            <a:pPr indent="0" marL="0">
              <a:lnSpc>
                <a:spcPts val="1050"/>
              </a:lnSpc>
              <a:buNone/>
            </a:pPr>
            <a:r>
              <a:rPr lang="en-US" sz="850" i="1" dirty="0">
                <a:solidFill>
                  <a:srgbClr val="2ECC9A"/>
                </a:solidFill>
                <a:latin typeface="Calibri" pitchFamily="34" charset="0"/>
                <a:ea typeface="Calibri" pitchFamily="34" charset="-122"/>
                <a:cs typeface="Calibri" pitchFamily="34" charset="-120"/>
              </a:rPr>
              <a:t>Traveller ends on the original itinerary. No orphaned hotel night, no held authorisation.</a:t>
            </a:r>
            <a:endParaRPr lang="en-US" sz="850" dirty="0"/>
          </a:p>
        </p:txBody>
      </p:sp>
      <p:sp>
        <p:nvSpPr>
          <p:cNvPr id="43" name="Shape 40"/>
          <p:cNvSpPr/>
          <p:nvPr/>
        </p:nvSpPr>
        <p:spPr>
          <a:xfrm>
            <a:off x="4572000" y="1152144"/>
            <a:ext cx="3931920" cy="3931920"/>
          </a:xfrm>
          <a:prstGeom prst="roundRect">
            <a:avLst>
              <a:gd name="adj" fmla="val 1395"/>
            </a:avLst>
          </a:prstGeom>
          <a:solidFill>
            <a:srgbClr val="0D2246"/>
          </a:solidFill>
          <a:ln w="6350">
            <a:solidFill>
              <a:srgbClr val="0D2246"/>
            </a:solidFill>
            <a:prstDash val="solid"/>
          </a:ln>
          <a:effectLst>
            <a:outerShdw sx="100000" sy="100000" kx="0" ky="0" algn="bl" rotWithShape="0" blurRad="114300" dist="25400" dir="5400000">
              <a:srgbClr val="000000">
                <a:alpha val="34000"/>
              </a:srgbClr>
            </a:outerShdw>
          </a:effectLst>
        </p:spPr>
      </p:sp>
      <p:sp>
        <p:nvSpPr>
          <p:cNvPr id="44" name="Text 41"/>
          <p:cNvSpPr/>
          <p:nvPr/>
        </p:nvSpPr>
        <p:spPr>
          <a:xfrm>
            <a:off x="4773168" y="1261872"/>
            <a:ext cx="3566160" cy="219456"/>
          </a:xfrm>
          <a:prstGeom prst="rect">
            <a:avLst/>
          </a:prstGeom>
          <a:noFill/>
          <a:ln/>
        </p:spPr>
        <p:txBody>
          <a:bodyPr wrap="square" lIns="0" tIns="0" rIns="0" bIns="0" rtlCol="0" anchor="ctr"/>
          <a:lstStyle/>
          <a:p>
            <a:pPr indent="0" marL="0">
              <a:buNone/>
            </a:pPr>
            <a:r>
              <a:rPr lang="en-US" sz="850" b="1" spc="130" kern="0" dirty="0">
                <a:solidFill>
                  <a:srgbClr val="FF6B6B"/>
                </a:solidFill>
                <a:latin typeface="Calibri" pitchFamily="34" charset="0"/>
                <a:ea typeface="Calibri" pitchFamily="34" charset="-122"/>
                <a:cs typeface="Calibri" pitchFamily="34" charset="-120"/>
              </a:rPr>
              <a:t>INDIAN LAW, COMPILED TO REGO</a:t>
            </a:r>
            <a:endParaRPr lang="en-US" sz="850" dirty="0"/>
          </a:p>
        </p:txBody>
      </p:sp>
      <p:sp>
        <p:nvSpPr>
          <p:cNvPr id="45" name="Text 42"/>
          <p:cNvSpPr/>
          <p:nvPr/>
        </p:nvSpPr>
        <p:spPr>
          <a:xfrm>
            <a:off x="4773168" y="1536192"/>
            <a:ext cx="3566160" cy="2889504"/>
          </a:xfrm>
          <a:prstGeom prst="rect">
            <a:avLst/>
          </a:prstGeom>
          <a:noFill/>
          <a:ln/>
        </p:spPr>
        <p:txBody>
          <a:bodyPr wrap="square" lIns="0" tIns="0" rIns="0" bIns="0" rtlCol="0" anchor="ctr"/>
          <a:lstStyle/>
          <a:p>
            <a:pPr indent="0" marL="0">
              <a:lnSpc>
                <a:spcPts val="1220"/>
              </a:lnSpc>
              <a:buNone/>
            </a:pPr>
            <a:r>
              <a:rPr lang="en-US" sz="880" dirty="0">
                <a:solidFill>
                  <a:srgbClr val="E8F0FB"/>
                </a:solidFill>
                <a:latin typeface="Courier New" pitchFamily="34" charset="0"/>
                <a:ea typeface="Courier New" pitchFamily="34" charset="-122"/>
                <a:cs typeface="Courier New" pitchFamily="34" charset="-120"/>
              </a:rPr>
              <a:t>package concierge.dutyofcare</a:t>
            </a:r>
            <a:endParaRPr lang="en-US" sz="880" dirty="0"/>
          </a:p>
          <a:p>
            <a:pPr indent="0" marL="0">
              <a:lnSpc>
                <a:spcPts val="1220"/>
              </a:lnSpc>
              <a:buNone/>
            </a:pPr>
            <a:r>
              <a:rPr lang="en-US" sz="880" dirty="0">
                <a:solidFill>
                  <a:srgbClr val="E8F0FB"/>
                </a:solidFill>
                <a:latin typeface="Courier New" pitchFamily="34" charset="0"/>
                <a:ea typeface="Courier New" pitchFamily="34" charset="-122"/>
                <a:cs typeface="Courier New" pitchFamily="34" charset="-120"/>
              </a:rPr>
              <a:t># DGCA CAR Sec.3, Series M, Part IV</a:t>
            </a:r>
            <a:endParaRPr lang="en-US" sz="880" dirty="0"/>
          </a:p>
          <a:p>
            <a:pPr indent="0" marL="0">
              <a:lnSpc>
                <a:spcPts val="1220"/>
              </a:lnSpc>
              <a:buNone/>
            </a:pPr>
            <a:endParaRPr lang="en-US" sz="880" dirty="0"/>
          </a:p>
          <a:p>
            <a:pPr indent="0" marL="0">
              <a:lnSpc>
                <a:spcPts val="1220"/>
              </a:lnSpc>
              <a:buNone/>
            </a:pPr>
            <a:r>
              <a:rPr lang="en-US" sz="880" dirty="0">
                <a:solidFill>
                  <a:srgbClr val="E8F0FB"/>
                </a:solidFill>
                <a:latin typeface="Courier New" pitchFamily="34" charset="0"/>
                <a:ea typeface="Courier New" pitchFamily="34" charset="-122"/>
                <a:cs typeface="Courier New" pitchFamily="34" charset="-120"/>
              </a:rPr>
              <a:t>owed contains "meals" if {</a:t>
            </a:r>
            <a:endParaRPr lang="en-US" sz="880" dirty="0"/>
          </a:p>
          <a:p>
            <a:pPr indent="0" marL="0">
              <a:lnSpc>
                <a:spcPts val="1220"/>
              </a:lnSpc>
              <a:buNone/>
            </a:pPr>
            <a:r>
              <a:rPr lang="en-US" sz="880" dirty="0">
                <a:solidFill>
                  <a:srgbClr val="E8F0FB"/>
                </a:solidFill>
                <a:latin typeface="Courier New" pitchFamily="34" charset="0"/>
                <a:ea typeface="Courier New" pitchFamily="34" charset="-122"/>
                <a:cs typeface="Courier New" pitchFamily="34" charset="-120"/>
              </a:rPr>
              <a:t>  input.delay_hours &gt;= 2</a:t>
            </a:r>
            <a:endParaRPr lang="en-US" sz="880" dirty="0"/>
          </a:p>
          <a:p>
            <a:pPr indent="0" marL="0">
              <a:lnSpc>
                <a:spcPts val="1220"/>
              </a:lnSpc>
              <a:buNone/>
            </a:pPr>
            <a:r>
              <a:rPr lang="en-US" sz="880" dirty="0">
                <a:solidFill>
                  <a:srgbClr val="E8F0FB"/>
                </a:solidFill>
                <a:latin typeface="Courier New" pitchFamily="34" charset="0"/>
                <a:ea typeface="Courier New" pitchFamily="34" charset="-122"/>
                <a:cs typeface="Courier New" pitchFamily="34" charset="-120"/>
              </a:rPr>
              <a:t>}</a:t>
            </a:r>
            <a:endParaRPr lang="en-US" sz="880" dirty="0"/>
          </a:p>
          <a:p>
            <a:pPr indent="0" marL="0">
              <a:lnSpc>
                <a:spcPts val="1220"/>
              </a:lnSpc>
              <a:buNone/>
            </a:pPr>
            <a:endParaRPr lang="en-US" sz="880" dirty="0"/>
          </a:p>
          <a:p>
            <a:pPr indent="0" marL="0">
              <a:lnSpc>
                <a:spcPts val="1220"/>
              </a:lnSpc>
              <a:buNone/>
            </a:pPr>
            <a:r>
              <a:rPr lang="en-US" sz="880" dirty="0">
                <a:solidFill>
                  <a:srgbClr val="E8F0FB"/>
                </a:solidFill>
                <a:latin typeface="Courier New" pitchFamily="34" charset="0"/>
                <a:ea typeface="Courier New" pitchFamily="34" charset="-122"/>
                <a:cs typeface="Courier New" pitchFamily="34" charset="-120"/>
              </a:rPr>
              <a:t>owed contains "hotel_and_transfer" if {</a:t>
            </a:r>
            <a:endParaRPr lang="en-US" sz="880" dirty="0"/>
          </a:p>
          <a:p>
            <a:pPr indent="0" marL="0">
              <a:lnSpc>
                <a:spcPts val="1220"/>
              </a:lnSpc>
              <a:buNone/>
            </a:pPr>
            <a:r>
              <a:rPr lang="en-US" sz="880" dirty="0">
                <a:solidFill>
                  <a:srgbClr val="E8F0FB"/>
                </a:solidFill>
                <a:latin typeface="Courier New" pitchFamily="34" charset="0"/>
                <a:ea typeface="Courier New" pitchFamily="34" charset="-122"/>
                <a:cs typeface="Courier New" pitchFamily="34" charset="-120"/>
              </a:rPr>
              <a:t>  input.delay_hours &gt;= 6</a:t>
            </a:r>
            <a:endParaRPr lang="en-US" sz="880" dirty="0"/>
          </a:p>
          <a:p>
            <a:pPr indent="0" marL="0">
              <a:lnSpc>
                <a:spcPts val="1220"/>
              </a:lnSpc>
              <a:buNone/>
            </a:pPr>
            <a:r>
              <a:rPr lang="en-US" sz="880" dirty="0">
                <a:solidFill>
                  <a:srgbClr val="E8F0FB"/>
                </a:solidFill>
                <a:latin typeface="Courier New" pitchFamily="34" charset="0"/>
                <a:ea typeface="Courier New" pitchFamily="34" charset="-122"/>
                <a:cs typeface="Courier New" pitchFamily="34" charset="-120"/>
              </a:rPr>
              <a:t>  input.overnight_window</a:t>
            </a:r>
            <a:endParaRPr lang="en-US" sz="880" dirty="0"/>
          </a:p>
          <a:p>
            <a:pPr indent="0" marL="0">
              <a:lnSpc>
                <a:spcPts val="1220"/>
              </a:lnSpc>
              <a:buNone/>
            </a:pPr>
            <a:r>
              <a:rPr lang="en-US" sz="880" dirty="0">
                <a:solidFill>
                  <a:srgbClr val="E8F0FB"/>
                </a:solidFill>
                <a:latin typeface="Courier New" pitchFamily="34" charset="0"/>
                <a:ea typeface="Courier New" pitchFamily="34" charset="-122"/>
                <a:cs typeface="Courier New" pitchFamily="34" charset="-120"/>
              </a:rPr>
              <a:t>}</a:t>
            </a:r>
            <a:endParaRPr lang="en-US" sz="880" dirty="0"/>
          </a:p>
          <a:p>
            <a:pPr indent="0" marL="0">
              <a:lnSpc>
                <a:spcPts val="1220"/>
              </a:lnSpc>
              <a:buNone/>
            </a:pPr>
            <a:endParaRPr lang="en-US" sz="880" dirty="0"/>
          </a:p>
          <a:p>
            <a:pPr indent="0" marL="0">
              <a:lnSpc>
                <a:spcPts val="1220"/>
              </a:lnSpc>
              <a:buNone/>
            </a:pPr>
            <a:r>
              <a:rPr lang="en-US" sz="880" dirty="0">
                <a:solidFill>
                  <a:srgbClr val="E8F0FB"/>
                </a:solidFill>
                <a:latin typeface="Courier New" pitchFamily="34" charset="0"/>
                <a:ea typeface="Courier New" pitchFamily="34" charset="-122"/>
                <a:cs typeface="Courier New" pitchFamily="34" charset="-120"/>
              </a:rPr>
              <a:t>owed contains "alt_flight_or_refund" if {</a:t>
            </a:r>
            <a:endParaRPr lang="en-US" sz="880" dirty="0"/>
          </a:p>
          <a:p>
            <a:pPr indent="0" marL="0">
              <a:lnSpc>
                <a:spcPts val="1220"/>
              </a:lnSpc>
              <a:buNone/>
            </a:pPr>
            <a:r>
              <a:rPr lang="en-US" sz="880" dirty="0">
                <a:solidFill>
                  <a:srgbClr val="E8F0FB"/>
                </a:solidFill>
                <a:latin typeface="Courier New" pitchFamily="34" charset="0"/>
                <a:ea typeface="Courier New" pitchFamily="34" charset="-122"/>
                <a:cs typeface="Courier New" pitchFamily="34" charset="-120"/>
              </a:rPr>
              <a:t>  input.delay_hours &gt;= 6</a:t>
            </a:r>
            <a:endParaRPr lang="en-US" sz="880" dirty="0"/>
          </a:p>
          <a:p>
            <a:pPr indent="0" marL="0">
              <a:lnSpc>
                <a:spcPts val="1220"/>
              </a:lnSpc>
              <a:buNone/>
            </a:pPr>
            <a:r>
              <a:rPr lang="en-US" sz="880" dirty="0">
                <a:solidFill>
                  <a:srgbClr val="E8F0FB"/>
                </a:solidFill>
                <a:latin typeface="Courier New" pitchFamily="34" charset="0"/>
                <a:ea typeface="Courier New" pitchFamily="34" charset="-122"/>
                <a:cs typeface="Courier New" pitchFamily="34" charset="-120"/>
              </a:rPr>
              <a:t>}</a:t>
            </a:r>
            <a:endParaRPr lang="en-US" sz="880" dirty="0"/>
          </a:p>
          <a:p>
            <a:pPr indent="0" marL="0">
              <a:lnSpc>
                <a:spcPts val="1220"/>
              </a:lnSpc>
              <a:buNone/>
            </a:pPr>
            <a:endParaRPr lang="en-US" sz="880" dirty="0"/>
          </a:p>
          <a:p>
            <a:pPr indent="0" marL="0">
              <a:lnSpc>
                <a:spcPts val="1220"/>
              </a:lnSpc>
              <a:buNone/>
            </a:pPr>
            <a:r>
              <a:rPr lang="en-US" sz="880" dirty="0">
                <a:solidFill>
                  <a:srgbClr val="E8F0FB"/>
                </a:solidFill>
                <a:latin typeface="Courier New" pitchFamily="34" charset="0"/>
                <a:ea typeface="Courier New" pitchFamily="34" charset="-122"/>
                <a:cs typeface="Courier New" pitchFamily="34" charset="-120"/>
              </a:rPr>
              <a:t># force majeure removes CASH,</a:t>
            </a:r>
            <a:endParaRPr lang="en-US" sz="880" dirty="0"/>
          </a:p>
          <a:p>
            <a:pPr indent="0" marL="0">
              <a:lnSpc>
                <a:spcPts val="1220"/>
              </a:lnSpc>
              <a:buNone/>
            </a:pPr>
            <a:r>
              <a:rPr lang="en-US" sz="880" dirty="0">
                <a:solidFill>
                  <a:srgbClr val="E8F0FB"/>
                </a:solidFill>
                <a:latin typeface="Courier New" pitchFamily="34" charset="0"/>
                <a:ea typeface="Courier New" pitchFamily="34" charset="-122"/>
                <a:cs typeface="Courier New" pitchFamily="34" charset="-120"/>
              </a:rPr>
              <a:t># never the duty of care</a:t>
            </a:r>
            <a:endParaRPr lang="en-US" sz="880" dirty="0"/>
          </a:p>
          <a:p>
            <a:pPr indent="0" marL="0">
              <a:lnSpc>
                <a:spcPts val="1220"/>
              </a:lnSpc>
              <a:buNone/>
            </a:pPr>
            <a:r>
              <a:rPr lang="en-US" sz="880" dirty="0">
                <a:solidFill>
                  <a:srgbClr val="E8F0FB"/>
                </a:solidFill>
                <a:latin typeface="Courier New" pitchFamily="34" charset="0"/>
                <a:ea typeface="Courier New" pitchFamily="34" charset="-122"/>
                <a:cs typeface="Courier New" pitchFamily="34" charset="-120"/>
              </a:rPr>
              <a:t>cash_due if not input.force_majeure</a:t>
            </a:r>
            <a:endParaRPr lang="en-US" sz="880" dirty="0"/>
          </a:p>
        </p:txBody>
      </p:sp>
      <p:sp>
        <p:nvSpPr>
          <p:cNvPr id="46" name="Text 43"/>
          <p:cNvSpPr/>
          <p:nvPr/>
        </p:nvSpPr>
        <p:spPr>
          <a:xfrm>
            <a:off x="4773168" y="4480560"/>
            <a:ext cx="3566160" cy="493776"/>
          </a:xfrm>
          <a:prstGeom prst="rect">
            <a:avLst/>
          </a:prstGeom>
          <a:noFill/>
          <a:ln/>
        </p:spPr>
        <p:txBody>
          <a:bodyPr wrap="square" lIns="0" tIns="0" rIns="0" bIns="0" rtlCol="0" anchor="ctr"/>
          <a:lstStyle/>
          <a:p>
            <a:pPr indent="0" marL="0">
              <a:lnSpc>
                <a:spcPts val="1050"/>
              </a:lnSpc>
              <a:buNone/>
            </a:pPr>
            <a:r>
              <a:rPr lang="en-US" sz="850" i="1" dirty="0">
                <a:solidFill>
                  <a:srgbClr val="A9BEDC"/>
                </a:solidFill>
                <a:latin typeface="Calibri" pitchFamily="34" charset="0"/>
                <a:ea typeface="Calibri" pitchFamily="34" charset="-122"/>
                <a:cs typeface="Calibri" pitchFamily="34" charset="-120"/>
              </a:rPr>
              <a:t>Cancellation slab, same bundle: ₹5,000 / ₹7,500 / ₹10,000 by block time, or the booked fare — whichever is less.</a:t>
            </a:r>
            <a:endParaRPr lang="en-US" sz="850" dirty="0"/>
          </a:p>
        </p:txBody>
      </p:sp>
      <p:sp>
        <p:nvSpPr>
          <p:cNvPr id="47" name="Shape 44"/>
          <p:cNvSpPr/>
          <p:nvPr/>
        </p:nvSpPr>
        <p:spPr>
          <a:xfrm>
            <a:off x="8759952" y="1152144"/>
            <a:ext cx="2971800" cy="3931920"/>
          </a:xfrm>
          <a:prstGeom prst="roundRect">
            <a:avLst>
              <a:gd name="adj" fmla="val 1846"/>
            </a:avLst>
          </a:prstGeom>
          <a:solidFill>
            <a:srgbClr val="1B3A69"/>
          </a:solidFill>
          <a:ln w="6350">
            <a:solidFill>
              <a:srgbClr val="1B3A69"/>
            </a:solidFill>
            <a:prstDash val="solid"/>
          </a:ln>
          <a:effectLst>
            <a:outerShdw sx="100000" sy="100000" kx="0" ky="0" algn="bl" rotWithShape="0" blurRad="114300" dist="25400" dir="5400000">
              <a:srgbClr val="000000">
                <a:alpha val="34000"/>
              </a:srgbClr>
            </a:outerShdw>
          </a:effectLst>
        </p:spPr>
      </p:sp>
      <p:sp>
        <p:nvSpPr>
          <p:cNvPr id="48" name="Text 45"/>
          <p:cNvSpPr/>
          <p:nvPr/>
        </p:nvSpPr>
        <p:spPr>
          <a:xfrm>
            <a:off x="8961120" y="1261872"/>
            <a:ext cx="2651760" cy="219456"/>
          </a:xfrm>
          <a:prstGeom prst="rect">
            <a:avLst/>
          </a:prstGeom>
          <a:noFill/>
          <a:ln/>
        </p:spPr>
        <p:txBody>
          <a:bodyPr wrap="square" lIns="0" tIns="0" rIns="0" bIns="0" rtlCol="0" anchor="ctr"/>
          <a:lstStyle/>
          <a:p>
            <a:pPr indent="0" marL="0">
              <a:buNone/>
            </a:pPr>
            <a:r>
              <a:rPr lang="en-US" sz="850" b="1" spc="130" kern="0" dirty="0">
                <a:solidFill>
                  <a:srgbClr val="FFB020"/>
                </a:solidFill>
                <a:latin typeface="Calibri" pitchFamily="34" charset="0"/>
                <a:ea typeface="Calibri" pitchFamily="34" charset="-122"/>
                <a:cs typeface="Calibri" pitchFamily="34" charset="-120"/>
              </a:rPr>
              <a:t>FOUR INDEPENDENT LAYERS</a:t>
            </a:r>
            <a:endParaRPr lang="en-US" sz="850" dirty="0"/>
          </a:p>
        </p:txBody>
      </p:sp>
      <p:sp>
        <p:nvSpPr>
          <p:cNvPr id="49" name="Shape 46"/>
          <p:cNvSpPr/>
          <p:nvPr/>
        </p:nvSpPr>
        <p:spPr>
          <a:xfrm>
            <a:off x="8942832" y="1554480"/>
            <a:ext cx="2615184" cy="749808"/>
          </a:xfrm>
          <a:prstGeom prst="roundRect">
            <a:avLst>
              <a:gd name="adj" fmla="val 731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50" name="Image 1" descr="preencoded.png">    </p:cNvPr>
          <p:cNvPicPr>
            <a:picLocks noChangeAspect="1"/>
          </p:cNvPicPr>
          <p:nvPr/>
        </p:nvPicPr>
        <p:blipFill>
          <a:blip r:embed="rId2"/>
          <a:stretch>
            <a:fillRect/>
          </a:stretch>
        </p:blipFill>
        <p:spPr>
          <a:xfrm>
            <a:off x="9089136" y="1655064"/>
            <a:ext cx="219456" cy="219456"/>
          </a:xfrm>
          <a:prstGeom prst="rect">
            <a:avLst/>
          </a:prstGeom>
        </p:spPr>
      </p:pic>
      <p:sp>
        <p:nvSpPr>
          <p:cNvPr id="51" name="Text 47"/>
          <p:cNvSpPr/>
          <p:nvPr/>
        </p:nvSpPr>
        <p:spPr>
          <a:xfrm>
            <a:off x="9381744" y="1618488"/>
            <a:ext cx="2103120" cy="237744"/>
          </a:xfrm>
          <a:prstGeom prst="rect">
            <a:avLst/>
          </a:prstGeom>
          <a:noFill/>
          <a:ln/>
        </p:spPr>
        <p:txBody>
          <a:bodyPr wrap="square" lIns="0" tIns="0" rIns="0" bIns="0" rtlCol="0" anchor="ctr"/>
          <a:lstStyle/>
          <a:p>
            <a:pPr indent="0" marL="0">
              <a:buNone/>
            </a:pPr>
            <a:r>
              <a:rPr lang="en-US" sz="1000" b="1" dirty="0">
                <a:solidFill>
                  <a:srgbClr val="2ECC9A"/>
                </a:solidFill>
                <a:latin typeface="Calibri" pitchFamily="34" charset="0"/>
                <a:ea typeface="Calibri" pitchFamily="34" charset="-122"/>
                <a:cs typeface="Calibri" pitchFamily="34" charset="-120"/>
              </a:rPr>
              <a:t>L1  Grounding</a:t>
            </a:r>
            <a:endParaRPr lang="en-US" sz="1000" dirty="0"/>
          </a:p>
        </p:txBody>
      </p:sp>
      <p:sp>
        <p:nvSpPr>
          <p:cNvPr id="52" name="Text 48"/>
          <p:cNvSpPr/>
          <p:nvPr/>
        </p:nvSpPr>
        <p:spPr>
          <a:xfrm>
            <a:off x="9089136" y="1865376"/>
            <a:ext cx="2331720" cy="384048"/>
          </a:xfrm>
          <a:prstGeom prst="rect">
            <a:avLst/>
          </a:prstGeom>
          <a:noFill/>
          <a:ln/>
        </p:spPr>
        <p:txBody>
          <a:bodyPr wrap="square" lIns="0" tIns="0" rIns="0" bIns="0" rtlCol="0" anchor="ctr"/>
          <a:lstStyle/>
          <a:p>
            <a:pPr indent="0" marL="0">
              <a:lnSpc>
                <a:spcPts val="980"/>
              </a:lnSpc>
              <a:buNone/>
            </a:pPr>
            <a:r>
              <a:rPr lang="en-US" sz="800" dirty="0">
                <a:solidFill>
                  <a:srgbClr val="A9BEDC"/>
                </a:solidFill>
                <a:latin typeface="Calibri" pitchFamily="34" charset="0"/>
                <a:ea typeface="Calibri" pitchFamily="34" charset="-122"/>
                <a:cs typeface="Calibri" pitchFamily="34" charset="-120"/>
              </a:rPr>
              <a:t>no supplier offer ID,</a:t>
            </a:r>
            <a:endParaRPr lang="en-US" sz="800" dirty="0"/>
          </a:p>
          <a:p>
            <a:pPr indent="0" marL="0">
              <a:lnSpc>
                <a:spcPts val="980"/>
              </a:lnSpc>
              <a:buNone/>
            </a:pPr>
            <a:r>
              <a:rPr lang="en-US" sz="800" dirty="0">
                <a:solidFill>
                  <a:srgbClr val="A9BEDC"/>
                </a:solidFill>
                <a:latin typeface="Calibri" pitchFamily="34" charset="0"/>
                <a:ea typeface="Calibri" pitchFamily="34" charset="-122"/>
                <a:cs typeface="Calibri" pitchFamily="34" charset="-120"/>
              </a:rPr>
              <a:t>no booking</a:t>
            </a:r>
            <a:endParaRPr lang="en-US" sz="800" dirty="0"/>
          </a:p>
        </p:txBody>
      </p:sp>
      <p:sp>
        <p:nvSpPr>
          <p:cNvPr id="53" name="Shape 49"/>
          <p:cNvSpPr/>
          <p:nvPr/>
        </p:nvSpPr>
        <p:spPr>
          <a:xfrm>
            <a:off x="8942832" y="2377440"/>
            <a:ext cx="2615184" cy="749808"/>
          </a:xfrm>
          <a:prstGeom prst="roundRect">
            <a:avLst>
              <a:gd name="adj" fmla="val 731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54" name="Image 2" descr="preencoded.png">    </p:cNvPr>
          <p:cNvPicPr>
            <a:picLocks noChangeAspect="1"/>
          </p:cNvPicPr>
          <p:nvPr/>
        </p:nvPicPr>
        <p:blipFill>
          <a:blip r:embed="rId3"/>
          <a:stretch>
            <a:fillRect/>
          </a:stretch>
        </p:blipFill>
        <p:spPr>
          <a:xfrm>
            <a:off x="9089136" y="2478024"/>
            <a:ext cx="219456" cy="219456"/>
          </a:xfrm>
          <a:prstGeom prst="rect">
            <a:avLst/>
          </a:prstGeom>
        </p:spPr>
      </p:pic>
      <p:sp>
        <p:nvSpPr>
          <p:cNvPr id="55" name="Text 50"/>
          <p:cNvSpPr/>
          <p:nvPr/>
        </p:nvSpPr>
        <p:spPr>
          <a:xfrm>
            <a:off x="9381744" y="2441448"/>
            <a:ext cx="2103120" cy="237744"/>
          </a:xfrm>
          <a:prstGeom prst="rect">
            <a:avLst/>
          </a:prstGeom>
          <a:noFill/>
          <a:ln/>
        </p:spPr>
        <p:txBody>
          <a:bodyPr wrap="square" lIns="0" tIns="0" rIns="0" bIns="0" rtlCol="0" anchor="ctr"/>
          <a:lstStyle/>
          <a:p>
            <a:pPr indent="0" marL="0">
              <a:buNone/>
            </a:pPr>
            <a:r>
              <a:rPr lang="en-US" sz="1000" b="1" dirty="0">
                <a:solidFill>
                  <a:srgbClr val="FFB020"/>
                </a:solidFill>
                <a:latin typeface="Calibri" pitchFamily="34" charset="0"/>
                <a:ea typeface="Calibri" pitchFamily="34" charset="-122"/>
                <a:cs typeface="Calibri" pitchFamily="34" charset="-120"/>
              </a:rPr>
              <a:t>L2  Policy</a:t>
            </a:r>
            <a:endParaRPr lang="en-US" sz="1000" dirty="0"/>
          </a:p>
        </p:txBody>
      </p:sp>
      <p:sp>
        <p:nvSpPr>
          <p:cNvPr id="56" name="Text 51"/>
          <p:cNvSpPr/>
          <p:nvPr/>
        </p:nvSpPr>
        <p:spPr>
          <a:xfrm>
            <a:off x="9089136" y="2688336"/>
            <a:ext cx="2331720" cy="384048"/>
          </a:xfrm>
          <a:prstGeom prst="rect">
            <a:avLst/>
          </a:prstGeom>
          <a:noFill/>
          <a:ln/>
        </p:spPr>
        <p:txBody>
          <a:bodyPr wrap="square" lIns="0" tIns="0" rIns="0" bIns="0" rtlCol="0" anchor="ctr"/>
          <a:lstStyle/>
          <a:p>
            <a:pPr indent="0" marL="0">
              <a:lnSpc>
                <a:spcPts val="980"/>
              </a:lnSpc>
              <a:buNone/>
            </a:pPr>
            <a:r>
              <a:rPr lang="en-US" sz="800" dirty="0">
                <a:solidFill>
                  <a:srgbClr val="A9BEDC"/>
                </a:solidFill>
                <a:latin typeface="Calibri" pitchFamily="34" charset="0"/>
                <a:ea typeface="Calibri" pitchFamily="34" charset="-122"/>
                <a:cs typeface="Calibri" pitchFamily="34" charset="-120"/>
              </a:rPr>
              <a:t>OPA default-deny on</a:t>
            </a:r>
            <a:endParaRPr lang="en-US" sz="800" dirty="0"/>
          </a:p>
          <a:p>
            <a:pPr indent="0" marL="0">
              <a:lnSpc>
                <a:spcPts val="980"/>
              </a:lnSpc>
              <a:buNone/>
            </a:pPr>
            <a:r>
              <a:rPr lang="en-US" sz="800" dirty="0">
                <a:solidFill>
                  <a:srgbClr val="A9BEDC"/>
                </a:solidFill>
                <a:latin typeface="Calibri" pitchFamily="34" charset="0"/>
                <a:ea typeface="Calibri" pitchFamily="34" charset="-122"/>
                <a:cs typeface="Calibri" pitchFamily="34" charset="-120"/>
              </a:rPr>
              <a:t>every proposed action</a:t>
            </a:r>
            <a:endParaRPr lang="en-US" sz="800" dirty="0"/>
          </a:p>
        </p:txBody>
      </p:sp>
      <p:sp>
        <p:nvSpPr>
          <p:cNvPr id="57" name="Shape 52"/>
          <p:cNvSpPr/>
          <p:nvPr/>
        </p:nvSpPr>
        <p:spPr>
          <a:xfrm>
            <a:off x="8942832" y="3200400"/>
            <a:ext cx="2615184" cy="749808"/>
          </a:xfrm>
          <a:prstGeom prst="roundRect">
            <a:avLst>
              <a:gd name="adj" fmla="val 731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58" name="Image 3" descr="preencoded.png">    </p:cNvPr>
          <p:cNvPicPr>
            <a:picLocks noChangeAspect="1"/>
          </p:cNvPicPr>
          <p:nvPr/>
        </p:nvPicPr>
        <p:blipFill>
          <a:blip r:embed="rId4"/>
          <a:stretch>
            <a:fillRect/>
          </a:stretch>
        </p:blipFill>
        <p:spPr>
          <a:xfrm>
            <a:off x="9089136" y="3300984"/>
            <a:ext cx="219456" cy="219456"/>
          </a:xfrm>
          <a:prstGeom prst="rect">
            <a:avLst/>
          </a:prstGeom>
        </p:spPr>
      </p:pic>
      <p:sp>
        <p:nvSpPr>
          <p:cNvPr id="59" name="Text 53"/>
          <p:cNvSpPr/>
          <p:nvPr/>
        </p:nvSpPr>
        <p:spPr>
          <a:xfrm>
            <a:off x="9381744" y="3264408"/>
            <a:ext cx="2103120" cy="237744"/>
          </a:xfrm>
          <a:prstGeom prst="rect">
            <a:avLst/>
          </a:prstGeom>
          <a:noFill/>
          <a:ln/>
        </p:spPr>
        <p:txBody>
          <a:bodyPr wrap="square" lIns="0" tIns="0" rIns="0" bIns="0" rtlCol="0" anchor="ctr"/>
          <a:lstStyle/>
          <a:p>
            <a:pPr indent="0" marL="0">
              <a:buNone/>
            </a:pPr>
            <a:r>
              <a:rPr lang="en-US" sz="1000" b="1" dirty="0">
                <a:solidFill>
                  <a:srgbClr val="9B8CFF"/>
                </a:solidFill>
                <a:latin typeface="Calibri" pitchFamily="34" charset="0"/>
                <a:ea typeface="Calibri" pitchFamily="34" charset="-122"/>
                <a:cs typeface="Calibri" pitchFamily="34" charset="-120"/>
              </a:rPr>
              <a:t>L3  Credential</a:t>
            </a:r>
            <a:endParaRPr lang="en-US" sz="1000" dirty="0"/>
          </a:p>
        </p:txBody>
      </p:sp>
      <p:sp>
        <p:nvSpPr>
          <p:cNvPr id="60" name="Text 54"/>
          <p:cNvSpPr/>
          <p:nvPr/>
        </p:nvSpPr>
        <p:spPr>
          <a:xfrm>
            <a:off x="9089136" y="3511296"/>
            <a:ext cx="2331720" cy="384048"/>
          </a:xfrm>
          <a:prstGeom prst="rect">
            <a:avLst/>
          </a:prstGeom>
          <a:noFill/>
          <a:ln/>
        </p:spPr>
        <p:txBody>
          <a:bodyPr wrap="square" lIns="0" tIns="0" rIns="0" bIns="0" rtlCol="0" anchor="ctr"/>
          <a:lstStyle/>
          <a:p>
            <a:pPr indent="0" marL="0">
              <a:lnSpc>
                <a:spcPts val="980"/>
              </a:lnSpc>
              <a:buNone/>
            </a:pPr>
            <a:r>
              <a:rPr lang="en-US" sz="800" dirty="0">
                <a:solidFill>
                  <a:srgbClr val="A9BEDC"/>
                </a:solidFill>
                <a:latin typeface="Calibri" pitchFamily="34" charset="0"/>
                <a:ea typeface="Calibri" pitchFamily="34" charset="-122"/>
                <a:cs typeface="Calibri" pitchFamily="34" charset="-120"/>
              </a:rPr>
              <a:t>vPayment VAN locked to</a:t>
            </a:r>
            <a:endParaRPr lang="en-US" sz="800" dirty="0"/>
          </a:p>
          <a:p>
            <a:pPr indent="0" marL="0">
              <a:lnSpc>
                <a:spcPts val="980"/>
              </a:lnSpc>
              <a:buNone/>
            </a:pPr>
            <a:r>
              <a:rPr lang="en-US" sz="800" dirty="0">
                <a:solidFill>
                  <a:srgbClr val="A9BEDC"/>
                </a:solidFill>
                <a:latin typeface="Calibri" pitchFamily="34" charset="0"/>
                <a:ea typeface="Calibri" pitchFamily="34" charset="-122"/>
                <a:cs typeface="Calibri" pitchFamily="34" charset="-120"/>
              </a:rPr>
              <a:t>an amount and a date</a:t>
            </a:r>
            <a:endParaRPr lang="en-US" sz="800" dirty="0"/>
          </a:p>
        </p:txBody>
      </p:sp>
      <p:sp>
        <p:nvSpPr>
          <p:cNvPr id="61" name="Shape 55"/>
          <p:cNvSpPr/>
          <p:nvPr/>
        </p:nvSpPr>
        <p:spPr>
          <a:xfrm>
            <a:off x="8942832" y="4023360"/>
            <a:ext cx="2615184" cy="749808"/>
          </a:xfrm>
          <a:prstGeom prst="roundRect">
            <a:avLst>
              <a:gd name="adj" fmla="val 731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pic>
        <p:nvPicPr>
          <p:cNvPr id="62" name="Image 4" descr="preencoded.png">    </p:cNvPr>
          <p:cNvPicPr>
            <a:picLocks noChangeAspect="1"/>
          </p:cNvPicPr>
          <p:nvPr/>
        </p:nvPicPr>
        <p:blipFill>
          <a:blip r:embed="rId5"/>
          <a:stretch>
            <a:fillRect/>
          </a:stretch>
        </p:blipFill>
        <p:spPr>
          <a:xfrm>
            <a:off x="9089136" y="4123944"/>
            <a:ext cx="219456" cy="219456"/>
          </a:xfrm>
          <a:prstGeom prst="rect">
            <a:avLst/>
          </a:prstGeom>
        </p:spPr>
      </p:pic>
      <p:sp>
        <p:nvSpPr>
          <p:cNvPr id="63" name="Text 56"/>
          <p:cNvSpPr/>
          <p:nvPr/>
        </p:nvSpPr>
        <p:spPr>
          <a:xfrm>
            <a:off x="9381744" y="4087368"/>
            <a:ext cx="2103120" cy="237744"/>
          </a:xfrm>
          <a:prstGeom prst="rect">
            <a:avLst/>
          </a:prstGeom>
          <a:noFill/>
          <a:ln/>
        </p:spPr>
        <p:txBody>
          <a:bodyPr wrap="square" lIns="0" tIns="0" rIns="0" bIns="0" rtlCol="0" anchor="ctr"/>
          <a:lstStyle/>
          <a:p>
            <a:pPr indent="0" marL="0">
              <a:buNone/>
            </a:pPr>
            <a:r>
              <a:rPr lang="en-US" sz="1000" b="1" dirty="0">
                <a:solidFill>
                  <a:srgbClr val="3D9CFF"/>
                </a:solidFill>
                <a:latin typeface="Calibri" pitchFamily="34" charset="0"/>
                <a:ea typeface="Calibri" pitchFamily="34" charset="-122"/>
                <a:cs typeface="Calibri" pitchFamily="34" charset="-120"/>
              </a:rPr>
              <a:t>L4  Network</a:t>
            </a:r>
            <a:endParaRPr lang="en-US" sz="1000" dirty="0"/>
          </a:p>
        </p:txBody>
      </p:sp>
      <p:sp>
        <p:nvSpPr>
          <p:cNvPr id="64" name="Text 57"/>
          <p:cNvSpPr/>
          <p:nvPr/>
        </p:nvSpPr>
        <p:spPr>
          <a:xfrm>
            <a:off x="9089136" y="4334256"/>
            <a:ext cx="2331720" cy="384048"/>
          </a:xfrm>
          <a:prstGeom prst="rect">
            <a:avLst/>
          </a:prstGeom>
          <a:noFill/>
          <a:ln/>
        </p:spPr>
        <p:txBody>
          <a:bodyPr wrap="square" lIns="0" tIns="0" rIns="0" bIns="0" rtlCol="0" anchor="ctr"/>
          <a:lstStyle/>
          <a:p>
            <a:pPr indent="0" marL="0">
              <a:lnSpc>
                <a:spcPts val="980"/>
              </a:lnSpc>
              <a:buNone/>
            </a:pPr>
            <a:r>
              <a:rPr lang="en-US" sz="800" dirty="0">
                <a:solidFill>
                  <a:srgbClr val="A9BEDC"/>
                </a:solidFill>
                <a:latin typeface="Calibri" pitchFamily="34" charset="0"/>
                <a:ea typeface="Calibri" pitchFamily="34" charset="-122"/>
                <a:cs typeface="Calibri" pitchFamily="34" charset="-120"/>
              </a:rPr>
              <a:t>closed-loop settlement +</a:t>
            </a:r>
            <a:endParaRPr lang="en-US" sz="800" dirty="0"/>
          </a:p>
          <a:p>
            <a:pPr indent="0" marL="0">
              <a:lnSpc>
                <a:spcPts val="980"/>
              </a:lnSpc>
              <a:buNone/>
            </a:pPr>
            <a:r>
              <a:rPr lang="en-US" sz="800" dirty="0">
                <a:solidFill>
                  <a:srgbClr val="A9BEDC"/>
                </a:solidFill>
                <a:latin typeface="Calibri" pitchFamily="34" charset="0"/>
                <a:ea typeface="Calibri" pitchFamily="34" charset="-122"/>
                <a:cs typeface="Calibri" pitchFamily="34" charset="-120"/>
              </a:rPr>
              <a:t>Agent Purchase Protection</a:t>
            </a:r>
            <a:endParaRPr lang="en-US" sz="800" dirty="0"/>
          </a:p>
        </p:txBody>
      </p:sp>
      <p:sp>
        <p:nvSpPr>
          <p:cNvPr id="65" name="Text 58"/>
          <p:cNvSpPr/>
          <p:nvPr/>
        </p:nvSpPr>
        <p:spPr>
          <a:xfrm>
            <a:off x="8961120" y="4754880"/>
            <a:ext cx="2651760" cy="310896"/>
          </a:xfrm>
          <a:prstGeom prst="rect">
            <a:avLst/>
          </a:prstGeom>
          <a:noFill/>
          <a:ln/>
        </p:spPr>
        <p:txBody>
          <a:bodyPr wrap="square" lIns="0" tIns="0" rIns="0" bIns="0" rtlCol="0" anchor="ctr"/>
          <a:lstStyle/>
          <a:p>
            <a:pPr indent="0" marL="0">
              <a:lnSpc>
                <a:spcPts val="1050"/>
              </a:lnSpc>
              <a:buNone/>
            </a:pPr>
            <a:r>
              <a:rPr lang="en-US" sz="850" i="1" dirty="0">
                <a:solidFill>
                  <a:srgbClr val="E8F0FB"/>
                </a:solidFill>
                <a:latin typeface="Calibri" pitchFamily="34" charset="0"/>
                <a:ea typeface="Calibri" pitchFamily="34" charset="-122"/>
                <a:cs typeface="Calibri" pitchFamily="34" charset="-120"/>
              </a:rPr>
              <a:t>An attacker must defeat all four. Two of them belong to the network, not to us.</a:t>
            </a:r>
            <a:endParaRPr lang="en-US" sz="850" dirty="0"/>
          </a:p>
        </p:txBody>
      </p:sp>
      <p:sp>
        <p:nvSpPr>
          <p:cNvPr id="66" name="Shape 59"/>
          <p:cNvSpPr/>
          <p:nvPr/>
        </p:nvSpPr>
        <p:spPr>
          <a:xfrm>
            <a:off x="457200" y="5230368"/>
            <a:ext cx="11274552" cy="621792"/>
          </a:xfrm>
          <a:prstGeom prst="roundRect">
            <a:avLst>
              <a:gd name="adj" fmla="val 8824"/>
            </a:avLst>
          </a:prstGeom>
          <a:solidFill>
            <a:srgbClr val="1B3A69"/>
          </a:solidFill>
          <a:ln w="6350">
            <a:solidFill>
              <a:srgbClr val="1B3A69"/>
            </a:solidFill>
            <a:prstDash val="solid"/>
          </a:ln>
          <a:effectLst>
            <a:outerShdw sx="100000" sy="100000" kx="0" ky="0" algn="bl" rotWithShape="0" blurRad="114300" dist="25400" dir="5400000">
              <a:srgbClr val="000000">
                <a:alpha val="34000"/>
              </a:srgbClr>
            </a:outerShdw>
          </a:effectLst>
        </p:spPr>
      </p:sp>
      <p:sp>
        <p:nvSpPr>
          <p:cNvPr id="67" name="Text 60"/>
          <p:cNvSpPr/>
          <p:nvPr/>
        </p:nvSpPr>
        <p:spPr>
          <a:xfrm>
            <a:off x="457200" y="5230368"/>
            <a:ext cx="11274552" cy="62179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Entitlement is data, not code. A second bundle encodes Amex card terms; Amex operates in 130+ countries, so the market changes the bundle — never the engine.</a:t>
            </a:r>
            <a:endParaRPr lang="en-US" sz="1200" dirty="0"/>
          </a:p>
        </p:txBody>
      </p:sp>
      <p:sp>
        <p:nvSpPr>
          <p:cNvPr id="68" name="Text 61"/>
          <p:cNvSpPr/>
          <p:nvPr/>
        </p:nvSpPr>
        <p:spPr>
          <a:xfrm>
            <a:off x="457200" y="6382512"/>
            <a:ext cx="11274552" cy="310896"/>
          </a:xfrm>
          <a:prstGeom prst="rect">
            <a:avLst/>
          </a:prstGeom>
          <a:noFill/>
          <a:ln/>
        </p:spPr>
        <p:txBody>
          <a:bodyPr wrap="square" lIns="0" tIns="0" rIns="0" bIns="0" rtlCol="0" anchor="t"/>
          <a:lstStyle/>
          <a:p>
            <a:pPr indent="0" marL="0">
              <a:buNone/>
            </a:pPr>
            <a:r>
              <a:rPr lang="en-US" sz="750" b="1" spc="120" kern="0" dirty="0">
                <a:solidFill>
                  <a:srgbClr val="7B94BA"/>
                </a:solidFill>
                <a:latin typeface="Calibri" pitchFamily="34" charset="0"/>
                <a:ea typeface="Calibri" pitchFamily="34" charset="-122"/>
                <a:cs typeface="Calibri" pitchFamily="34" charset="-120"/>
              </a:rPr>
              <a:t>SOURCES  </a:t>
            </a:r>
            <a:pPr indent="0" marL="0">
              <a:buNone/>
            </a:pPr>
            <a:r>
              <a:rPr lang="en-US" sz="750" dirty="0">
                <a:solidFill>
                  <a:srgbClr val="7B94BA"/>
                </a:solidFill>
                <a:latin typeface="Calibri" pitchFamily="34" charset="0"/>
                <a:ea typeface="Calibri" pitchFamily="34" charset="-122"/>
                <a:cs typeface="Calibri" pitchFamily="34" charset="-120"/>
              </a:rPr>
              <a:t>DGCA CAR Section 3, Series M, Part IV, 'Facilities to be provided to passengers by airlines due to denied boarding, cancellation of flights and delays in flights' — as summarised by the Ministry of Civil Aviation, PIB release 1984936, 11 Dec 2023. Cancellation slabs corroborated across independent legal summaries. Rules are illustrative and must be reconciled with the current CAR text before production.</a:t>
            </a:r>
            <a:endParaRPr lang="en-US" sz="75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B3D"/>
        </a:solidFill>
        <a:effectLst/>
      </p:bgPr>
    </p:bg>
    <p:spTree>
      <p:nvGrpSpPr>
        <p:cNvPr id="1" name=""/>
        <p:cNvGrpSpPr/>
        <p:nvPr/>
      </p:nvGrpSpPr>
      <p:grpSpPr/>
      <p:sp>
        <p:nvSpPr>
          <p:cNvPr id="2" name="TextBox 1"/>
          <p:cNvSpPr txBox="1"/>
          <p:nvPr/>
        </p:nvSpPr>
        <p:spPr>
          <a:xfrm>
            <a:off x="457200" y="146304"/>
            <a:ext cx="8229600" cy="201168"/>
          </a:xfrm>
          <a:prstGeom prst="rect">
            <a:avLst/>
          </a:prstGeom>
          <a:noFill/>
        </p:spPr>
        <p:txBody>
          <a:bodyPr wrap="square" lIns="0" rIns="0" tIns="0" bIns="0">
            <a:spAutoFit/>
          </a:bodyPr>
          <a:lstStyle/>
          <a:p>
            <a:pPr algn="l">
              <a:lnSpc>
                <a:spcPct val="100000"/>
              </a:lnSpc>
            </a:pPr>
            <a:r>
              <a:rPr sz="850" b="1">
                <a:solidFill>
                  <a:srgbClr val="3D9CFF"/>
                </a:solidFill>
                <a:latin typeface="Calibri"/>
              </a:rPr>
              <a:t>06 · HOW THE PREDICTION WORKS</a:t>
            </a:r>
          </a:p>
        </p:txBody>
      </p:sp>
      <p:sp>
        <p:nvSpPr>
          <p:cNvPr id="3" name="TextBox 2"/>
          <p:cNvSpPr txBox="1"/>
          <p:nvPr/>
        </p:nvSpPr>
        <p:spPr>
          <a:xfrm>
            <a:off x="11155680" y="146304"/>
            <a:ext cx="576072" cy="201168"/>
          </a:xfrm>
          <a:prstGeom prst="rect">
            <a:avLst/>
          </a:prstGeom>
          <a:noFill/>
        </p:spPr>
        <p:txBody>
          <a:bodyPr wrap="square" lIns="0" rIns="0" tIns="0" bIns="0">
            <a:spAutoFit/>
          </a:bodyPr>
          <a:lstStyle/>
          <a:p>
            <a:pPr algn="r">
              <a:lnSpc>
                <a:spcPct val="100000"/>
              </a:lnSpc>
            </a:pPr>
            <a:r>
              <a:rPr sz="850" b="0">
                <a:solidFill>
                  <a:srgbClr val="7B94BA"/>
                </a:solidFill>
                <a:latin typeface="Calibri"/>
              </a:rPr>
              <a:t>7</a:t>
            </a:r>
          </a:p>
        </p:txBody>
      </p:sp>
      <p:sp>
        <p:nvSpPr>
          <p:cNvPr id="4" name="TextBox 3"/>
          <p:cNvSpPr txBox="1"/>
          <p:nvPr/>
        </p:nvSpPr>
        <p:spPr>
          <a:xfrm>
            <a:off x="457200" y="365760"/>
            <a:ext cx="11274552" cy="420624"/>
          </a:xfrm>
          <a:prstGeom prst="rect">
            <a:avLst/>
          </a:prstGeom>
          <a:noFill/>
        </p:spPr>
        <p:txBody>
          <a:bodyPr wrap="square" lIns="0" rIns="0" tIns="0" bIns="0">
            <a:spAutoFit/>
          </a:bodyPr>
          <a:lstStyle/>
          <a:p>
            <a:pPr algn="l">
              <a:lnSpc>
                <a:spcPct val="100000"/>
              </a:lnSpc>
            </a:pPr>
            <a:r>
              <a:rPr sz="2500" b="1">
                <a:solidFill>
                  <a:srgbClr val="FFFFFF"/>
                </a:solidFill>
                <a:latin typeface="Cambria"/>
              </a:rPr>
              <a:t>The model buys time. It does not decide anything.</a:t>
            </a:r>
          </a:p>
        </p:txBody>
      </p:sp>
      <p:sp>
        <p:nvSpPr>
          <p:cNvPr id="5" name="TextBox 4"/>
          <p:cNvSpPr txBox="1"/>
          <p:nvPr/>
        </p:nvSpPr>
        <p:spPr>
          <a:xfrm>
            <a:off x="457200" y="804672"/>
            <a:ext cx="11274552" cy="310896"/>
          </a:xfrm>
          <a:prstGeom prst="rect">
            <a:avLst/>
          </a:prstGeom>
          <a:noFill/>
        </p:spPr>
        <p:txBody>
          <a:bodyPr wrap="square" lIns="0" rIns="0" tIns="0" bIns="0">
            <a:spAutoFit/>
          </a:bodyPr>
          <a:lstStyle/>
          <a:p>
            <a:pPr algn="l">
              <a:lnSpc>
                <a:spcPct val="100000"/>
              </a:lnSpc>
            </a:pPr>
            <a:r>
              <a:rPr sz="1150" b="0">
                <a:solidFill>
                  <a:srgbClr val="A9BEDC"/>
                </a:solidFill>
                <a:latin typeface="Calibri"/>
              </a:rPr>
              <a:t>A cancellation is a fact the airline files — we never need to guess it to act on it. The forecast exists to move work before the event.</a:t>
            </a:r>
          </a:p>
        </p:txBody>
      </p:sp>
      <p:sp>
        <p:nvSpPr>
          <p:cNvPr id="6" name="Rounded Rectangle 5"/>
          <p:cNvSpPr/>
          <p:nvPr/>
        </p:nvSpPr>
        <p:spPr>
          <a:xfrm>
            <a:off x="457200" y="1152144"/>
            <a:ext cx="11274552" cy="841248"/>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76656" y="1298448"/>
            <a:ext cx="10881360" cy="256032"/>
          </a:xfrm>
          <a:prstGeom prst="rect">
            <a:avLst/>
          </a:prstGeom>
          <a:noFill/>
        </p:spPr>
        <p:txBody>
          <a:bodyPr wrap="square" lIns="0" rIns="0" tIns="0" bIns="0">
            <a:spAutoFit/>
          </a:bodyPr>
          <a:lstStyle/>
          <a:p>
            <a:pPr algn="l">
              <a:lnSpc>
                <a:spcPct val="100000"/>
              </a:lnSpc>
            </a:pPr>
            <a:r>
              <a:rPr sz="1050" b="1">
                <a:solidFill>
                  <a:srgbClr val="FFFFFF"/>
                </a:solidFill>
                <a:latin typeface="Calibri"/>
              </a:rPr>
              <a:t>If we cry wolf and the flight operates → it costs one API call, and the member never knows.</a:t>
            </a:r>
          </a:p>
        </p:txBody>
      </p:sp>
      <p:sp>
        <p:nvSpPr>
          <p:cNvPr id="8" name="TextBox 7"/>
          <p:cNvSpPr txBox="1"/>
          <p:nvPr/>
        </p:nvSpPr>
        <p:spPr>
          <a:xfrm>
            <a:off x="676656" y="1572768"/>
            <a:ext cx="10881360" cy="329184"/>
          </a:xfrm>
          <a:prstGeom prst="rect">
            <a:avLst/>
          </a:prstGeom>
          <a:noFill/>
        </p:spPr>
        <p:txBody>
          <a:bodyPr wrap="square" lIns="0" rIns="0" tIns="0" bIns="0">
            <a:spAutoFit/>
          </a:bodyPr>
          <a:lstStyle/>
          <a:p>
            <a:pPr algn="l">
              <a:lnSpc>
                <a:spcPct val="100000"/>
              </a:lnSpc>
            </a:pPr>
            <a:r>
              <a:rPr sz="900" b="0">
                <a:solidFill>
                  <a:srgbClr val="A9BEDC"/>
                </a:solidFill>
                <a:latin typeface="Calibri"/>
              </a:rPr>
              <a:t>If we miss one and it cancels → recovery takes 53 s instead of 11 s. Still recovered. Neither case strands anybody, which is exactly why an imperfect model is safe to run in production.</a:t>
            </a:r>
          </a:p>
        </p:txBody>
      </p:sp>
      <p:sp>
        <p:nvSpPr>
          <p:cNvPr id="9" name="TextBox 8"/>
          <p:cNvSpPr txBox="1"/>
          <p:nvPr/>
        </p:nvSpPr>
        <p:spPr>
          <a:xfrm>
            <a:off x="457200" y="2212848"/>
            <a:ext cx="5486400" cy="201168"/>
          </a:xfrm>
          <a:prstGeom prst="rect">
            <a:avLst/>
          </a:prstGeom>
          <a:noFill/>
        </p:spPr>
        <p:txBody>
          <a:bodyPr wrap="square" lIns="0" rIns="0" tIns="0" bIns="0">
            <a:spAutoFit/>
          </a:bodyPr>
          <a:lstStyle/>
          <a:p>
            <a:pPr algn="l">
              <a:lnSpc>
                <a:spcPct val="100000"/>
              </a:lnSpc>
            </a:pPr>
            <a:r>
              <a:rPr sz="850" b="1">
                <a:solidFill>
                  <a:srgbClr val="3D9CFF"/>
                </a:solidFill>
                <a:latin typeface="Calibri"/>
              </a:rPr>
              <a:t>FIVE WEIGHTED SIGNALS</a:t>
            </a:r>
          </a:p>
        </p:txBody>
      </p:sp>
      <p:sp>
        <p:nvSpPr>
          <p:cNvPr id="10" name="Rounded Rectangle 9"/>
          <p:cNvSpPr/>
          <p:nvPr/>
        </p:nvSpPr>
        <p:spPr>
          <a:xfrm>
            <a:off x="457200" y="2468880"/>
            <a:ext cx="5532120" cy="640080"/>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21792" y="2651760"/>
            <a:ext cx="685800" cy="256032"/>
          </a:xfrm>
          <a:prstGeom prst="rect">
            <a:avLst/>
          </a:prstGeom>
          <a:noFill/>
        </p:spPr>
        <p:txBody>
          <a:bodyPr wrap="square" lIns="0" rIns="0" tIns="0" bIns="0">
            <a:spAutoFit/>
          </a:bodyPr>
          <a:lstStyle/>
          <a:p>
            <a:pPr algn="l">
              <a:lnSpc>
                <a:spcPct val="100000"/>
              </a:lnSpc>
            </a:pPr>
            <a:r>
              <a:rPr sz="1300" b="1">
                <a:solidFill>
                  <a:srgbClr val="3D9CFF"/>
                </a:solidFill>
                <a:latin typeface="Cambria"/>
              </a:rPr>
              <a:t>34%</a:t>
            </a:r>
          </a:p>
        </p:txBody>
      </p:sp>
      <p:sp>
        <p:nvSpPr>
          <p:cNvPr id="12" name="TextBox 11"/>
          <p:cNvSpPr txBox="1"/>
          <p:nvPr/>
        </p:nvSpPr>
        <p:spPr>
          <a:xfrm>
            <a:off x="1417320" y="2569464"/>
            <a:ext cx="4389120" cy="219456"/>
          </a:xfrm>
          <a:prstGeom prst="rect">
            <a:avLst/>
          </a:prstGeom>
          <a:noFill/>
        </p:spPr>
        <p:txBody>
          <a:bodyPr wrap="square" lIns="0" rIns="0" tIns="0" bIns="0">
            <a:spAutoFit/>
          </a:bodyPr>
          <a:lstStyle/>
          <a:p>
            <a:pPr algn="l">
              <a:lnSpc>
                <a:spcPct val="100000"/>
              </a:lnSpc>
            </a:pPr>
            <a:r>
              <a:rPr sz="1000" b="1">
                <a:solidFill>
                  <a:srgbClr val="FFFFFF"/>
                </a:solidFill>
                <a:latin typeface="Cambria"/>
              </a:rPr>
              <a:t>Weather at both ends</a:t>
            </a:r>
          </a:p>
        </p:txBody>
      </p:sp>
      <p:sp>
        <p:nvSpPr>
          <p:cNvPr id="13" name="TextBox 12"/>
          <p:cNvSpPr txBox="1"/>
          <p:nvPr/>
        </p:nvSpPr>
        <p:spPr>
          <a:xfrm>
            <a:off x="1417320" y="2798064"/>
            <a:ext cx="4389120" cy="256032"/>
          </a:xfrm>
          <a:prstGeom prst="rect">
            <a:avLst/>
          </a:prstGeom>
          <a:noFill/>
        </p:spPr>
        <p:txBody>
          <a:bodyPr wrap="square" lIns="0" rIns="0" tIns="0" bIns="0">
            <a:spAutoFit/>
          </a:bodyPr>
          <a:lstStyle/>
          <a:p>
            <a:pPr algn="l">
              <a:lnSpc>
                <a:spcPct val="100000"/>
              </a:lnSpc>
            </a:pPr>
            <a:r>
              <a:rPr sz="750" b="0">
                <a:solidFill>
                  <a:srgbClr val="A9BEDC"/>
                </a:solidFill>
                <a:latin typeface="Calibri"/>
              </a:rPr>
              <a:t>METAR/TAF against published runway minima — not a consumer forecast</a:t>
            </a:r>
          </a:p>
        </p:txBody>
      </p:sp>
      <p:sp>
        <p:nvSpPr>
          <p:cNvPr id="14" name="Rounded Rectangle 13"/>
          <p:cNvSpPr/>
          <p:nvPr/>
        </p:nvSpPr>
        <p:spPr>
          <a:xfrm>
            <a:off x="457200" y="3182112"/>
            <a:ext cx="5532120" cy="640080"/>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1792" y="3364992"/>
            <a:ext cx="685800" cy="256032"/>
          </a:xfrm>
          <a:prstGeom prst="rect">
            <a:avLst/>
          </a:prstGeom>
          <a:noFill/>
        </p:spPr>
        <p:txBody>
          <a:bodyPr wrap="square" lIns="0" rIns="0" tIns="0" bIns="0">
            <a:spAutoFit/>
          </a:bodyPr>
          <a:lstStyle/>
          <a:p>
            <a:pPr algn="l">
              <a:lnSpc>
                <a:spcPct val="100000"/>
              </a:lnSpc>
            </a:pPr>
            <a:r>
              <a:rPr sz="1300" b="1">
                <a:solidFill>
                  <a:srgbClr val="9B8CFF"/>
                </a:solidFill>
                <a:latin typeface="Cambria"/>
              </a:rPr>
              <a:t>26%</a:t>
            </a:r>
          </a:p>
        </p:txBody>
      </p:sp>
      <p:sp>
        <p:nvSpPr>
          <p:cNvPr id="16" name="TextBox 15"/>
          <p:cNvSpPr txBox="1"/>
          <p:nvPr/>
        </p:nvSpPr>
        <p:spPr>
          <a:xfrm>
            <a:off x="1417320" y="3282696"/>
            <a:ext cx="4389120" cy="219456"/>
          </a:xfrm>
          <a:prstGeom prst="rect">
            <a:avLst/>
          </a:prstGeom>
          <a:noFill/>
        </p:spPr>
        <p:txBody>
          <a:bodyPr wrap="square" lIns="0" rIns="0" tIns="0" bIns="0">
            <a:spAutoFit/>
          </a:bodyPr>
          <a:lstStyle/>
          <a:p>
            <a:pPr algn="l">
              <a:lnSpc>
                <a:spcPct val="100000"/>
              </a:lnSpc>
            </a:pPr>
            <a:r>
              <a:rPr sz="1000" b="1">
                <a:solidFill>
                  <a:srgbClr val="FFFFFF"/>
                </a:solidFill>
                <a:latin typeface="Cambria"/>
              </a:rPr>
              <a:t>Your aircraft's inbound</a:t>
            </a:r>
          </a:p>
        </p:txBody>
      </p:sp>
      <p:sp>
        <p:nvSpPr>
          <p:cNvPr id="17" name="TextBox 16"/>
          <p:cNvSpPr txBox="1"/>
          <p:nvPr/>
        </p:nvSpPr>
        <p:spPr>
          <a:xfrm>
            <a:off x="1417320" y="3511296"/>
            <a:ext cx="4389120" cy="256032"/>
          </a:xfrm>
          <a:prstGeom prst="rect">
            <a:avLst/>
          </a:prstGeom>
          <a:noFill/>
        </p:spPr>
        <p:txBody>
          <a:bodyPr wrap="square" lIns="0" rIns="0" tIns="0" bIns="0">
            <a:spAutoFit/>
          </a:bodyPr>
          <a:lstStyle/>
          <a:p>
            <a:pPr algn="l">
              <a:lnSpc>
                <a:spcPct val="100000"/>
              </a:lnSpc>
            </a:pPr>
            <a:r>
              <a:rPr sz="750" b="0">
                <a:solidFill>
                  <a:srgbClr val="A9BEDC"/>
                </a:solidFill>
                <a:latin typeface="Calibri"/>
              </a:rPr>
              <a:t>A late inbound on a tight turn is how a cancellation is MADE</a:t>
            </a:r>
          </a:p>
        </p:txBody>
      </p:sp>
      <p:sp>
        <p:nvSpPr>
          <p:cNvPr id="18" name="Rounded Rectangle 17"/>
          <p:cNvSpPr/>
          <p:nvPr/>
        </p:nvSpPr>
        <p:spPr>
          <a:xfrm>
            <a:off x="457200" y="3895344"/>
            <a:ext cx="5532120" cy="640080"/>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21792" y="4078224"/>
            <a:ext cx="685800" cy="256032"/>
          </a:xfrm>
          <a:prstGeom prst="rect">
            <a:avLst/>
          </a:prstGeom>
          <a:noFill/>
        </p:spPr>
        <p:txBody>
          <a:bodyPr wrap="square" lIns="0" rIns="0" tIns="0" bIns="0">
            <a:spAutoFit/>
          </a:bodyPr>
          <a:lstStyle/>
          <a:p>
            <a:pPr algn="l">
              <a:lnSpc>
                <a:spcPct val="100000"/>
              </a:lnSpc>
            </a:pPr>
            <a:r>
              <a:rPr sz="1300" b="1">
                <a:solidFill>
                  <a:srgbClr val="2ECC9A"/>
                </a:solidFill>
                <a:latin typeface="Cambria"/>
              </a:rPr>
              <a:t>18%</a:t>
            </a:r>
          </a:p>
        </p:txBody>
      </p:sp>
      <p:sp>
        <p:nvSpPr>
          <p:cNvPr id="20" name="TextBox 19"/>
          <p:cNvSpPr txBox="1"/>
          <p:nvPr/>
        </p:nvSpPr>
        <p:spPr>
          <a:xfrm>
            <a:off x="1417320" y="3995928"/>
            <a:ext cx="4389120" cy="219456"/>
          </a:xfrm>
          <a:prstGeom prst="rect">
            <a:avLst/>
          </a:prstGeom>
          <a:noFill/>
        </p:spPr>
        <p:txBody>
          <a:bodyPr wrap="square" lIns="0" rIns="0" tIns="0" bIns="0">
            <a:spAutoFit/>
          </a:bodyPr>
          <a:lstStyle/>
          <a:p>
            <a:pPr algn="l">
              <a:lnSpc>
                <a:spcPct val="100000"/>
              </a:lnSpc>
            </a:pPr>
            <a:r>
              <a:rPr sz="1000" b="1">
                <a:solidFill>
                  <a:srgbClr val="FFFFFF"/>
                </a:solidFill>
                <a:latin typeface="Cambria"/>
              </a:rPr>
              <a:t>Airport congestion</a:t>
            </a:r>
          </a:p>
        </p:txBody>
      </p:sp>
      <p:sp>
        <p:nvSpPr>
          <p:cNvPr id="21" name="TextBox 20"/>
          <p:cNvSpPr txBox="1"/>
          <p:nvPr/>
        </p:nvSpPr>
        <p:spPr>
          <a:xfrm>
            <a:off x="1417320" y="4224528"/>
            <a:ext cx="4389120" cy="256032"/>
          </a:xfrm>
          <a:prstGeom prst="rect">
            <a:avLst/>
          </a:prstGeom>
          <a:noFill/>
        </p:spPr>
        <p:txBody>
          <a:bodyPr wrap="square" lIns="0" rIns="0" tIns="0" bIns="0">
            <a:spAutoFit/>
          </a:bodyPr>
          <a:lstStyle/>
          <a:p>
            <a:pPr algn="l">
              <a:lnSpc>
                <a:spcPct val="100000"/>
              </a:lnSpc>
            </a:pPr>
            <a:r>
              <a:rPr sz="750" b="0">
                <a:solidFill>
                  <a:srgbClr val="A9BEDC"/>
                </a:solidFill>
                <a:latin typeface="Calibri"/>
              </a:rPr>
              <a:t>Movements in the ±30 min bank, plus any ATC flow restriction</a:t>
            </a:r>
          </a:p>
        </p:txBody>
      </p:sp>
      <p:sp>
        <p:nvSpPr>
          <p:cNvPr id="22" name="Rounded Rectangle 21"/>
          <p:cNvSpPr/>
          <p:nvPr/>
        </p:nvSpPr>
        <p:spPr>
          <a:xfrm>
            <a:off x="457200" y="4608576"/>
            <a:ext cx="5532120" cy="640080"/>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 y="4791456"/>
            <a:ext cx="685800" cy="256032"/>
          </a:xfrm>
          <a:prstGeom prst="rect">
            <a:avLst/>
          </a:prstGeom>
          <a:noFill/>
        </p:spPr>
        <p:txBody>
          <a:bodyPr wrap="square" lIns="0" rIns="0" tIns="0" bIns="0">
            <a:spAutoFit/>
          </a:bodyPr>
          <a:lstStyle/>
          <a:p>
            <a:pPr algn="l">
              <a:lnSpc>
                <a:spcPct val="100000"/>
              </a:lnSpc>
            </a:pPr>
            <a:r>
              <a:rPr sz="1300" b="1">
                <a:solidFill>
                  <a:srgbClr val="FFB020"/>
                </a:solidFill>
                <a:latin typeface="Cambria"/>
              </a:rPr>
              <a:t>14%</a:t>
            </a:r>
          </a:p>
        </p:txBody>
      </p:sp>
      <p:sp>
        <p:nvSpPr>
          <p:cNvPr id="24" name="TextBox 23"/>
          <p:cNvSpPr txBox="1"/>
          <p:nvPr/>
        </p:nvSpPr>
        <p:spPr>
          <a:xfrm>
            <a:off x="1417320" y="4709160"/>
            <a:ext cx="4389120" cy="219456"/>
          </a:xfrm>
          <a:prstGeom prst="rect">
            <a:avLst/>
          </a:prstGeom>
          <a:noFill/>
        </p:spPr>
        <p:txBody>
          <a:bodyPr wrap="square" lIns="0" rIns="0" tIns="0" bIns="0">
            <a:spAutoFit/>
          </a:bodyPr>
          <a:lstStyle/>
          <a:p>
            <a:pPr algn="l">
              <a:lnSpc>
                <a:spcPct val="100000"/>
              </a:lnSpc>
            </a:pPr>
            <a:r>
              <a:rPr sz="1000" b="1">
                <a:solidFill>
                  <a:srgbClr val="FFFFFF"/>
                </a:solidFill>
                <a:latin typeface="Cambria"/>
              </a:rPr>
              <a:t>This route's record</a:t>
            </a:r>
          </a:p>
        </p:txBody>
      </p:sp>
      <p:sp>
        <p:nvSpPr>
          <p:cNvPr id="25" name="TextBox 24"/>
          <p:cNvSpPr txBox="1"/>
          <p:nvPr/>
        </p:nvSpPr>
        <p:spPr>
          <a:xfrm>
            <a:off x="1417320" y="4937760"/>
            <a:ext cx="4389120" cy="256032"/>
          </a:xfrm>
          <a:prstGeom prst="rect">
            <a:avLst/>
          </a:prstGeom>
          <a:noFill/>
        </p:spPr>
        <p:txBody>
          <a:bodyPr wrap="square" lIns="0" rIns="0" tIns="0" bIns="0">
            <a:spAutoFit/>
          </a:bodyPr>
          <a:lstStyle/>
          <a:p>
            <a:pPr algn="l">
              <a:lnSpc>
                <a:spcPct val="100000"/>
              </a:lnSpc>
            </a:pPr>
            <a:r>
              <a:rPr sz="750" b="0">
                <a:solidFill>
                  <a:srgbClr val="A9BEDC"/>
                </a:solidFill>
                <a:latin typeface="Calibri"/>
              </a:rPr>
              <a:t>DGCA per-carrier history, and our own observations</a:t>
            </a:r>
          </a:p>
        </p:txBody>
      </p:sp>
      <p:sp>
        <p:nvSpPr>
          <p:cNvPr id="26" name="Rounded Rectangle 25"/>
          <p:cNvSpPr/>
          <p:nvPr/>
        </p:nvSpPr>
        <p:spPr>
          <a:xfrm>
            <a:off x="457200" y="5321808"/>
            <a:ext cx="5532120" cy="640080"/>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21792" y="5504688"/>
            <a:ext cx="685800" cy="256032"/>
          </a:xfrm>
          <a:prstGeom prst="rect">
            <a:avLst/>
          </a:prstGeom>
          <a:noFill/>
        </p:spPr>
        <p:txBody>
          <a:bodyPr wrap="square" lIns="0" rIns="0" tIns="0" bIns="0">
            <a:spAutoFit/>
          </a:bodyPr>
          <a:lstStyle/>
          <a:p>
            <a:pPr algn="l">
              <a:lnSpc>
                <a:spcPct val="100000"/>
              </a:lnSpc>
            </a:pPr>
            <a:r>
              <a:rPr sz="1300" b="1">
                <a:solidFill>
                  <a:srgbClr val="FF6B6B"/>
                </a:solidFill>
                <a:latin typeface="Cambria"/>
              </a:rPr>
              <a:t>8%</a:t>
            </a:r>
          </a:p>
        </p:txBody>
      </p:sp>
      <p:sp>
        <p:nvSpPr>
          <p:cNvPr id="28" name="TextBox 27"/>
          <p:cNvSpPr txBox="1"/>
          <p:nvPr/>
        </p:nvSpPr>
        <p:spPr>
          <a:xfrm>
            <a:off x="1417320" y="5422392"/>
            <a:ext cx="4389120" cy="219456"/>
          </a:xfrm>
          <a:prstGeom prst="rect">
            <a:avLst/>
          </a:prstGeom>
          <a:noFill/>
        </p:spPr>
        <p:txBody>
          <a:bodyPr wrap="square" lIns="0" rIns="0" tIns="0" bIns="0">
            <a:spAutoFit/>
          </a:bodyPr>
          <a:lstStyle/>
          <a:p>
            <a:pPr algn="l">
              <a:lnSpc>
                <a:spcPct val="100000"/>
              </a:lnSpc>
            </a:pPr>
            <a:r>
              <a:rPr sz="1000" b="1">
                <a:solidFill>
                  <a:srgbClr val="FFFFFF"/>
                </a:solidFill>
                <a:latin typeface="Cambria"/>
              </a:rPr>
              <a:t>Time of day</a:t>
            </a:r>
          </a:p>
        </p:txBody>
      </p:sp>
      <p:sp>
        <p:nvSpPr>
          <p:cNvPr id="29" name="TextBox 28"/>
          <p:cNvSpPr txBox="1"/>
          <p:nvPr/>
        </p:nvSpPr>
        <p:spPr>
          <a:xfrm>
            <a:off x="1417320" y="5650992"/>
            <a:ext cx="4389120" cy="256032"/>
          </a:xfrm>
          <a:prstGeom prst="rect">
            <a:avLst/>
          </a:prstGeom>
          <a:noFill/>
        </p:spPr>
        <p:txBody>
          <a:bodyPr wrap="square" lIns="0" rIns="0" tIns="0" bIns="0">
            <a:spAutoFit/>
          </a:bodyPr>
          <a:lstStyle/>
          <a:p>
            <a:pPr algn="l">
              <a:lnSpc>
                <a:spcPct val="100000"/>
              </a:lnSpc>
            </a:pPr>
            <a:r>
              <a:rPr sz="750" b="0">
                <a:solidFill>
                  <a:srgbClr val="A9BEDC"/>
                </a:solidFill>
                <a:latin typeface="Calibri"/>
              </a:rPr>
              <a:t>Delay accumulates through the operating day</a:t>
            </a:r>
          </a:p>
        </p:txBody>
      </p:sp>
      <p:sp>
        <p:nvSpPr>
          <p:cNvPr id="30" name="TextBox 29"/>
          <p:cNvSpPr txBox="1"/>
          <p:nvPr/>
        </p:nvSpPr>
        <p:spPr>
          <a:xfrm>
            <a:off x="6217920" y="2212848"/>
            <a:ext cx="5486400" cy="201168"/>
          </a:xfrm>
          <a:prstGeom prst="rect">
            <a:avLst/>
          </a:prstGeom>
          <a:noFill/>
        </p:spPr>
        <p:txBody>
          <a:bodyPr wrap="square" lIns="0" rIns="0" tIns="0" bIns="0">
            <a:spAutoFit/>
          </a:bodyPr>
          <a:lstStyle/>
          <a:p>
            <a:pPr algn="l">
              <a:lnSpc>
                <a:spcPct val="100000"/>
              </a:lnSpc>
            </a:pPr>
            <a:r>
              <a:rPr sz="850" b="1">
                <a:solidFill>
                  <a:srgbClr val="3D9CFF"/>
                </a:solidFill>
                <a:latin typeface="Calibri"/>
              </a:rPr>
              <a:t>AND WHAT WE DO AT EACH LEVEL</a:t>
            </a:r>
          </a:p>
        </p:txBody>
      </p:sp>
      <p:sp>
        <p:nvSpPr>
          <p:cNvPr id="31" name="Rounded Rectangle 30"/>
          <p:cNvSpPr/>
          <p:nvPr/>
        </p:nvSpPr>
        <p:spPr>
          <a:xfrm>
            <a:off x="6217920" y="2468880"/>
            <a:ext cx="5513832" cy="640080"/>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382512" y="2651760"/>
            <a:ext cx="1051560" cy="256032"/>
          </a:xfrm>
          <a:prstGeom prst="rect">
            <a:avLst/>
          </a:prstGeom>
          <a:noFill/>
        </p:spPr>
        <p:txBody>
          <a:bodyPr wrap="square" lIns="0" rIns="0" tIns="0" bIns="0">
            <a:spAutoFit/>
          </a:bodyPr>
          <a:lstStyle/>
          <a:p>
            <a:pPr algn="l">
              <a:lnSpc>
                <a:spcPct val="100000"/>
              </a:lnSpc>
            </a:pPr>
            <a:r>
              <a:rPr sz="1050" b="1">
                <a:solidFill>
                  <a:srgbClr val="7B94BA"/>
                </a:solidFill>
                <a:latin typeface="Courier New"/>
              </a:rPr>
              <a:t>0–24%</a:t>
            </a:r>
          </a:p>
        </p:txBody>
      </p:sp>
      <p:sp>
        <p:nvSpPr>
          <p:cNvPr id="33" name="TextBox 32"/>
          <p:cNvSpPr txBox="1"/>
          <p:nvPr/>
        </p:nvSpPr>
        <p:spPr>
          <a:xfrm>
            <a:off x="7543800" y="2569464"/>
            <a:ext cx="3108960" cy="219456"/>
          </a:xfrm>
          <a:prstGeom prst="rect">
            <a:avLst/>
          </a:prstGeom>
          <a:noFill/>
        </p:spPr>
        <p:txBody>
          <a:bodyPr wrap="square" lIns="0" rIns="0" tIns="0" bIns="0">
            <a:spAutoFit/>
          </a:bodyPr>
          <a:lstStyle/>
          <a:p>
            <a:pPr algn="l">
              <a:lnSpc>
                <a:spcPct val="100000"/>
              </a:lnSpc>
            </a:pPr>
            <a:r>
              <a:rPr sz="1000" b="1">
                <a:solidFill>
                  <a:srgbClr val="FFFFFF"/>
                </a:solidFill>
                <a:latin typeface="Cambria"/>
              </a:rPr>
              <a:t>Watch only</a:t>
            </a:r>
          </a:p>
        </p:txBody>
      </p:sp>
      <p:sp>
        <p:nvSpPr>
          <p:cNvPr id="34" name="TextBox 33"/>
          <p:cNvSpPr txBox="1"/>
          <p:nvPr/>
        </p:nvSpPr>
        <p:spPr>
          <a:xfrm>
            <a:off x="7543800" y="2798064"/>
            <a:ext cx="3108960" cy="256032"/>
          </a:xfrm>
          <a:prstGeom prst="rect">
            <a:avLst/>
          </a:prstGeom>
          <a:noFill/>
        </p:spPr>
        <p:txBody>
          <a:bodyPr wrap="square" lIns="0" rIns="0" tIns="0" bIns="0">
            <a:spAutoFit/>
          </a:bodyPr>
          <a:lstStyle/>
          <a:p>
            <a:pPr algn="l">
              <a:lnSpc>
                <a:spcPct val="100000"/>
              </a:lnSpc>
            </a:pPr>
            <a:r>
              <a:rPr sz="750" b="0">
                <a:solidFill>
                  <a:srgbClr val="A9BEDC"/>
                </a:solidFill>
                <a:latin typeface="Calibri"/>
              </a:rPr>
              <a:t>Re-score every 10 min. Your phone stays silent.</a:t>
            </a:r>
          </a:p>
        </p:txBody>
      </p:sp>
      <p:sp>
        <p:nvSpPr>
          <p:cNvPr id="35" name="TextBox 34"/>
          <p:cNvSpPr txBox="1"/>
          <p:nvPr/>
        </p:nvSpPr>
        <p:spPr>
          <a:xfrm>
            <a:off x="10744200" y="2688336"/>
            <a:ext cx="868680" cy="201168"/>
          </a:xfrm>
          <a:prstGeom prst="rect">
            <a:avLst/>
          </a:prstGeom>
          <a:noFill/>
        </p:spPr>
        <p:txBody>
          <a:bodyPr wrap="square" lIns="0" rIns="0" tIns="0" bIns="0">
            <a:spAutoFit/>
          </a:bodyPr>
          <a:lstStyle/>
          <a:p>
            <a:pPr algn="r">
              <a:lnSpc>
                <a:spcPct val="100000"/>
              </a:lnSpc>
            </a:pPr>
            <a:r>
              <a:rPr sz="650" b="1">
                <a:solidFill>
                  <a:srgbClr val="7B94BA"/>
                </a:solidFill>
                <a:latin typeface="Calibri"/>
              </a:rPr>
              <a:t>silent</a:t>
            </a:r>
          </a:p>
        </p:txBody>
      </p:sp>
      <p:sp>
        <p:nvSpPr>
          <p:cNvPr id="36" name="Rounded Rectangle 35"/>
          <p:cNvSpPr/>
          <p:nvPr/>
        </p:nvSpPr>
        <p:spPr>
          <a:xfrm>
            <a:off x="6217920" y="3182112"/>
            <a:ext cx="5513832" cy="640080"/>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382512" y="3364992"/>
            <a:ext cx="1051560" cy="256032"/>
          </a:xfrm>
          <a:prstGeom prst="rect">
            <a:avLst/>
          </a:prstGeom>
          <a:noFill/>
        </p:spPr>
        <p:txBody>
          <a:bodyPr wrap="square" lIns="0" rIns="0" tIns="0" bIns="0">
            <a:spAutoFit/>
          </a:bodyPr>
          <a:lstStyle/>
          <a:p>
            <a:pPr algn="l">
              <a:lnSpc>
                <a:spcPct val="100000"/>
              </a:lnSpc>
            </a:pPr>
            <a:r>
              <a:rPr sz="1050" b="1">
                <a:solidFill>
                  <a:srgbClr val="2ECC9A"/>
                </a:solidFill>
                <a:latin typeface="Courier New"/>
              </a:rPr>
              <a:t>25–54%</a:t>
            </a:r>
          </a:p>
        </p:txBody>
      </p:sp>
      <p:sp>
        <p:nvSpPr>
          <p:cNvPr id="38" name="TextBox 37"/>
          <p:cNvSpPr txBox="1"/>
          <p:nvPr/>
        </p:nvSpPr>
        <p:spPr>
          <a:xfrm>
            <a:off x="7543800" y="3282696"/>
            <a:ext cx="3108960" cy="219456"/>
          </a:xfrm>
          <a:prstGeom prst="rect">
            <a:avLst/>
          </a:prstGeom>
          <a:noFill/>
        </p:spPr>
        <p:txBody>
          <a:bodyPr wrap="square" lIns="0" rIns="0" tIns="0" bIns="0">
            <a:spAutoFit/>
          </a:bodyPr>
          <a:lstStyle/>
          <a:p>
            <a:pPr algn="l">
              <a:lnSpc>
                <a:spcPct val="100000"/>
              </a:lnSpc>
            </a:pPr>
            <a:r>
              <a:rPr sz="1000" b="1">
                <a:solidFill>
                  <a:srgbClr val="FFFFFF"/>
                </a:solidFill>
                <a:latin typeface="Cambria"/>
              </a:rPr>
              <a:t>Start preparing</a:t>
            </a:r>
          </a:p>
        </p:txBody>
      </p:sp>
      <p:sp>
        <p:nvSpPr>
          <p:cNvPr id="39" name="TextBox 38"/>
          <p:cNvSpPr txBox="1"/>
          <p:nvPr/>
        </p:nvSpPr>
        <p:spPr>
          <a:xfrm>
            <a:off x="7543800" y="3511296"/>
            <a:ext cx="3108960" cy="256032"/>
          </a:xfrm>
          <a:prstGeom prst="rect">
            <a:avLst/>
          </a:prstGeom>
          <a:noFill/>
        </p:spPr>
        <p:txBody>
          <a:bodyPr wrap="square" lIns="0" rIns="0" tIns="0" bIns="0">
            <a:spAutoFit/>
          </a:bodyPr>
          <a:lstStyle/>
          <a:p>
            <a:pPr algn="l">
              <a:lnSpc>
                <a:spcPct val="100000"/>
              </a:lnSpc>
            </a:pPr>
            <a:r>
              <a:rPr sz="750" b="0">
                <a:solidFill>
                  <a:srgbClr val="A9BEDC"/>
                </a:solidFill>
                <a:latin typeface="Calibri"/>
              </a:rPr>
              <a:t>Assemble the trip, one search for the whole route, price the options. No hold, no spend.</a:t>
            </a:r>
          </a:p>
        </p:txBody>
      </p:sp>
      <p:sp>
        <p:nvSpPr>
          <p:cNvPr id="40" name="TextBox 39"/>
          <p:cNvSpPr txBox="1"/>
          <p:nvPr/>
        </p:nvSpPr>
        <p:spPr>
          <a:xfrm>
            <a:off x="10744200" y="3401568"/>
            <a:ext cx="868680" cy="201168"/>
          </a:xfrm>
          <a:prstGeom prst="rect">
            <a:avLst/>
          </a:prstGeom>
          <a:noFill/>
        </p:spPr>
        <p:txBody>
          <a:bodyPr wrap="square" lIns="0" rIns="0" tIns="0" bIns="0">
            <a:spAutoFit/>
          </a:bodyPr>
          <a:lstStyle/>
          <a:p>
            <a:pPr algn="r">
              <a:lnSpc>
                <a:spcPct val="100000"/>
              </a:lnSpc>
            </a:pPr>
            <a:r>
              <a:rPr sz="650" b="1">
                <a:solidFill>
                  <a:srgbClr val="7B94BA"/>
                </a:solidFill>
                <a:latin typeface="Calibri"/>
              </a:rPr>
              <a:t>silent</a:t>
            </a:r>
          </a:p>
        </p:txBody>
      </p:sp>
      <p:sp>
        <p:nvSpPr>
          <p:cNvPr id="41" name="Rounded Rectangle 40"/>
          <p:cNvSpPr/>
          <p:nvPr/>
        </p:nvSpPr>
        <p:spPr>
          <a:xfrm>
            <a:off x="6217920" y="3895344"/>
            <a:ext cx="5513832" cy="640080"/>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382512" y="4078224"/>
            <a:ext cx="1051560" cy="256032"/>
          </a:xfrm>
          <a:prstGeom prst="rect">
            <a:avLst/>
          </a:prstGeom>
          <a:noFill/>
        </p:spPr>
        <p:txBody>
          <a:bodyPr wrap="square" lIns="0" rIns="0" tIns="0" bIns="0">
            <a:spAutoFit/>
          </a:bodyPr>
          <a:lstStyle/>
          <a:p>
            <a:pPr algn="l">
              <a:lnSpc>
                <a:spcPct val="100000"/>
              </a:lnSpc>
            </a:pPr>
            <a:r>
              <a:rPr sz="1050" b="1">
                <a:solidFill>
                  <a:srgbClr val="FFB020"/>
                </a:solidFill>
                <a:latin typeface="Courier New"/>
              </a:rPr>
              <a:t>55–79%</a:t>
            </a:r>
          </a:p>
        </p:txBody>
      </p:sp>
      <p:sp>
        <p:nvSpPr>
          <p:cNvPr id="43" name="TextBox 42"/>
          <p:cNvSpPr txBox="1"/>
          <p:nvPr/>
        </p:nvSpPr>
        <p:spPr>
          <a:xfrm>
            <a:off x="7543800" y="3995928"/>
            <a:ext cx="3108960" cy="219456"/>
          </a:xfrm>
          <a:prstGeom prst="rect">
            <a:avLst/>
          </a:prstGeom>
          <a:noFill/>
        </p:spPr>
        <p:txBody>
          <a:bodyPr wrap="square" lIns="0" rIns="0" tIns="0" bIns="0">
            <a:spAutoFit/>
          </a:bodyPr>
          <a:lstStyle/>
          <a:p>
            <a:pPr algn="l">
              <a:lnSpc>
                <a:spcPct val="100000"/>
              </a:lnSpc>
            </a:pPr>
            <a:r>
              <a:rPr sz="1000" b="1">
                <a:solidFill>
                  <a:srgbClr val="FFFFFF"/>
                </a:solidFill>
                <a:latin typeface="Cambria"/>
              </a:rPr>
              <a:t>Prepare harder</a:t>
            </a:r>
          </a:p>
        </p:txBody>
      </p:sp>
      <p:sp>
        <p:nvSpPr>
          <p:cNvPr id="44" name="TextBox 43"/>
          <p:cNvSpPr txBox="1"/>
          <p:nvPr/>
        </p:nvSpPr>
        <p:spPr>
          <a:xfrm>
            <a:off x="7543800" y="4224528"/>
            <a:ext cx="3108960" cy="256032"/>
          </a:xfrm>
          <a:prstGeom prst="rect">
            <a:avLst/>
          </a:prstGeom>
          <a:noFill/>
        </p:spPr>
        <p:txBody>
          <a:bodyPr wrap="square" lIns="0" rIns="0" tIns="0" bIns="0">
            <a:spAutoFit/>
          </a:bodyPr>
          <a:lstStyle/>
          <a:p>
            <a:pPr algn="l">
              <a:lnSpc>
                <a:spcPct val="100000"/>
              </a:lnSpc>
            </a:pPr>
            <a:r>
              <a:rPr sz="750" b="0">
                <a:solidFill>
                  <a:srgbClr val="A9BEDC"/>
                </a:solidFill>
                <a:latin typeface="Calibri"/>
              </a:rPr>
              <a:t>Evaluate the hold gate; pre-compute the policy verdict on every candidate.</a:t>
            </a:r>
          </a:p>
        </p:txBody>
      </p:sp>
      <p:sp>
        <p:nvSpPr>
          <p:cNvPr id="45" name="TextBox 44"/>
          <p:cNvSpPr txBox="1"/>
          <p:nvPr/>
        </p:nvSpPr>
        <p:spPr>
          <a:xfrm>
            <a:off x="10744200" y="4114800"/>
            <a:ext cx="868680" cy="201168"/>
          </a:xfrm>
          <a:prstGeom prst="rect">
            <a:avLst/>
          </a:prstGeom>
          <a:noFill/>
        </p:spPr>
        <p:txBody>
          <a:bodyPr wrap="square" lIns="0" rIns="0" tIns="0" bIns="0">
            <a:spAutoFit/>
          </a:bodyPr>
          <a:lstStyle/>
          <a:p>
            <a:pPr algn="r">
              <a:lnSpc>
                <a:spcPct val="100000"/>
              </a:lnSpc>
            </a:pPr>
            <a:r>
              <a:rPr sz="650" b="1">
                <a:solidFill>
                  <a:srgbClr val="7B94BA"/>
                </a:solidFill>
                <a:latin typeface="Calibri"/>
              </a:rPr>
              <a:t>silent</a:t>
            </a:r>
          </a:p>
        </p:txBody>
      </p:sp>
      <p:sp>
        <p:nvSpPr>
          <p:cNvPr id="46" name="Rounded Rectangle 45"/>
          <p:cNvSpPr/>
          <p:nvPr/>
        </p:nvSpPr>
        <p:spPr>
          <a:xfrm>
            <a:off x="6217920" y="4608576"/>
            <a:ext cx="5513832" cy="640080"/>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382512" y="4791456"/>
            <a:ext cx="1051560" cy="256032"/>
          </a:xfrm>
          <a:prstGeom prst="rect">
            <a:avLst/>
          </a:prstGeom>
          <a:noFill/>
        </p:spPr>
        <p:txBody>
          <a:bodyPr wrap="square" lIns="0" rIns="0" tIns="0" bIns="0">
            <a:spAutoFit/>
          </a:bodyPr>
          <a:lstStyle/>
          <a:p>
            <a:pPr algn="l">
              <a:lnSpc>
                <a:spcPct val="100000"/>
              </a:lnSpc>
            </a:pPr>
            <a:r>
              <a:rPr sz="1050" b="1">
                <a:solidFill>
                  <a:srgbClr val="FF6B6B"/>
                </a:solidFill>
                <a:latin typeface="Courier New"/>
              </a:rPr>
              <a:t>80%+</a:t>
            </a:r>
          </a:p>
        </p:txBody>
      </p:sp>
      <p:sp>
        <p:nvSpPr>
          <p:cNvPr id="48" name="TextBox 47"/>
          <p:cNvSpPr txBox="1"/>
          <p:nvPr/>
        </p:nvSpPr>
        <p:spPr>
          <a:xfrm>
            <a:off x="7543800" y="4709160"/>
            <a:ext cx="3108960" cy="219456"/>
          </a:xfrm>
          <a:prstGeom prst="rect">
            <a:avLst/>
          </a:prstGeom>
          <a:noFill/>
        </p:spPr>
        <p:txBody>
          <a:bodyPr wrap="square" lIns="0" rIns="0" tIns="0" bIns="0">
            <a:spAutoFit/>
          </a:bodyPr>
          <a:lstStyle/>
          <a:p>
            <a:pPr algn="l">
              <a:lnSpc>
                <a:spcPct val="100000"/>
              </a:lnSpc>
            </a:pPr>
            <a:r>
              <a:rPr sz="1000" b="1">
                <a:solidFill>
                  <a:srgbClr val="FFFFFF"/>
                </a:solidFill>
                <a:latin typeface="Cambria"/>
              </a:rPr>
              <a:t>Come and ask you</a:t>
            </a:r>
          </a:p>
        </p:txBody>
      </p:sp>
      <p:sp>
        <p:nvSpPr>
          <p:cNvPr id="49" name="TextBox 48"/>
          <p:cNvSpPr txBox="1"/>
          <p:nvPr/>
        </p:nvSpPr>
        <p:spPr>
          <a:xfrm>
            <a:off x="7543800" y="4937760"/>
            <a:ext cx="3108960" cy="256032"/>
          </a:xfrm>
          <a:prstGeom prst="rect">
            <a:avLst/>
          </a:prstGeom>
          <a:noFill/>
        </p:spPr>
        <p:txBody>
          <a:bodyPr wrap="square" lIns="0" rIns="0" tIns="0" bIns="0">
            <a:spAutoFit/>
          </a:bodyPr>
          <a:lstStyle/>
          <a:p>
            <a:pPr algn="l">
              <a:lnSpc>
                <a:spcPct val="100000"/>
              </a:lnSpc>
            </a:pPr>
            <a:r>
              <a:rPr sz="750" b="0">
                <a:solidFill>
                  <a:srgbClr val="A9BEDC"/>
                </a:solidFill>
                <a:latin typeface="Calibri"/>
              </a:rPr>
              <a:t>Show the whole plan and the exact cost — while there are still hours to think.</a:t>
            </a:r>
          </a:p>
        </p:txBody>
      </p:sp>
      <p:sp>
        <p:nvSpPr>
          <p:cNvPr id="50" name="TextBox 49"/>
          <p:cNvSpPr txBox="1"/>
          <p:nvPr/>
        </p:nvSpPr>
        <p:spPr>
          <a:xfrm>
            <a:off x="10744200" y="4828032"/>
            <a:ext cx="868680" cy="201168"/>
          </a:xfrm>
          <a:prstGeom prst="rect">
            <a:avLst/>
          </a:prstGeom>
          <a:noFill/>
        </p:spPr>
        <p:txBody>
          <a:bodyPr wrap="square" lIns="0" rIns="0" tIns="0" bIns="0">
            <a:spAutoFit/>
          </a:bodyPr>
          <a:lstStyle/>
          <a:p>
            <a:pPr algn="r">
              <a:lnSpc>
                <a:spcPct val="100000"/>
              </a:lnSpc>
            </a:pPr>
            <a:r>
              <a:rPr sz="650" b="1">
                <a:solidFill>
                  <a:srgbClr val="FF6B6B"/>
                </a:solidFill>
                <a:latin typeface="Calibri"/>
              </a:rPr>
              <a:t>WE NOTIFY</a:t>
            </a:r>
          </a:p>
        </p:txBody>
      </p:sp>
      <p:sp>
        <p:nvSpPr>
          <p:cNvPr id="51" name="Rounded Rectangle 50"/>
          <p:cNvSpPr/>
          <p:nvPr/>
        </p:nvSpPr>
        <p:spPr>
          <a:xfrm>
            <a:off x="6217920" y="5321808"/>
            <a:ext cx="5513832" cy="640080"/>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6382512" y="5504688"/>
            <a:ext cx="1051560" cy="256032"/>
          </a:xfrm>
          <a:prstGeom prst="rect">
            <a:avLst/>
          </a:prstGeom>
          <a:noFill/>
        </p:spPr>
        <p:txBody>
          <a:bodyPr wrap="square" lIns="0" rIns="0" tIns="0" bIns="0">
            <a:spAutoFit/>
          </a:bodyPr>
          <a:lstStyle/>
          <a:p>
            <a:pPr algn="l">
              <a:lnSpc>
                <a:spcPct val="100000"/>
              </a:lnSpc>
            </a:pPr>
            <a:r>
              <a:rPr sz="1050" b="1">
                <a:solidFill>
                  <a:srgbClr val="3D9CFF"/>
                </a:solidFill>
                <a:latin typeface="Courier New"/>
              </a:rPr>
              <a:t>Cancelled</a:t>
            </a:r>
          </a:p>
        </p:txBody>
      </p:sp>
      <p:sp>
        <p:nvSpPr>
          <p:cNvPr id="53" name="TextBox 52"/>
          <p:cNvSpPr txBox="1"/>
          <p:nvPr/>
        </p:nvSpPr>
        <p:spPr>
          <a:xfrm>
            <a:off x="7543800" y="5422392"/>
            <a:ext cx="3108960" cy="219456"/>
          </a:xfrm>
          <a:prstGeom prst="rect">
            <a:avLst/>
          </a:prstGeom>
          <a:noFill/>
        </p:spPr>
        <p:txBody>
          <a:bodyPr wrap="square" lIns="0" rIns="0" tIns="0" bIns="0">
            <a:spAutoFit/>
          </a:bodyPr>
          <a:lstStyle/>
          <a:p>
            <a:pPr algn="l">
              <a:lnSpc>
                <a:spcPct val="100000"/>
              </a:lnSpc>
            </a:pPr>
            <a:r>
              <a:rPr sz="1000" b="1">
                <a:solidFill>
                  <a:srgbClr val="FFFFFF"/>
                </a:solidFill>
                <a:latin typeface="Cambria"/>
              </a:rPr>
              <a:t>Act</a:t>
            </a:r>
          </a:p>
        </p:txBody>
      </p:sp>
      <p:sp>
        <p:nvSpPr>
          <p:cNvPr id="54" name="TextBox 53"/>
          <p:cNvSpPr txBox="1"/>
          <p:nvPr/>
        </p:nvSpPr>
        <p:spPr>
          <a:xfrm>
            <a:off x="7543800" y="5650992"/>
            <a:ext cx="3108960" cy="256032"/>
          </a:xfrm>
          <a:prstGeom prst="rect">
            <a:avLst/>
          </a:prstGeom>
          <a:noFill/>
        </p:spPr>
        <p:txBody>
          <a:bodyPr wrap="square" lIns="0" rIns="0" tIns="0" bIns="0">
            <a:spAutoFit/>
          </a:bodyPr>
          <a:lstStyle/>
          <a:p>
            <a:pPr algn="l">
              <a:lnSpc>
                <a:spcPct val="100000"/>
              </a:lnSpc>
            </a:pPr>
            <a:r>
              <a:rPr sz="750" b="0">
                <a:solidFill>
                  <a:srgbClr val="A9BEDC"/>
                </a:solidFill>
                <a:latin typeface="Calibri"/>
              </a:rPr>
              <a:t>Pre-authorised? Execute at once. Otherwise you get a real 90 seconds.</a:t>
            </a:r>
          </a:p>
        </p:txBody>
      </p:sp>
      <p:sp>
        <p:nvSpPr>
          <p:cNvPr id="55" name="TextBox 54"/>
          <p:cNvSpPr txBox="1"/>
          <p:nvPr/>
        </p:nvSpPr>
        <p:spPr>
          <a:xfrm>
            <a:off x="10744200" y="5541264"/>
            <a:ext cx="868680" cy="201168"/>
          </a:xfrm>
          <a:prstGeom prst="rect">
            <a:avLst/>
          </a:prstGeom>
          <a:noFill/>
        </p:spPr>
        <p:txBody>
          <a:bodyPr wrap="square" lIns="0" rIns="0" tIns="0" bIns="0">
            <a:spAutoFit/>
          </a:bodyPr>
          <a:lstStyle/>
          <a:p>
            <a:pPr algn="r">
              <a:lnSpc>
                <a:spcPct val="100000"/>
              </a:lnSpc>
            </a:pPr>
            <a:r>
              <a:rPr sz="650" b="1">
                <a:solidFill>
                  <a:srgbClr val="FF6B6B"/>
                </a:solidFill>
                <a:latin typeface="Calibri"/>
              </a:rPr>
              <a:t>WE NOTIFY</a:t>
            </a:r>
          </a:p>
        </p:txBody>
      </p:sp>
      <p:sp>
        <p:nvSpPr>
          <p:cNvPr id="56" name="TextBox 55"/>
          <p:cNvSpPr txBox="1"/>
          <p:nvPr/>
        </p:nvSpPr>
        <p:spPr>
          <a:xfrm>
            <a:off x="457200" y="6053328"/>
            <a:ext cx="11274552" cy="274320"/>
          </a:xfrm>
          <a:prstGeom prst="rect">
            <a:avLst/>
          </a:prstGeom>
          <a:noFill/>
        </p:spPr>
        <p:txBody>
          <a:bodyPr wrap="square" lIns="0" rIns="0" tIns="0" bIns="0">
            <a:spAutoFit/>
          </a:bodyPr>
          <a:lstStyle/>
          <a:p>
            <a:pPr algn="l">
              <a:lnSpc>
                <a:spcPct val="100000"/>
              </a:lnSpc>
            </a:pPr>
            <a:r>
              <a:rPr sz="850" b="0">
                <a:solidFill>
                  <a:srgbClr val="A9BEDC"/>
                </a:solidFill>
                <a:latin typeface="Calibri"/>
              </a:rPr>
              <a:t>Below 80% nothing pings you — a probability is not something you can act on, and an app that cries wolf gets muted. Production model is gradient-boosted trees on tabular features, calibrated, CPU-only.</a:t>
            </a:r>
          </a:p>
        </p:txBody>
      </p:sp>
      <p:sp>
        <p:nvSpPr>
          <p:cNvPr id="57" name="TextBox 56"/>
          <p:cNvSpPr txBox="1"/>
          <p:nvPr/>
        </p:nvSpPr>
        <p:spPr>
          <a:xfrm>
            <a:off x="457200" y="6382512"/>
            <a:ext cx="11274552" cy="310896"/>
          </a:xfrm>
          <a:prstGeom prst="rect">
            <a:avLst/>
          </a:prstGeom>
          <a:noFill/>
        </p:spPr>
        <p:txBody>
          <a:bodyPr wrap="square" lIns="0" rIns="0" tIns="0" bIns="0">
            <a:spAutoFit/>
          </a:bodyPr>
          <a:lstStyle/>
          <a:p>
            <a:pPr algn="l">
              <a:lnSpc>
                <a:spcPct val="100000"/>
              </a:lnSpc>
            </a:pPr>
            <a:r>
              <a:rPr sz="750" b="1">
                <a:solidFill>
                  <a:srgbClr val="7B94BA"/>
                </a:solidFill>
                <a:latin typeface="Calibri"/>
              </a:rPr>
              <a:t>SOURCES  |  Feature weights seeded from DGCA cause-of-cancellation splits; the prototype ships a transparent weighted model, NOT a trained one, and says so on screen. Bands, thresholds and the pre-authorisation rule are original to this submission.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B3D"/>
        </a:solidFill>
        <a:effectLst/>
      </p:bgPr>
    </p:bg>
    <p:spTree>
      <p:nvGrpSpPr>
        <p:cNvPr id="1" name=""/>
        <p:cNvGrpSpPr/>
        <p:nvPr/>
      </p:nvGrpSpPr>
      <p:grpSpPr/>
      <p:sp>
        <p:nvSpPr>
          <p:cNvPr id="2" name="TextBox 1"/>
          <p:cNvSpPr txBox="1"/>
          <p:nvPr/>
        </p:nvSpPr>
        <p:spPr>
          <a:xfrm>
            <a:off x="457200" y="146304"/>
            <a:ext cx="8229600" cy="201168"/>
          </a:xfrm>
          <a:prstGeom prst="rect">
            <a:avLst/>
          </a:prstGeom>
          <a:noFill/>
        </p:spPr>
        <p:txBody>
          <a:bodyPr wrap="square" lIns="0" rIns="0" tIns="0" bIns="0">
            <a:spAutoFit/>
          </a:bodyPr>
          <a:lstStyle/>
          <a:p>
            <a:pPr algn="l">
              <a:lnSpc>
                <a:spcPct val="100000"/>
              </a:lnSpc>
            </a:pPr>
            <a:r>
              <a:rPr sz="850" b="1">
                <a:solidFill>
                  <a:srgbClr val="3D9CFF"/>
                </a:solidFill>
                <a:latin typeface="Calibri"/>
              </a:rPr>
              <a:t>07 · CONSENT, BEFORE THE PANIC</a:t>
            </a:r>
          </a:p>
        </p:txBody>
      </p:sp>
      <p:sp>
        <p:nvSpPr>
          <p:cNvPr id="3" name="TextBox 2"/>
          <p:cNvSpPr txBox="1"/>
          <p:nvPr/>
        </p:nvSpPr>
        <p:spPr>
          <a:xfrm>
            <a:off x="11155680" y="146304"/>
            <a:ext cx="576072" cy="201168"/>
          </a:xfrm>
          <a:prstGeom prst="rect">
            <a:avLst/>
          </a:prstGeom>
          <a:noFill/>
        </p:spPr>
        <p:txBody>
          <a:bodyPr wrap="square" lIns="0" rIns="0" tIns="0" bIns="0">
            <a:spAutoFit/>
          </a:bodyPr>
          <a:lstStyle/>
          <a:p>
            <a:pPr algn="r">
              <a:lnSpc>
                <a:spcPct val="100000"/>
              </a:lnSpc>
            </a:pPr>
            <a:r>
              <a:rPr sz="850" b="0">
                <a:solidFill>
                  <a:srgbClr val="7B94BA"/>
                </a:solidFill>
                <a:latin typeface="Calibri"/>
              </a:rPr>
              <a:t>8</a:t>
            </a:r>
          </a:p>
        </p:txBody>
      </p:sp>
      <p:sp>
        <p:nvSpPr>
          <p:cNvPr id="4" name="TextBox 3"/>
          <p:cNvSpPr txBox="1"/>
          <p:nvPr/>
        </p:nvSpPr>
        <p:spPr>
          <a:xfrm>
            <a:off x="457200" y="365760"/>
            <a:ext cx="11274552" cy="420624"/>
          </a:xfrm>
          <a:prstGeom prst="rect">
            <a:avLst/>
          </a:prstGeom>
          <a:noFill/>
        </p:spPr>
        <p:txBody>
          <a:bodyPr wrap="square" lIns="0" rIns="0" tIns="0" bIns="0">
            <a:spAutoFit/>
          </a:bodyPr>
          <a:lstStyle/>
          <a:p>
            <a:pPr algn="l">
              <a:lnSpc>
                <a:spcPct val="100000"/>
              </a:lnSpc>
            </a:pPr>
            <a:r>
              <a:rPr sz="2500" b="1">
                <a:solidFill>
                  <a:srgbClr val="FFFFFF"/>
                </a:solidFill>
                <a:latin typeface="Cambria"/>
              </a:rPr>
              <a:t>The best time to ask is before anything has happened</a:t>
            </a:r>
          </a:p>
        </p:txBody>
      </p:sp>
      <p:sp>
        <p:nvSpPr>
          <p:cNvPr id="5" name="TextBox 4"/>
          <p:cNvSpPr txBox="1"/>
          <p:nvPr/>
        </p:nvSpPr>
        <p:spPr>
          <a:xfrm>
            <a:off x="457200" y="804672"/>
            <a:ext cx="11274552" cy="310896"/>
          </a:xfrm>
          <a:prstGeom prst="rect">
            <a:avLst/>
          </a:prstGeom>
          <a:noFill/>
        </p:spPr>
        <p:txBody>
          <a:bodyPr wrap="square" lIns="0" rIns="0" tIns="0" bIns="0">
            <a:spAutoFit/>
          </a:bodyPr>
          <a:lstStyle/>
          <a:p>
            <a:pPr algn="l">
              <a:lnSpc>
                <a:spcPct val="100000"/>
              </a:lnSpc>
            </a:pPr>
            <a:r>
              <a:rPr sz="1150" b="0">
                <a:solidFill>
                  <a:srgbClr val="A9BEDC"/>
                </a:solidFill>
                <a:latin typeface="Calibri"/>
              </a:rPr>
              <a:t>WARM moves the searching off the critical path. Pre-authorisation moves the consent — the only part of a recovery that otherwise has to wait for a human.</a:t>
            </a:r>
          </a:p>
        </p:txBody>
      </p:sp>
      <p:sp>
        <p:nvSpPr>
          <p:cNvPr id="6" name="Rounded Rectangle 5"/>
          <p:cNvSpPr/>
          <p:nvPr/>
        </p:nvSpPr>
        <p:spPr>
          <a:xfrm>
            <a:off x="457200" y="1188720"/>
            <a:ext cx="5532120" cy="1874519"/>
          </a:xfrm>
          <a:prstGeom prst="roundRect">
            <a:avLst>
              <a:gd name="adj" fmla="val 6000"/>
            </a:avLst>
          </a:prstGeom>
          <a:solidFill>
            <a:srgbClr val="102751"/>
          </a:solidFill>
          <a:ln w="9525">
            <a:solidFill>
              <a:srgbClr val="FF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76656" y="1335024"/>
            <a:ext cx="5120640" cy="237744"/>
          </a:xfrm>
          <a:prstGeom prst="rect">
            <a:avLst/>
          </a:prstGeom>
          <a:noFill/>
        </p:spPr>
        <p:txBody>
          <a:bodyPr wrap="square" lIns="0" rIns="0" tIns="0" bIns="0">
            <a:spAutoFit/>
          </a:bodyPr>
          <a:lstStyle/>
          <a:p>
            <a:pPr algn="l">
              <a:lnSpc>
                <a:spcPct val="100000"/>
              </a:lnSpc>
            </a:pPr>
            <a:r>
              <a:rPr sz="850" b="1">
                <a:solidFill>
                  <a:srgbClr val="FF6B6B"/>
                </a:solidFill>
                <a:latin typeface="Calibri"/>
              </a:rPr>
              <a:t>WITHOUT PRE-AUTHORISATION</a:t>
            </a:r>
          </a:p>
        </p:txBody>
      </p:sp>
      <p:sp>
        <p:nvSpPr>
          <p:cNvPr id="8" name="TextBox 7"/>
          <p:cNvSpPr txBox="1"/>
          <p:nvPr/>
        </p:nvSpPr>
        <p:spPr>
          <a:xfrm>
            <a:off x="676656" y="1645920"/>
            <a:ext cx="5120640" cy="201168"/>
          </a:xfrm>
          <a:prstGeom prst="rect">
            <a:avLst/>
          </a:prstGeom>
          <a:noFill/>
        </p:spPr>
        <p:txBody>
          <a:bodyPr wrap="square" lIns="0" rIns="0" tIns="0" bIns="0">
            <a:spAutoFit/>
          </a:bodyPr>
          <a:lstStyle/>
          <a:p>
            <a:pPr algn="l">
              <a:lnSpc>
                <a:spcPct val="100000"/>
              </a:lnSpc>
            </a:pPr>
            <a:r>
              <a:rPr sz="1000" b="1">
                <a:solidFill>
                  <a:srgbClr val="FFFFFF"/>
                </a:solidFill>
                <a:latin typeface="Calibri"/>
              </a:rPr>
              <a:t>1.  Cancellation lands</a:t>
            </a:r>
          </a:p>
        </p:txBody>
      </p:sp>
      <p:sp>
        <p:nvSpPr>
          <p:cNvPr id="9" name="TextBox 8"/>
          <p:cNvSpPr txBox="1"/>
          <p:nvPr/>
        </p:nvSpPr>
        <p:spPr>
          <a:xfrm>
            <a:off x="960120" y="1847088"/>
            <a:ext cx="4846320" cy="201168"/>
          </a:xfrm>
          <a:prstGeom prst="rect">
            <a:avLst/>
          </a:prstGeom>
          <a:noFill/>
        </p:spPr>
        <p:txBody>
          <a:bodyPr wrap="square" lIns="0" rIns="0" tIns="0" bIns="0">
            <a:spAutoFit/>
          </a:bodyPr>
          <a:lstStyle/>
          <a:p>
            <a:pPr algn="l">
              <a:lnSpc>
                <a:spcPct val="100000"/>
              </a:lnSpc>
            </a:pPr>
            <a:r>
              <a:rPr sz="800" b="0">
                <a:solidFill>
                  <a:srgbClr val="A9BEDC"/>
                </a:solidFill>
                <a:latin typeface="Calibri"/>
              </a:rPr>
              <a:t>the airline files it</a:t>
            </a:r>
          </a:p>
        </p:txBody>
      </p:sp>
      <p:sp>
        <p:nvSpPr>
          <p:cNvPr id="10" name="TextBox 9"/>
          <p:cNvSpPr txBox="1"/>
          <p:nvPr/>
        </p:nvSpPr>
        <p:spPr>
          <a:xfrm>
            <a:off x="676656" y="2029968"/>
            <a:ext cx="5120640" cy="201168"/>
          </a:xfrm>
          <a:prstGeom prst="rect">
            <a:avLst/>
          </a:prstGeom>
          <a:noFill/>
        </p:spPr>
        <p:txBody>
          <a:bodyPr wrap="square" lIns="0" rIns="0" tIns="0" bIns="0">
            <a:spAutoFit/>
          </a:bodyPr>
          <a:lstStyle/>
          <a:p>
            <a:pPr algn="l">
              <a:lnSpc>
                <a:spcPct val="100000"/>
              </a:lnSpc>
            </a:pPr>
            <a:r>
              <a:rPr sz="1000" b="1">
                <a:solidFill>
                  <a:srgbClr val="FFFFFF"/>
                </a:solidFill>
                <a:latin typeface="Calibri"/>
              </a:rPr>
              <a:t>2.  We notify, and wait</a:t>
            </a:r>
          </a:p>
        </p:txBody>
      </p:sp>
      <p:sp>
        <p:nvSpPr>
          <p:cNvPr id="11" name="TextBox 10"/>
          <p:cNvSpPr txBox="1"/>
          <p:nvPr/>
        </p:nvSpPr>
        <p:spPr>
          <a:xfrm>
            <a:off x="960120" y="2231136"/>
            <a:ext cx="4846320" cy="201168"/>
          </a:xfrm>
          <a:prstGeom prst="rect">
            <a:avLst/>
          </a:prstGeom>
          <a:noFill/>
        </p:spPr>
        <p:txBody>
          <a:bodyPr wrap="square" lIns="0" rIns="0" tIns="0" bIns="0">
            <a:spAutoFit/>
          </a:bodyPr>
          <a:lstStyle/>
          <a:p>
            <a:pPr algn="l">
              <a:lnSpc>
                <a:spcPct val="100000"/>
              </a:lnSpc>
            </a:pPr>
            <a:r>
              <a:rPr sz="800" b="0">
                <a:solidFill>
                  <a:srgbClr val="A9BEDC"/>
                </a:solidFill>
                <a:latin typeface="Calibri"/>
              </a:rPr>
              <a:t>a real 90 seconds, under pressure</a:t>
            </a:r>
          </a:p>
        </p:txBody>
      </p:sp>
      <p:sp>
        <p:nvSpPr>
          <p:cNvPr id="12" name="TextBox 11"/>
          <p:cNvSpPr txBox="1"/>
          <p:nvPr/>
        </p:nvSpPr>
        <p:spPr>
          <a:xfrm>
            <a:off x="676656" y="2414016"/>
            <a:ext cx="5120640" cy="201168"/>
          </a:xfrm>
          <a:prstGeom prst="rect">
            <a:avLst/>
          </a:prstGeom>
          <a:noFill/>
        </p:spPr>
        <p:txBody>
          <a:bodyPr wrap="square" lIns="0" rIns="0" tIns="0" bIns="0">
            <a:spAutoFit/>
          </a:bodyPr>
          <a:lstStyle/>
          <a:p>
            <a:pPr algn="l">
              <a:lnSpc>
                <a:spcPct val="100000"/>
              </a:lnSpc>
            </a:pPr>
            <a:r>
              <a:rPr sz="1000" b="1">
                <a:solidFill>
                  <a:srgbClr val="FFFFFF"/>
                </a:solidFill>
                <a:latin typeface="Calibri"/>
              </a:rPr>
              <a:t>3.  Then we act</a:t>
            </a:r>
          </a:p>
        </p:txBody>
      </p:sp>
      <p:sp>
        <p:nvSpPr>
          <p:cNvPr id="13" name="TextBox 12"/>
          <p:cNvSpPr txBox="1"/>
          <p:nvPr/>
        </p:nvSpPr>
        <p:spPr>
          <a:xfrm>
            <a:off x="960120" y="2615184"/>
            <a:ext cx="4846320" cy="201168"/>
          </a:xfrm>
          <a:prstGeom prst="rect">
            <a:avLst/>
          </a:prstGeom>
          <a:noFill/>
        </p:spPr>
        <p:txBody>
          <a:bodyPr wrap="square" lIns="0" rIns="0" tIns="0" bIns="0">
            <a:spAutoFit/>
          </a:bodyPr>
          <a:lstStyle/>
          <a:p>
            <a:pPr algn="l">
              <a:lnSpc>
                <a:spcPct val="100000"/>
              </a:lnSpc>
            </a:pPr>
            <a:r>
              <a:rPr sz="800" b="0">
                <a:solidFill>
                  <a:srgbClr val="A9BEDC"/>
                </a:solidFill>
                <a:latin typeface="Calibri"/>
              </a:rPr>
              <a:t>~11 s of machine time</a:t>
            </a:r>
          </a:p>
        </p:txBody>
      </p:sp>
      <p:sp>
        <p:nvSpPr>
          <p:cNvPr id="14" name="Rounded Rectangle 13"/>
          <p:cNvSpPr/>
          <p:nvPr/>
        </p:nvSpPr>
        <p:spPr>
          <a:xfrm>
            <a:off x="6217920" y="1188720"/>
            <a:ext cx="5513832" cy="1874519"/>
          </a:xfrm>
          <a:prstGeom prst="roundRect">
            <a:avLst>
              <a:gd name="adj" fmla="val 6000"/>
            </a:avLst>
          </a:prstGeom>
          <a:solidFill>
            <a:srgbClr val="102751"/>
          </a:solidFill>
          <a:ln w="9525">
            <a:solidFill>
              <a:srgbClr val="2ECC9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37376" y="1335024"/>
            <a:ext cx="5120640" cy="237744"/>
          </a:xfrm>
          <a:prstGeom prst="rect">
            <a:avLst/>
          </a:prstGeom>
          <a:noFill/>
        </p:spPr>
        <p:txBody>
          <a:bodyPr wrap="square" lIns="0" rIns="0" tIns="0" bIns="0">
            <a:spAutoFit/>
          </a:bodyPr>
          <a:lstStyle/>
          <a:p>
            <a:pPr algn="l">
              <a:lnSpc>
                <a:spcPct val="100000"/>
              </a:lnSpc>
            </a:pPr>
            <a:r>
              <a:rPr sz="850" b="1">
                <a:solidFill>
                  <a:srgbClr val="2ECC9A"/>
                </a:solidFill>
                <a:latin typeface="Calibri"/>
              </a:rPr>
              <a:t>WITH IT</a:t>
            </a:r>
          </a:p>
        </p:txBody>
      </p:sp>
      <p:sp>
        <p:nvSpPr>
          <p:cNvPr id="16" name="TextBox 15"/>
          <p:cNvSpPr txBox="1"/>
          <p:nvPr/>
        </p:nvSpPr>
        <p:spPr>
          <a:xfrm>
            <a:off x="6437376" y="1645920"/>
            <a:ext cx="5120640" cy="201168"/>
          </a:xfrm>
          <a:prstGeom prst="rect">
            <a:avLst/>
          </a:prstGeom>
          <a:noFill/>
        </p:spPr>
        <p:txBody>
          <a:bodyPr wrap="square" lIns="0" rIns="0" tIns="0" bIns="0">
            <a:spAutoFit/>
          </a:bodyPr>
          <a:lstStyle/>
          <a:p>
            <a:pPr algn="l">
              <a:lnSpc>
                <a:spcPct val="100000"/>
              </a:lnSpc>
            </a:pPr>
            <a:r>
              <a:rPr sz="1000" b="1">
                <a:solidFill>
                  <a:srgbClr val="FFFFFF"/>
                </a:solidFill>
                <a:latin typeface="Calibri"/>
              </a:rPr>
              <a:t>1.  You answered hours ago</a:t>
            </a:r>
          </a:p>
        </p:txBody>
      </p:sp>
      <p:sp>
        <p:nvSpPr>
          <p:cNvPr id="17" name="TextBox 16"/>
          <p:cNvSpPr txBox="1"/>
          <p:nvPr/>
        </p:nvSpPr>
        <p:spPr>
          <a:xfrm>
            <a:off x="6720840" y="1847088"/>
            <a:ext cx="4846320" cy="201168"/>
          </a:xfrm>
          <a:prstGeom prst="rect">
            <a:avLst/>
          </a:prstGeom>
          <a:noFill/>
        </p:spPr>
        <p:txBody>
          <a:bodyPr wrap="square" lIns="0" rIns="0" tIns="0" bIns="0">
            <a:spAutoFit/>
          </a:bodyPr>
          <a:lstStyle/>
          <a:p>
            <a:pPr algn="l">
              <a:lnSpc>
                <a:spcPct val="100000"/>
              </a:lnSpc>
            </a:pPr>
            <a:r>
              <a:rPr sz="800" b="0">
                <a:solidFill>
                  <a:srgbClr val="A9BEDC"/>
                </a:solidFill>
                <a:latin typeface="Calibri"/>
              </a:rPr>
              <a:t>calmly, with the full plan in front of you</a:t>
            </a:r>
          </a:p>
        </p:txBody>
      </p:sp>
      <p:sp>
        <p:nvSpPr>
          <p:cNvPr id="18" name="TextBox 17"/>
          <p:cNvSpPr txBox="1"/>
          <p:nvPr/>
        </p:nvSpPr>
        <p:spPr>
          <a:xfrm>
            <a:off x="6437376" y="2029968"/>
            <a:ext cx="5120640" cy="201168"/>
          </a:xfrm>
          <a:prstGeom prst="rect">
            <a:avLst/>
          </a:prstGeom>
          <a:noFill/>
        </p:spPr>
        <p:txBody>
          <a:bodyPr wrap="square" lIns="0" rIns="0" tIns="0" bIns="0">
            <a:spAutoFit/>
          </a:bodyPr>
          <a:lstStyle/>
          <a:p>
            <a:pPr algn="l">
              <a:lnSpc>
                <a:spcPct val="100000"/>
              </a:lnSpc>
            </a:pPr>
            <a:r>
              <a:rPr sz="1000" b="1">
                <a:solidFill>
                  <a:srgbClr val="FFFFFF"/>
                </a:solidFill>
                <a:latin typeface="Calibri"/>
              </a:rPr>
              <a:t>2.  Cancellation lands</a:t>
            </a:r>
          </a:p>
        </p:txBody>
      </p:sp>
      <p:sp>
        <p:nvSpPr>
          <p:cNvPr id="19" name="TextBox 18"/>
          <p:cNvSpPr txBox="1"/>
          <p:nvPr/>
        </p:nvSpPr>
        <p:spPr>
          <a:xfrm>
            <a:off x="6720840" y="2231136"/>
            <a:ext cx="4846320" cy="201168"/>
          </a:xfrm>
          <a:prstGeom prst="rect">
            <a:avLst/>
          </a:prstGeom>
          <a:noFill/>
        </p:spPr>
        <p:txBody>
          <a:bodyPr wrap="square" lIns="0" rIns="0" tIns="0" bIns="0">
            <a:spAutoFit/>
          </a:bodyPr>
          <a:lstStyle/>
          <a:p>
            <a:pPr algn="l">
              <a:lnSpc>
                <a:spcPct val="100000"/>
              </a:lnSpc>
            </a:pPr>
            <a:r>
              <a:rPr sz="800" b="0">
                <a:solidFill>
                  <a:srgbClr val="A9BEDC"/>
                </a:solidFill>
                <a:latin typeface="Calibri"/>
              </a:rPr>
              <a:t>the airline files it</a:t>
            </a:r>
          </a:p>
        </p:txBody>
      </p:sp>
      <p:sp>
        <p:nvSpPr>
          <p:cNvPr id="20" name="TextBox 19"/>
          <p:cNvSpPr txBox="1"/>
          <p:nvPr/>
        </p:nvSpPr>
        <p:spPr>
          <a:xfrm>
            <a:off x="6437376" y="2414016"/>
            <a:ext cx="5120640" cy="201168"/>
          </a:xfrm>
          <a:prstGeom prst="rect">
            <a:avLst/>
          </a:prstGeom>
          <a:noFill/>
        </p:spPr>
        <p:txBody>
          <a:bodyPr wrap="square" lIns="0" rIns="0" tIns="0" bIns="0">
            <a:spAutoFit/>
          </a:bodyPr>
          <a:lstStyle/>
          <a:p>
            <a:pPr algn="l">
              <a:lnSpc>
                <a:spcPct val="100000"/>
              </a:lnSpc>
            </a:pPr>
            <a:r>
              <a:rPr sz="1000" b="1">
                <a:solidFill>
                  <a:srgbClr val="FFFFFF"/>
                </a:solidFill>
                <a:latin typeface="Calibri"/>
              </a:rPr>
              <a:t>3.  We act immediately</a:t>
            </a:r>
          </a:p>
        </p:txBody>
      </p:sp>
      <p:sp>
        <p:nvSpPr>
          <p:cNvPr id="21" name="TextBox 20"/>
          <p:cNvSpPr txBox="1"/>
          <p:nvPr/>
        </p:nvSpPr>
        <p:spPr>
          <a:xfrm>
            <a:off x="6720840" y="2615184"/>
            <a:ext cx="4846320" cy="201168"/>
          </a:xfrm>
          <a:prstGeom prst="rect">
            <a:avLst/>
          </a:prstGeom>
          <a:noFill/>
        </p:spPr>
        <p:txBody>
          <a:bodyPr wrap="square" lIns="0" rIns="0" tIns="0" bIns="0">
            <a:spAutoFit/>
          </a:bodyPr>
          <a:lstStyle/>
          <a:p>
            <a:pPr algn="l">
              <a:lnSpc>
                <a:spcPct val="100000"/>
              </a:lnSpc>
            </a:pPr>
            <a:r>
              <a:rPr sz="800" b="0">
                <a:solidFill>
                  <a:srgbClr val="A9BEDC"/>
                </a:solidFill>
                <a:latin typeface="Calibri"/>
              </a:rPr>
              <a:t>no window, no human in the critical path</a:t>
            </a:r>
          </a:p>
        </p:txBody>
      </p:sp>
      <p:sp>
        <p:nvSpPr>
          <p:cNvPr id="22" name="TextBox 21"/>
          <p:cNvSpPr txBox="1"/>
          <p:nvPr/>
        </p:nvSpPr>
        <p:spPr>
          <a:xfrm>
            <a:off x="457200" y="3273552"/>
            <a:ext cx="11274552" cy="201168"/>
          </a:xfrm>
          <a:prstGeom prst="rect">
            <a:avLst/>
          </a:prstGeom>
          <a:noFill/>
        </p:spPr>
        <p:txBody>
          <a:bodyPr wrap="square" lIns="0" rIns="0" tIns="0" bIns="0">
            <a:spAutoFit/>
          </a:bodyPr>
          <a:lstStyle/>
          <a:p>
            <a:pPr algn="l">
              <a:lnSpc>
                <a:spcPct val="100000"/>
              </a:lnSpc>
            </a:pPr>
            <a:r>
              <a:rPr sz="850" b="1">
                <a:solidFill>
                  <a:srgbClr val="3D9CFF"/>
                </a:solidFill>
                <a:latin typeface="Calibri"/>
              </a:rPr>
              <a:t>WHAT MAKES IT SAFE TO GIVE</a:t>
            </a:r>
          </a:p>
        </p:txBody>
      </p:sp>
      <p:sp>
        <p:nvSpPr>
          <p:cNvPr id="23" name="Rounded Rectangle 22"/>
          <p:cNvSpPr/>
          <p:nvPr/>
        </p:nvSpPr>
        <p:spPr>
          <a:xfrm>
            <a:off x="457200" y="3511296"/>
            <a:ext cx="2724912" cy="1188720"/>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21792" y="3648456"/>
            <a:ext cx="2377440" cy="219456"/>
          </a:xfrm>
          <a:prstGeom prst="rect">
            <a:avLst/>
          </a:prstGeom>
          <a:noFill/>
        </p:spPr>
        <p:txBody>
          <a:bodyPr wrap="square" lIns="0" rIns="0" tIns="0" bIns="0">
            <a:spAutoFit/>
          </a:bodyPr>
          <a:lstStyle/>
          <a:p>
            <a:pPr algn="l">
              <a:lnSpc>
                <a:spcPct val="100000"/>
              </a:lnSpc>
            </a:pPr>
            <a:r>
              <a:rPr sz="1100" b="1">
                <a:solidFill>
                  <a:srgbClr val="2ECC9A"/>
                </a:solidFill>
                <a:latin typeface="Cambria"/>
              </a:rPr>
              <a:t>Conditional</a:t>
            </a:r>
          </a:p>
        </p:txBody>
      </p:sp>
      <p:sp>
        <p:nvSpPr>
          <p:cNvPr id="25" name="TextBox 24"/>
          <p:cNvSpPr txBox="1"/>
          <p:nvPr/>
        </p:nvSpPr>
        <p:spPr>
          <a:xfrm>
            <a:off x="621792" y="3913632"/>
            <a:ext cx="2377440" cy="713232"/>
          </a:xfrm>
          <a:prstGeom prst="rect">
            <a:avLst/>
          </a:prstGeom>
          <a:noFill/>
        </p:spPr>
        <p:txBody>
          <a:bodyPr wrap="square" lIns="0" rIns="0" tIns="0" bIns="0">
            <a:spAutoFit/>
          </a:bodyPr>
          <a:lstStyle/>
          <a:p>
            <a:pPr algn="l">
              <a:lnSpc>
                <a:spcPct val="100000"/>
              </a:lnSpc>
            </a:pPr>
            <a:r>
              <a:rPr sz="750" b="0">
                <a:solidFill>
                  <a:srgbClr val="A9BEDC"/>
                </a:solidFill>
                <a:latin typeface="Calibri"/>
              </a:rPr>
              <a:t>It fires only if the flight actually cancels. If it operates, the instruction expires unused and unnoticed.</a:t>
            </a:r>
          </a:p>
        </p:txBody>
      </p:sp>
      <p:sp>
        <p:nvSpPr>
          <p:cNvPr id="26" name="Rounded Rectangle 25"/>
          <p:cNvSpPr/>
          <p:nvPr/>
        </p:nvSpPr>
        <p:spPr>
          <a:xfrm>
            <a:off x="3273552" y="3511296"/>
            <a:ext cx="2724912" cy="1188720"/>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438144" y="3648456"/>
            <a:ext cx="2377440" cy="219456"/>
          </a:xfrm>
          <a:prstGeom prst="rect">
            <a:avLst/>
          </a:prstGeom>
          <a:noFill/>
        </p:spPr>
        <p:txBody>
          <a:bodyPr wrap="square" lIns="0" rIns="0" tIns="0" bIns="0">
            <a:spAutoFit/>
          </a:bodyPr>
          <a:lstStyle/>
          <a:p>
            <a:pPr algn="l">
              <a:lnSpc>
                <a:spcPct val="100000"/>
              </a:lnSpc>
            </a:pPr>
            <a:r>
              <a:rPr sz="1100" b="1">
                <a:solidFill>
                  <a:srgbClr val="3D9CFF"/>
                </a:solidFill>
                <a:latin typeface="Cambria"/>
              </a:rPr>
              <a:t>Specific</a:t>
            </a:r>
          </a:p>
        </p:txBody>
      </p:sp>
      <p:sp>
        <p:nvSpPr>
          <p:cNvPr id="28" name="TextBox 27"/>
          <p:cNvSpPr txBox="1"/>
          <p:nvPr/>
        </p:nvSpPr>
        <p:spPr>
          <a:xfrm>
            <a:off x="3438144" y="3913632"/>
            <a:ext cx="2377440" cy="713232"/>
          </a:xfrm>
          <a:prstGeom prst="rect">
            <a:avLst/>
          </a:prstGeom>
          <a:noFill/>
        </p:spPr>
        <p:txBody>
          <a:bodyPr wrap="square" lIns="0" rIns="0" tIns="0" bIns="0">
            <a:spAutoFit/>
          </a:bodyPr>
          <a:lstStyle/>
          <a:p>
            <a:pPr algn="l">
              <a:lnSpc>
                <a:spcPct val="100000"/>
              </a:lnSpc>
            </a:pPr>
            <a:r>
              <a:rPr sz="750" b="0">
                <a:solidFill>
                  <a:srgbClr val="A9BEDC"/>
                </a:solidFill>
                <a:latin typeface="Calibri"/>
              </a:rPr>
              <a:t>It covers the exact plan you were shown. If any part is gone by then, the authorisation does NOT carry over — we come back and ask.</a:t>
            </a:r>
          </a:p>
        </p:txBody>
      </p:sp>
      <p:sp>
        <p:nvSpPr>
          <p:cNvPr id="29" name="Rounded Rectangle 28"/>
          <p:cNvSpPr/>
          <p:nvPr/>
        </p:nvSpPr>
        <p:spPr>
          <a:xfrm>
            <a:off x="6089904" y="3511296"/>
            <a:ext cx="2724912" cy="1188720"/>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254496" y="3648456"/>
            <a:ext cx="2377440" cy="219456"/>
          </a:xfrm>
          <a:prstGeom prst="rect">
            <a:avLst/>
          </a:prstGeom>
          <a:noFill/>
        </p:spPr>
        <p:txBody>
          <a:bodyPr wrap="square" lIns="0" rIns="0" tIns="0" bIns="0">
            <a:spAutoFit/>
          </a:bodyPr>
          <a:lstStyle/>
          <a:p>
            <a:pPr algn="l">
              <a:lnSpc>
                <a:spcPct val="100000"/>
              </a:lnSpc>
            </a:pPr>
            <a:r>
              <a:rPr sz="1100" b="1">
                <a:solidFill>
                  <a:srgbClr val="9B8CFF"/>
                </a:solidFill>
                <a:latin typeface="Cambria"/>
              </a:rPr>
              <a:t>Bounded</a:t>
            </a:r>
          </a:p>
        </p:txBody>
      </p:sp>
      <p:sp>
        <p:nvSpPr>
          <p:cNvPr id="31" name="TextBox 30"/>
          <p:cNvSpPr txBox="1"/>
          <p:nvPr/>
        </p:nvSpPr>
        <p:spPr>
          <a:xfrm>
            <a:off x="6254496" y="3913632"/>
            <a:ext cx="2377440" cy="713232"/>
          </a:xfrm>
          <a:prstGeom prst="rect">
            <a:avLst/>
          </a:prstGeom>
          <a:noFill/>
        </p:spPr>
        <p:txBody>
          <a:bodyPr wrap="square" lIns="0" rIns="0" tIns="0" bIns="0">
            <a:spAutoFit/>
          </a:bodyPr>
          <a:lstStyle/>
          <a:p>
            <a:pPr algn="l">
              <a:lnSpc>
                <a:spcPct val="100000"/>
              </a:lnSpc>
            </a:pPr>
            <a:r>
              <a:rPr sz="750" b="0">
                <a:solidFill>
                  <a:srgbClr val="A9BEDC"/>
                </a:solidFill>
                <a:latin typeface="Calibri"/>
              </a:rPr>
              <a:t>Payment is a single-use card locked to that amount and that date. It cannot be reused or overspent.</a:t>
            </a:r>
          </a:p>
        </p:txBody>
      </p:sp>
      <p:sp>
        <p:nvSpPr>
          <p:cNvPr id="32" name="Rounded Rectangle 31"/>
          <p:cNvSpPr/>
          <p:nvPr/>
        </p:nvSpPr>
        <p:spPr>
          <a:xfrm>
            <a:off x="8906256" y="3511296"/>
            <a:ext cx="2724912" cy="1188720"/>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070848" y="3648456"/>
            <a:ext cx="2377440" cy="219456"/>
          </a:xfrm>
          <a:prstGeom prst="rect">
            <a:avLst/>
          </a:prstGeom>
          <a:noFill/>
        </p:spPr>
        <p:txBody>
          <a:bodyPr wrap="square" lIns="0" rIns="0" tIns="0" bIns="0">
            <a:spAutoFit/>
          </a:bodyPr>
          <a:lstStyle/>
          <a:p>
            <a:pPr algn="l">
              <a:lnSpc>
                <a:spcPct val="100000"/>
              </a:lnSpc>
            </a:pPr>
            <a:r>
              <a:rPr sz="1100" b="1">
                <a:solidFill>
                  <a:srgbClr val="FFB020"/>
                </a:solidFill>
                <a:latin typeface="Cambria"/>
              </a:rPr>
              <a:t>Revocable</a:t>
            </a:r>
          </a:p>
        </p:txBody>
      </p:sp>
      <p:sp>
        <p:nvSpPr>
          <p:cNvPr id="34" name="TextBox 33"/>
          <p:cNvSpPr txBox="1"/>
          <p:nvPr/>
        </p:nvSpPr>
        <p:spPr>
          <a:xfrm>
            <a:off x="9070848" y="3913632"/>
            <a:ext cx="2377440" cy="713232"/>
          </a:xfrm>
          <a:prstGeom prst="rect">
            <a:avLst/>
          </a:prstGeom>
          <a:noFill/>
        </p:spPr>
        <p:txBody>
          <a:bodyPr wrap="square" lIns="0" rIns="0" tIns="0" bIns="0">
            <a:spAutoFit/>
          </a:bodyPr>
          <a:lstStyle/>
          <a:p>
            <a:pPr algn="l">
              <a:lnSpc>
                <a:spcPct val="100000"/>
              </a:lnSpc>
            </a:pPr>
            <a:r>
              <a:rPr sz="750" b="0">
                <a:solidFill>
                  <a:srgbClr val="A9BEDC"/>
                </a:solidFill>
                <a:latin typeface="Calibri"/>
              </a:rPr>
              <a:t>A flight you rejected can never be re-proposed — and that exclusion is a policy input, not a prompt instruction.</a:t>
            </a:r>
          </a:p>
        </p:txBody>
      </p:sp>
      <p:sp>
        <p:nvSpPr>
          <p:cNvPr id="35" name="Rounded Rectangle 34"/>
          <p:cNvSpPr/>
          <p:nvPr/>
        </p:nvSpPr>
        <p:spPr>
          <a:xfrm>
            <a:off x="457200" y="4882896"/>
            <a:ext cx="11274552" cy="932688"/>
          </a:xfrm>
          <a:prstGeom prst="roundRect">
            <a:avLst>
              <a:gd name="adj" fmla="val 6000"/>
            </a:avLst>
          </a:prstGeom>
          <a:solidFill>
            <a:srgbClr val="102751"/>
          </a:solidFill>
          <a:ln w="9525">
            <a:solidFill>
              <a:srgbClr val="2ECC9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76656" y="5029200"/>
            <a:ext cx="10881360" cy="237744"/>
          </a:xfrm>
          <a:prstGeom prst="rect">
            <a:avLst/>
          </a:prstGeom>
          <a:noFill/>
        </p:spPr>
        <p:txBody>
          <a:bodyPr wrap="square" lIns="0" rIns="0" tIns="0" bIns="0">
            <a:spAutoFit/>
          </a:bodyPr>
          <a:lstStyle/>
          <a:p>
            <a:pPr algn="l">
              <a:lnSpc>
                <a:spcPct val="100000"/>
              </a:lnSpc>
            </a:pPr>
            <a:r>
              <a:rPr sz="1050" b="1">
                <a:solidFill>
                  <a:srgbClr val="2ECC9A"/>
                </a:solidFill>
                <a:latin typeface="Cambria"/>
              </a:rPr>
              <a:t>CONSENT GATES SPENDING — NOT CARE</a:t>
            </a:r>
          </a:p>
        </p:txBody>
      </p:sp>
      <p:sp>
        <p:nvSpPr>
          <p:cNvPr id="37" name="TextBox 36"/>
          <p:cNvSpPr txBox="1"/>
          <p:nvPr/>
        </p:nvSpPr>
        <p:spPr>
          <a:xfrm>
            <a:off x="676656" y="5303520"/>
            <a:ext cx="10881360" cy="420624"/>
          </a:xfrm>
          <a:prstGeom prst="rect">
            <a:avLst/>
          </a:prstGeom>
          <a:noFill/>
        </p:spPr>
        <p:txBody>
          <a:bodyPr wrap="square" lIns="0" rIns="0" tIns="0" bIns="0">
            <a:spAutoFit/>
          </a:bodyPr>
          <a:lstStyle/>
          <a:p>
            <a:pPr algn="l">
              <a:lnSpc>
                <a:spcPct val="100000"/>
              </a:lnSpc>
            </a:pPr>
            <a:r>
              <a:rPr sz="850" b="0">
                <a:solidFill>
                  <a:srgbClr val="A9BEDC"/>
                </a:solidFill>
                <a:latin typeface="Calibri"/>
              </a:rPr>
              <a:t>If a member chose 'ask me first' and then does not answer, we book anyway WHEN THE RECOVERY COSTS THEM NOTHING. Permission exists to protect their money; leaving somebody at an airport overnight because they missed a notification is the worse outcome. If it would cost them, silence means stop — and the seats stay held.</a:t>
            </a:r>
          </a:p>
        </p:txBody>
      </p:sp>
      <p:sp>
        <p:nvSpPr>
          <p:cNvPr id="38" name="TextBox 37"/>
          <p:cNvSpPr txBox="1"/>
          <p:nvPr/>
        </p:nvSpPr>
        <p:spPr>
          <a:xfrm>
            <a:off x="457200" y="6382512"/>
            <a:ext cx="11274552" cy="310896"/>
          </a:xfrm>
          <a:prstGeom prst="rect">
            <a:avLst/>
          </a:prstGeom>
          <a:noFill/>
        </p:spPr>
        <p:txBody>
          <a:bodyPr wrap="square" lIns="0" rIns="0" tIns="0" bIns="0">
            <a:spAutoFit/>
          </a:bodyPr>
          <a:lstStyle/>
          <a:p>
            <a:pPr algn="l">
              <a:lnSpc>
                <a:spcPct val="100000"/>
              </a:lnSpc>
            </a:pPr>
            <a:r>
              <a:rPr sz="750" b="1">
                <a:solidFill>
                  <a:srgbClr val="7B94BA"/>
                </a:solidFill>
                <a:latin typeface="Calibri"/>
              </a:rPr>
              <a:t>SOURCES  |  Quiet-window mechanics map onto the RBI Additional Factor of Authentication e-mandate framework as a recognised pre-debit notification. The pre-authorisation model, the guard conditions and the spending-vs-care rule are original to this submission.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A1B3D"/>
        </a:solidFill>
      </p:bgPr>
    </p:bg>
    <p:spTree>
      <p:nvGrpSpPr>
        <p:cNvPr id="1" name=""/>
        <p:cNvGrpSpPr/>
        <p:nvPr/>
      </p:nvGrpSpPr>
      <p:grpSpPr>
        <a:xfrm>
          <a:off x="0" y="0"/>
          <a:ext cx="0" cy="0"/>
          <a:chOff x="0" y="0"/>
          <a:chExt cx="0" cy="0"/>
        </a:xfrm>
      </p:grpSpPr>
      <p:sp>
        <p:nvSpPr>
          <p:cNvPr id="2" name="Text 0"/>
          <p:cNvSpPr/>
          <p:nvPr/>
        </p:nvSpPr>
        <p:spPr>
          <a:xfrm>
            <a:off x="457200" y="146304"/>
            <a:ext cx="8229600" cy="201168"/>
          </a:xfrm>
          <a:prstGeom prst="rect">
            <a:avLst/>
          </a:prstGeom>
          <a:noFill/>
          <a:ln/>
        </p:spPr>
        <p:txBody>
          <a:bodyPr wrap="square" lIns="0" tIns="0" rIns="0" bIns="0" rtlCol="0" anchor="ctr"/>
          <a:lstStyle/>
          <a:p>
            <a:pPr indent="0" marL="0">
              <a:buNone/>
            </a:pPr>
            <a:r>
              <a:rPr lang="en-US" sz="850" b="1" spc="220" kern="0" dirty="0">
                <a:solidFill>
                  <a:srgbClr val="3D9CFF"/>
                </a:solidFill>
                <a:latin typeface="Calibri" pitchFamily="34" charset="0"/>
                <a:ea typeface="Calibri" pitchFamily="34" charset="-122"/>
                <a:cs typeface="Calibri" pitchFamily="34" charset="-120"/>
              </a:rPr>
              <a:t>08 · STACK, CONSTRAINTS &amp; SCALE</a:t>
            </a:r>
            <a:endParaRPr lang="en-US" sz="850" dirty="0"/>
          </a:p>
        </p:txBody>
      </p:sp>
      <p:sp>
        <p:nvSpPr>
          <p:cNvPr id="3" name="Text 1"/>
          <p:cNvSpPr/>
          <p:nvPr/>
        </p:nvSpPr>
        <p:spPr>
          <a:xfrm>
            <a:off x="11155680" y="146304"/>
            <a:ext cx="576072" cy="201168"/>
          </a:xfrm>
          <a:prstGeom prst="rect">
            <a:avLst/>
          </a:prstGeom>
          <a:noFill/>
          <a:ln/>
        </p:spPr>
        <p:txBody>
          <a:bodyPr wrap="square" lIns="0" tIns="0" rIns="0" bIns="0" rtlCol="0" anchor="ctr"/>
          <a:lstStyle/>
          <a:p>
            <a:pPr algn="r" indent="0" marL="0">
              <a:buNone/>
            </a:pPr>
            <a:r>
              <a:rPr lang="en-US" sz="850" dirty="0">
                <a:solidFill>
                  <a:srgbClr val="7B94BA"/>
                </a:solidFill>
                <a:latin typeface="Calibri" pitchFamily="34" charset="0"/>
                <a:ea typeface="Calibri" pitchFamily="34" charset="-122"/>
                <a:cs typeface="Calibri" pitchFamily="34" charset="-120"/>
              </a:rPr>
              <a:t>9</a:t>
            </a:r>
            <a:endParaRPr lang="en-US" sz="850" dirty="0"/>
          </a:p>
        </p:txBody>
      </p:sp>
      <p:sp>
        <p:nvSpPr>
          <p:cNvPr id="4" name="Text 2"/>
          <p:cNvSpPr/>
          <p:nvPr/>
        </p:nvSpPr>
        <p:spPr>
          <a:xfrm>
            <a:off x="457200" y="365760"/>
            <a:ext cx="11274552" cy="420624"/>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What we build on, and what we honestly cannot get</a:t>
            </a:r>
            <a:endParaRPr lang="en-US" sz="2500" dirty="0"/>
          </a:p>
        </p:txBody>
      </p:sp>
      <p:sp>
        <p:nvSpPr>
          <p:cNvPr id="5" name="Text 3"/>
          <p:cNvSpPr/>
          <p:nvPr/>
        </p:nvSpPr>
        <p:spPr>
          <a:xfrm>
            <a:off x="457200" y="804672"/>
            <a:ext cx="11274552" cy="256032"/>
          </a:xfrm>
          <a:prstGeom prst="rect">
            <a:avLst/>
          </a:prstGeom>
          <a:noFill/>
          <a:ln/>
        </p:spPr>
        <p:txBody>
          <a:bodyPr wrap="square" lIns="0" tIns="0" rIns="0" bIns="0" rtlCol="0" anchor="ctr"/>
          <a:lstStyle/>
          <a:p>
            <a:pPr indent="0" marL="0">
              <a:buNone/>
            </a:pPr>
            <a:r>
              <a:rPr lang="en-US" sz="1150" dirty="0">
                <a:solidFill>
                  <a:srgbClr val="A9BEDC"/>
                </a:solidFill>
                <a:latin typeface="Calibri" pitchFamily="34" charset="0"/>
                <a:ea typeface="Calibri" pitchFamily="34" charset="-122"/>
                <a:cs typeface="Calibri" pitchFamily="34" charset="-120"/>
              </a:rPr>
              <a:t>In this domain the API is the risk — so every dependency carries an access rating</a:t>
            </a:r>
            <a:endParaRPr lang="en-US" sz="1150" dirty="0"/>
          </a:p>
        </p:txBody>
      </p:sp>
      <p:sp>
        <p:nvSpPr>
          <p:cNvPr id="6" name="Shape 4"/>
          <p:cNvSpPr/>
          <p:nvPr/>
        </p:nvSpPr>
        <p:spPr>
          <a:xfrm>
            <a:off x="457200" y="1152144"/>
            <a:ext cx="5577840" cy="4736592"/>
          </a:xfrm>
          <a:prstGeom prst="roundRect">
            <a:avLst>
              <a:gd name="adj" fmla="val 1158"/>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sp>
        <p:nvSpPr>
          <p:cNvPr id="7" name="Text 5"/>
          <p:cNvSpPr/>
          <p:nvPr/>
        </p:nvSpPr>
        <p:spPr>
          <a:xfrm>
            <a:off x="694944" y="1261872"/>
            <a:ext cx="1828800" cy="219456"/>
          </a:xfrm>
          <a:prstGeom prst="rect">
            <a:avLst/>
          </a:prstGeom>
          <a:noFill/>
          <a:ln/>
        </p:spPr>
        <p:txBody>
          <a:bodyPr wrap="square" lIns="0" tIns="0" rIns="0" bIns="0" rtlCol="0" anchor="ctr"/>
          <a:lstStyle/>
          <a:p>
            <a:pPr indent="0" marL="0">
              <a:buNone/>
            </a:pPr>
            <a:r>
              <a:rPr lang="en-US" sz="850" b="1" spc="140" kern="0" dirty="0">
                <a:solidFill>
                  <a:srgbClr val="3D9CFF"/>
                </a:solidFill>
                <a:latin typeface="Calibri" pitchFamily="34" charset="0"/>
                <a:ea typeface="Calibri" pitchFamily="34" charset="-122"/>
                <a:cs typeface="Calibri" pitchFamily="34" charset="-120"/>
              </a:rPr>
              <a:t>STACK</a:t>
            </a:r>
            <a:endParaRPr lang="en-US" sz="850" dirty="0"/>
          </a:p>
        </p:txBody>
      </p:sp>
      <p:sp>
        <p:nvSpPr>
          <p:cNvPr id="8" name="Text 6"/>
          <p:cNvSpPr/>
          <p:nvPr/>
        </p:nvSpPr>
        <p:spPr>
          <a:xfrm>
            <a:off x="4297680" y="1261872"/>
            <a:ext cx="1463040" cy="219456"/>
          </a:xfrm>
          <a:prstGeom prst="rect">
            <a:avLst/>
          </a:prstGeom>
          <a:noFill/>
          <a:ln/>
        </p:spPr>
        <p:txBody>
          <a:bodyPr wrap="square" lIns="0" tIns="0" rIns="0" bIns="0" rtlCol="0" anchor="ctr"/>
          <a:lstStyle/>
          <a:p>
            <a:pPr algn="r" indent="0" marL="0">
              <a:buNone/>
            </a:pPr>
            <a:r>
              <a:rPr lang="en-US" sz="850" b="1" spc="140" kern="0" dirty="0">
                <a:solidFill>
                  <a:srgbClr val="3D9CFF"/>
                </a:solidFill>
                <a:latin typeface="Calibri" pitchFamily="34" charset="0"/>
                <a:ea typeface="Calibri" pitchFamily="34" charset="-122"/>
                <a:cs typeface="Calibri" pitchFamily="34" charset="-120"/>
              </a:rPr>
              <a:t>ACCESS</a:t>
            </a:r>
            <a:endParaRPr lang="en-US" sz="850" dirty="0"/>
          </a:p>
        </p:txBody>
      </p:sp>
      <p:sp>
        <p:nvSpPr>
          <p:cNvPr id="9" name="Shape 7"/>
          <p:cNvSpPr/>
          <p:nvPr/>
        </p:nvSpPr>
        <p:spPr>
          <a:xfrm>
            <a:off x="694944" y="1554480"/>
            <a:ext cx="5102352" cy="301752"/>
          </a:xfrm>
          <a:prstGeom prst="roundRect">
            <a:avLst>
              <a:gd name="adj" fmla="val 12121"/>
            </a:avLst>
          </a:prstGeom>
          <a:solidFill>
            <a:srgbClr val="0D2246"/>
          </a:solidFill>
          <a:ln w="12700">
            <a:solidFill>
              <a:srgbClr val="333333"/>
            </a:solidFill>
            <a:prstDash val="solid"/>
          </a:ln>
        </p:spPr>
        <p:txBody>
          <a:bodyPr/>
          <a:p/>
        </p:txBody>
      </p:sp>
      <p:sp>
        <p:nvSpPr>
          <p:cNvPr id="10" name="Shape 8"/>
          <p:cNvSpPr/>
          <p:nvPr/>
        </p:nvSpPr>
        <p:spPr>
          <a:xfrm>
            <a:off x="804672" y="1673352"/>
            <a:ext cx="100584" cy="100584"/>
          </a:xfrm>
          <a:prstGeom prst="ellipse">
            <a:avLst/>
          </a:prstGeom>
          <a:solidFill>
            <a:srgbClr val="2ECC9A"/>
          </a:solidFill>
          <a:ln w="12700">
            <a:solidFill>
              <a:srgbClr val="333333"/>
            </a:solidFill>
            <a:prstDash val="solid"/>
          </a:ln>
        </p:spPr>
        <p:txBody>
          <a:bodyPr/>
          <a:p/>
        </p:txBody>
      </p:sp>
      <p:sp>
        <p:nvSpPr>
          <p:cNvPr id="11" name="Text 9"/>
          <p:cNvSpPr/>
          <p:nvPr/>
        </p:nvSpPr>
        <p:spPr>
          <a:xfrm>
            <a:off x="987552" y="1554480"/>
            <a:ext cx="1298448" cy="301752"/>
          </a:xfrm>
          <a:prstGeom prst="rect">
            <a:avLst/>
          </a:prstGeom>
          <a:noFill/>
          <a:ln/>
        </p:spPr>
        <p:txBody>
          <a:bodyPr wrap="square" lIns="0" tIns="0" rIns="0" bIns="0" rtlCol="0" anchor="ctr"/>
          <a:lstStyle/>
          <a:p>
            <a:pPr indent="0" marL="0">
              <a:buNone/>
            </a:pPr>
            <a:r>
              <a:rPr lang="en-US" sz="900" dirty="0">
                <a:solidFill>
                  <a:srgbClr val="A9BEDC"/>
                </a:solidFill>
                <a:latin typeface="Calibri" pitchFamily="34" charset="0"/>
                <a:ea typeface="Calibri" pitchFamily="34" charset="-122"/>
                <a:cs typeface="Calibri" pitchFamily="34" charset="-120"/>
              </a:rPr>
              <a:t>Frontend</a:t>
            </a:r>
            <a:endParaRPr lang="en-US" sz="900" dirty="0"/>
          </a:p>
        </p:txBody>
      </p:sp>
      <p:sp>
        <p:nvSpPr>
          <p:cNvPr id="12" name="Text 10"/>
          <p:cNvSpPr/>
          <p:nvPr/>
        </p:nvSpPr>
        <p:spPr>
          <a:xfrm>
            <a:off x="2286000" y="1554480"/>
            <a:ext cx="2103120" cy="30175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React Native</a:t>
            </a:r>
            <a:endParaRPr lang="en-US" sz="900" dirty="0"/>
          </a:p>
        </p:txBody>
      </p:sp>
      <p:sp>
        <p:nvSpPr>
          <p:cNvPr id="13" name="Text 11"/>
          <p:cNvSpPr/>
          <p:nvPr/>
        </p:nvSpPr>
        <p:spPr>
          <a:xfrm>
            <a:off x="4389120" y="1554480"/>
            <a:ext cx="1316736" cy="301752"/>
          </a:xfrm>
          <a:prstGeom prst="rect">
            <a:avLst/>
          </a:prstGeom>
          <a:noFill/>
          <a:ln/>
        </p:spPr>
        <p:txBody>
          <a:bodyPr wrap="square" lIns="0" tIns="0" rIns="0" bIns="0" rtlCol="0" anchor="ctr"/>
          <a:lstStyle/>
          <a:p>
            <a:pPr algn="r" indent="0" marL="0">
              <a:buNone/>
            </a:pPr>
            <a:r>
              <a:rPr lang="en-US" sz="800" b="1" dirty="0">
                <a:solidFill>
                  <a:srgbClr val="2ECC9A"/>
                </a:solidFill>
                <a:latin typeface="Calibri" pitchFamily="34" charset="0"/>
                <a:ea typeface="Calibri" pitchFamily="34" charset="-122"/>
                <a:cs typeface="Calibri" pitchFamily="34" charset="-120"/>
              </a:rPr>
              <a:t>open</a:t>
            </a:r>
            <a:endParaRPr lang="en-US" sz="800" dirty="0"/>
          </a:p>
        </p:txBody>
      </p:sp>
      <p:sp>
        <p:nvSpPr>
          <p:cNvPr id="14" name="Shape 12"/>
          <p:cNvSpPr/>
          <p:nvPr/>
        </p:nvSpPr>
        <p:spPr>
          <a:xfrm>
            <a:off x="694944" y="1897380"/>
            <a:ext cx="5102352" cy="301752"/>
          </a:xfrm>
          <a:prstGeom prst="roundRect">
            <a:avLst>
              <a:gd name="adj" fmla="val 12121"/>
            </a:avLst>
          </a:prstGeom>
          <a:solidFill>
            <a:srgbClr val="0D2246"/>
          </a:solidFill>
          <a:ln w="12700">
            <a:solidFill>
              <a:srgbClr val="333333"/>
            </a:solidFill>
            <a:prstDash val="solid"/>
          </a:ln>
        </p:spPr>
        <p:txBody>
          <a:bodyPr/>
          <a:p/>
        </p:txBody>
      </p:sp>
      <p:sp>
        <p:nvSpPr>
          <p:cNvPr id="15" name="Shape 13"/>
          <p:cNvSpPr/>
          <p:nvPr/>
        </p:nvSpPr>
        <p:spPr>
          <a:xfrm>
            <a:off x="804672" y="2016252"/>
            <a:ext cx="100584" cy="100584"/>
          </a:xfrm>
          <a:prstGeom prst="ellipse">
            <a:avLst/>
          </a:prstGeom>
          <a:solidFill>
            <a:srgbClr val="2ECC9A"/>
          </a:solidFill>
          <a:ln w="12700">
            <a:solidFill>
              <a:srgbClr val="333333"/>
            </a:solidFill>
            <a:prstDash val="solid"/>
          </a:ln>
        </p:spPr>
        <p:txBody>
          <a:bodyPr/>
          <a:p/>
        </p:txBody>
      </p:sp>
      <p:sp>
        <p:nvSpPr>
          <p:cNvPr id="16" name="Text 14"/>
          <p:cNvSpPr/>
          <p:nvPr/>
        </p:nvSpPr>
        <p:spPr>
          <a:xfrm>
            <a:off x="987552" y="1897380"/>
            <a:ext cx="1298448" cy="301752"/>
          </a:xfrm>
          <a:prstGeom prst="rect">
            <a:avLst/>
          </a:prstGeom>
          <a:noFill/>
          <a:ln/>
        </p:spPr>
        <p:txBody>
          <a:bodyPr wrap="square" lIns="0" tIns="0" rIns="0" bIns="0" rtlCol="0" anchor="ctr"/>
          <a:lstStyle/>
          <a:p>
            <a:pPr indent="0" marL="0">
              <a:buNone/>
            </a:pPr>
            <a:r>
              <a:rPr lang="en-US" sz="900" dirty="0">
                <a:solidFill>
                  <a:srgbClr val="A9BEDC"/>
                </a:solidFill>
                <a:latin typeface="Calibri" pitchFamily="34" charset="0"/>
                <a:ea typeface="Calibri" pitchFamily="34" charset="-122"/>
                <a:cs typeface="Calibri" pitchFamily="34" charset="-120"/>
              </a:rPr>
              <a:t>Backend</a:t>
            </a:r>
            <a:endParaRPr lang="en-US" sz="900" dirty="0"/>
          </a:p>
        </p:txBody>
      </p:sp>
      <p:sp>
        <p:nvSpPr>
          <p:cNvPr id="17" name="Text 15"/>
          <p:cNvSpPr/>
          <p:nvPr/>
        </p:nvSpPr>
        <p:spPr>
          <a:xfrm>
            <a:off x="2286000" y="1897380"/>
            <a:ext cx="2103120" cy="30175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Node.js / TypeScript</a:t>
            </a:r>
            <a:endParaRPr lang="en-US" sz="900" dirty="0"/>
          </a:p>
        </p:txBody>
      </p:sp>
      <p:sp>
        <p:nvSpPr>
          <p:cNvPr id="18" name="Text 16"/>
          <p:cNvSpPr/>
          <p:nvPr/>
        </p:nvSpPr>
        <p:spPr>
          <a:xfrm>
            <a:off x="4389120" y="1897380"/>
            <a:ext cx="1316736" cy="301752"/>
          </a:xfrm>
          <a:prstGeom prst="rect">
            <a:avLst/>
          </a:prstGeom>
          <a:noFill/>
          <a:ln/>
        </p:spPr>
        <p:txBody>
          <a:bodyPr wrap="square" lIns="0" tIns="0" rIns="0" bIns="0" rtlCol="0" anchor="ctr"/>
          <a:lstStyle/>
          <a:p>
            <a:pPr algn="r" indent="0" marL="0">
              <a:buNone/>
            </a:pPr>
            <a:r>
              <a:rPr lang="en-US" sz="800" b="1" dirty="0">
                <a:solidFill>
                  <a:srgbClr val="2ECC9A"/>
                </a:solidFill>
                <a:latin typeface="Calibri" pitchFamily="34" charset="0"/>
                <a:ea typeface="Calibri" pitchFamily="34" charset="-122"/>
                <a:cs typeface="Calibri" pitchFamily="34" charset="-120"/>
              </a:rPr>
              <a:t>open</a:t>
            </a:r>
            <a:endParaRPr lang="en-US" sz="800" dirty="0"/>
          </a:p>
        </p:txBody>
      </p:sp>
      <p:sp>
        <p:nvSpPr>
          <p:cNvPr id="19" name="Shape 17"/>
          <p:cNvSpPr/>
          <p:nvPr/>
        </p:nvSpPr>
        <p:spPr>
          <a:xfrm>
            <a:off x="694944" y="2240280"/>
            <a:ext cx="5102352" cy="301752"/>
          </a:xfrm>
          <a:prstGeom prst="roundRect">
            <a:avLst>
              <a:gd name="adj" fmla="val 12121"/>
            </a:avLst>
          </a:prstGeom>
          <a:solidFill>
            <a:srgbClr val="0D2246"/>
          </a:solidFill>
          <a:ln w="12700">
            <a:solidFill>
              <a:srgbClr val="333333"/>
            </a:solidFill>
            <a:prstDash val="solid"/>
          </a:ln>
        </p:spPr>
        <p:txBody>
          <a:bodyPr/>
          <a:p/>
        </p:txBody>
      </p:sp>
      <p:sp>
        <p:nvSpPr>
          <p:cNvPr id="20" name="Shape 18"/>
          <p:cNvSpPr/>
          <p:nvPr/>
        </p:nvSpPr>
        <p:spPr>
          <a:xfrm>
            <a:off x="804672" y="2359152"/>
            <a:ext cx="100584" cy="100584"/>
          </a:xfrm>
          <a:prstGeom prst="ellipse">
            <a:avLst/>
          </a:prstGeom>
          <a:solidFill>
            <a:srgbClr val="2ECC9A"/>
          </a:solidFill>
          <a:ln w="12700">
            <a:solidFill>
              <a:srgbClr val="333333"/>
            </a:solidFill>
            <a:prstDash val="solid"/>
          </a:ln>
        </p:spPr>
        <p:txBody>
          <a:bodyPr/>
          <a:p/>
        </p:txBody>
      </p:sp>
      <p:sp>
        <p:nvSpPr>
          <p:cNvPr id="21" name="Text 19"/>
          <p:cNvSpPr/>
          <p:nvPr/>
        </p:nvSpPr>
        <p:spPr>
          <a:xfrm>
            <a:off x="987552" y="2240280"/>
            <a:ext cx="1298448" cy="301752"/>
          </a:xfrm>
          <a:prstGeom prst="rect">
            <a:avLst/>
          </a:prstGeom>
          <a:noFill/>
          <a:ln/>
        </p:spPr>
        <p:txBody>
          <a:bodyPr wrap="square" lIns="0" tIns="0" rIns="0" bIns="0" rtlCol="0" anchor="ctr"/>
          <a:lstStyle/>
          <a:p>
            <a:pPr indent="0" marL="0">
              <a:buNone/>
            </a:pPr>
            <a:r>
              <a:rPr lang="en-US" sz="900" dirty="0">
                <a:solidFill>
                  <a:srgbClr val="A9BEDC"/>
                </a:solidFill>
                <a:latin typeface="Calibri" pitchFamily="34" charset="0"/>
                <a:ea typeface="Calibri" pitchFamily="34" charset="-122"/>
                <a:cs typeface="Calibri" pitchFamily="34" charset="-120"/>
              </a:rPr>
              <a:t>Agent runtime</a:t>
            </a:r>
            <a:endParaRPr lang="en-US" sz="900" dirty="0"/>
          </a:p>
        </p:txBody>
      </p:sp>
      <p:sp>
        <p:nvSpPr>
          <p:cNvPr id="22" name="Text 20"/>
          <p:cNvSpPr/>
          <p:nvPr/>
        </p:nvSpPr>
        <p:spPr>
          <a:xfrm>
            <a:off x="2286000" y="2240280"/>
            <a:ext cx="2103120" cy="30175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LangChain</a:t>
            </a:r>
            <a:endParaRPr lang="en-US" sz="900" dirty="0"/>
          </a:p>
        </p:txBody>
      </p:sp>
      <p:sp>
        <p:nvSpPr>
          <p:cNvPr id="23" name="Text 21"/>
          <p:cNvSpPr/>
          <p:nvPr/>
        </p:nvSpPr>
        <p:spPr>
          <a:xfrm>
            <a:off x="4389120" y="2240280"/>
            <a:ext cx="1316736" cy="301752"/>
          </a:xfrm>
          <a:prstGeom prst="rect">
            <a:avLst/>
          </a:prstGeom>
          <a:noFill/>
          <a:ln/>
        </p:spPr>
        <p:txBody>
          <a:bodyPr wrap="square" lIns="0" tIns="0" rIns="0" bIns="0" rtlCol="0" anchor="ctr"/>
          <a:lstStyle/>
          <a:p>
            <a:pPr algn="r" indent="0" marL="0">
              <a:buNone/>
            </a:pPr>
            <a:r>
              <a:rPr lang="en-US" sz="800" b="1" dirty="0">
                <a:solidFill>
                  <a:srgbClr val="2ECC9A"/>
                </a:solidFill>
                <a:latin typeface="Calibri" pitchFamily="34" charset="0"/>
                <a:ea typeface="Calibri" pitchFamily="34" charset="-122"/>
                <a:cs typeface="Calibri" pitchFamily="34" charset="-120"/>
              </a:rPr>
              <a:t>open</a:t>
            </a:r>
            <a:endParaRPr lang="en-US" sz="800" dirty="0"/>
          </a:p>
        </p:txBody>
      </p:sp>
      <p:sp>
        <p:nvSpPr>
          <p:cNvPr id="24" name="Shape 22"/>
          <p:cNvSpPr/>
          <p:nvPr/>
        </p:nvSpPr>
        <p:spPr>
          <a:xfrm>
            <a:off x="694944" y="2583180"/>
            <a:ext cx="5102352" cy="301752"/>
          </a:xfrm>
          <a:prstGeom prst="roundRect">
            <a:avLst>
              <a:gd name="adj" fmla="val 12121"/>
            </a:avLst>
          </a:prstGeom>
          <a:solidFill>
            <a:srgbClr val="0D2246"/>
          </a:solidFill>
          <a:ln w="12700">
            <a:solidFill>
              <a:srgbClr val="333333"/>
            </a:solidFill>
            <a:prstDash val="solid"/>
          </a:ln>
        </p:spPr>
        <p:txBody>
          <a:bodyPr/>
          <a:p/>
        </p:txBody>
      </p:sp>
      <p:sp>
        <p:nvSpPr>
          <p:cNvPr id="25" name="Shape 23"/>
          <p:cNvSpPr/>
          <p:nvPr/>
        </p:nvSpPr>
        <p:spPr>
          <a:xfrm>
            <a:off x="804672" y="2702052"/>
            <a:ext cx="100584" cy="100584"/>
          </a:xfrm>
          <a:prstGeom prst="ellipse">
            <a:avLst/>
          </a:prstGeom>
          <a:solidFill>
            <a:srgbClr val="2ECC9A"/>
          </a:solidFill>
          <a:ln w="12700">
            <a:solidFill>
              <a:srgbClr val="333333"/>
            </a:solidFill>
            <a:prstDash val="solid"/>
          </a:ln>
        </p:spPr>
        <p:txBody>
          <a:bodyPr/>
          <a:p/>
        </p:txBody>
      </p:sp>
      <p:sp>
        <p:nvSpPr>
          <p:cNvPr id="26" name="Text 24"/>
          <p:cNvSpPr/>
          <p:nvPr/>
        </p:nvSpPr>
        <p:spPr>
          <a:xfrm>
            <a:off x="987552" y="2583180"/>
            <a:ext cx="1298448" cy="301752"/>
          </a:xfrm>
          <a:prstGeom prst="rect">
            <a:avLst/>
          </a:prstGeom>
          <a:noFill/>
          <a:ln/>
        </p:spPr>
        <p:txBody>
          <a:bodyPr wrap="square" lIns="0" tIns="0" rIns="0" bIns="0" rtlCol="0" anchor="ctr"/>
          <a:lstStyle/>
          <a:p>
            <a:pPr indent="0" marL="0">
              <a:buNone/>
            </a:pPr>
            <a:r>
              <a:rPr lang="en-US" sz="900" dirty="0">
                <a:solidFill>
                  <a:srgbClr val="A9BEDC"/>
                </a:solidFill>
                <a:latin typeface="Calibri" pitchFamily="34" charset="0"/>
                <a:ea typeface="Calibri" pitchFamily="34" charset="-122"/>
                <a:cs typeface="Calibri" pitchFamily="34" charset="-120"/>
              </a:rPr>
              <a:t>Orchestration</a:t>
            </a:r>
            <a:endParaRPr lang="en-US" sz="900" dirty="0"/>
          </a:p>
        </p:txBody>
      </p:sp>
      <p:sp>
        <p:nvSpPr>
          <p:cNvPr id="27" name="Text 25"/>
          <p:cNvSpPr/>
          <p:nvPr/>
        </p:nvSpPr>
        <p:spPr>
          <a:xfrm>
            <a:off x="2286000" y="2583180"/>
            <a:ext cx="2103120" cy="30175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Temporal.io</a:t>
            </a:r>
            <a:endParaRPr lang="en-US" sz="900" dirty="0"/>
          </a:p>
        </p:txBody>
      </p:sp>
      <p:sp>
        <p:nvSpPr>
          <p:cNvPr id="28" name="Text 26"/>
          <p:cNvSpPr/>
          <p:nvPr/>
        </p:nvSpPr>
        <p:spPr>
          <a:xfrm>
            <a:off x="4389120" y="2583180"/>
            <a:ext cx="1316736" cy="301752"/>
          </a:xfrm>
          <a:prstGeom prst="rect">
            <a:avLst/>
          </a:prstGeom>
          <a:noFill/>
          <a:ln/>
        </p:spPr>
        <p:txBody>
          <a:bodyPr wrap="square" lIns="0" tIns="0" rIns="0" bIns="0" rtlCol="0" anchor="ctr"/>
          <a:lstStyle/>
          <a:p>
            <a:pPr algn="r" indent="0" marL="0">
              <a:buNone/>
            </a:pPr>
            <a:r>
              <a:rPr lang="en-US" sz="800" b="1" dirty="0">
                <a:solidFill>
                  <a:srgbClr val="2ECC9A"/>
                </a:solidFill>
                <a:latin typeface="Calibri" pitchFamily="34" charset="0"/>
                <a:ea typeface="Calibri" pitchFamily="34" charset="-122"/>
                <a:cs typeface="Calibri" pitchFamily="34" charset="-120"/>
              </a:rPr>
              <a:t>OSS + free tier</a:t>
            </a:r>
            <a:endParaRPr lang="en-US" sz="800" dirty="0"/>
          </a:p>
        </p:txBody>
      </p:sp>
      <p:sp>
        <p:nvSpPr>
          <p:cNvPr id="29" name="Shape 27"/>
          <p:cNvSpPr/>
          <p:nvPr/>
        </p:nvSpPr>
        <p:spPr>
          <a:xfrm>
            <a:off x="694944" y="2926080"/>
            <a:ext cx="5102352" cy="301752"/>
          </a:xfrm>
          <a:prstGeom prst="roundRect">
            <a:avLst>
              <a:gd name="adj" fmla="val 12121"/>
            </a:avLst>
          </a:prstGeom>
          <a:solidFill>
            <a:srgbClr val="0D2246"/>
          </a:solidFill>
          <a:ln w="12700">
            <a:solidFill>
              <a:srgbClr val="333333"/>
            </a:solidFill>
            <a:prstDash val="solid"/>
          </a:ln>
        </p:spPr>
        <p:txBody>
          <a:bodyPr/>
          <a:p/>
        </p:txBody>
      </p:sp>
      <p:sp>
        <p:nvSpPr>
          <p:cNvPr id="30" name="Shape 28"/>
          <p:cNvSpPr/>
          <p:nvPr/>
        </p:nvSpPr>
        <p:spPr>
          <a:xfrm>
            <a:off x="804672" y="3044952"/>
            <a:ext cx="100584" cy="100584"/>
          </a:xfrm>
          <a:prstGeom prst="ellipse">
            <a:avLst/>
          </a:prstGeom>
          <a:solidFill>
            <a:srgbClr val="2ECC9A"/>
          </a:solidFill>
          <a:ln w="12700">
            <a:solidFill>
              <a:srgbClr val="333333"/>
            </a:solidFill>
            <a:prstDash val="solid"/>
          </a:ln>
        </p:spPr>
        <p:txBody>
          <a:bodyPr/>
          <a:p/>
        </p:txBody>
      </p:sp>
      <p:sp>
        <p:nvSpPr>
          <p:cNvPr id="31" name="Text 29"/>
          <p:cNvSpPr/>
          <p:nvPr/>
        </p:nvSpPr>
        <p:spPr>
          <a:xfrm>
            <a:off x="987552" y="2926080"/>
            <a:ext cx="1298448" cy="301752"/>
          </a:xfrm>
          <a:prstGeom prst="rect">
            <a:avLst/>
          </a:prstGeom>
          <a:noFill/>
          <a:ln/>
        </p:spPr>
        <p:txBody>
          <a:bodyPr wrap="square" lIns="0" tIns="0" rIns="0" bIns="0" rtlCol="0" anchor="ctr"/>
          <a:lstStyle/>
          <a:p>
            <a:pPr indent="0" marL="0">
              <a:buNone/>
            </a:pPr>
            <a:r>
              <a:rPr lang="en-US" sz="900" dirty="0">
                <a:solidFill>
                  <a:srgbClr val="A9BEDC"/>
                </a:solidFill>
                <a:latin typeface="Calibri" pitchFamily="34" charset="0"/>
                <a:ea typeface="Calibri" pitchFamily="34" charset="-122"/>
                <a:cs typeface="Calibri" pitchFamily="34" charset="-120"/>
              </a:rPr>
              <a:t>Policy engine</a:t>
            </a:r>
            <a:endParaRPr lang="en-US" sz="900" dirty="0"/>
          </a:p>
        </p:txBody>
      </p:sp>
      <p:sp>
        <p:nvSpPr>
          <p:cNvPr id="32" name="Text 30"/>
          <p:cNvSpPr/>
          <p:nvPr/>
        </p:nvSpPr>
        <p:spPr>
          <a:xfrm>
            <a:off x="2286000" y="2926080"/>
            <a:ext cx="2103120" cy="30175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Open Policy Agent / Rego</a:t>
            </a:r>
            <a:endParaRPr lang="en-US" sz="900" dirty="0"/>
          </a:p>
        </p:txBody>
      </p:sp>
      <p:sp>
        <p:nvSpPr>
          <p:cNvPr id="33" name="Text 31"/>
          <p:cNvSpPr/>
          <p:nvPr/>
        </p:nvSpPr>
        <p:spPr>
          <a:xfrm>
            <a:off x="4389120" y="2926080"/>
            <a:ext cx="1316736" cy="301752"/>
          </a:xfrm>
          <a:prstGeom prst="rect">
            <a:avLst/>
          </a:prstGeom>
          <a:noFill/>
          <a:ln/>
        </p:spPr>
        <p:txBody>
          <a:bodyPr wrap="square" lIns="0" tIns="0" rIns="0" bIns="0" rtlCol="0" anchor="ctr"/>
          <a:lstStyle/>
          <a:p>
            <a:pPr algn="r" indent="0" marL="0">
              <a:buNone/>
            </a:pPr>
            <a:r>
              <a:rPr lang="en-US" sz="800" b="1" dirty="0">
                <a:solidFill>
                  <a:srgbClr val="2ECC9A"/>
                </a:solidFill>
                <a:latin typeface="Calibri" pitchFamily="34" charset="0"/>
                <a:ea typeface="Calibri" pitchFamily="34" charset="-122"/>
                <a:cs typeface="Calibri" pitchFamily="34" charset="-120"/>
              </a:rPr>
              <a:t>CNCF, Apache 2.0</a:t>
            </a:r>
            <a:endParaRPr lang="en-US" sz="800" dirty="0"/>
          </a:p>
        </p:txBody>
      </p:sp>
      <p:sp>
        <p:nvSpPr>
          <p:cNvPr id="34" name="Shape 32"/>
          <p:cNvSpPr/>
          <p:nvPr/>
        </p:nvSpPr>
        <p:spPr>
          <a:xfrm>
            <a:off x="694944" y="3268980"/>
            <a:ext cx="5102352" cy="301752"/>
          </a:xfrm>
          <a:prstGeom prst="roundRect">
            <a:avLst>
              <a:gd name="adj" fmla="val 12121"/>
            </a:avLst>
          </a:prstGeom>
          <a:solidFill>
            <a:srgbClr val="0D2246"/>
          </a:solidFill>
          <a:ln w="12700">
            <a:solidFill>
              <a:srgbClr val="333333"/>
            </a:solidFill>
            <a:prstDash val="solid"/>
          </a:ln>
        </p:spPr>
        <p:txBody>
          <a:bodyPr/>
          <a:p/>
        </p:txBody>
      </p:sp>
      <p:sp>
        <p:nvSpPr>
          <p:cNvPr id="35" name="Shape 33"/>
          <p:cNvSpPr/>
          <p:nvPr/>
        </p:nvSpPr>
        <p:spPr>
          <a:xfrm>
            <a:off x="804672" y="3387852"/>
            <a:ext cx="100584" cy="100584"/>
          </a:xfrm>
          <a:prstGeom prst="ellipse">
            <a:avLst/>
          </a:prstGeom>
          <a:solidFill>
            <a:srgbClr val="2ECC9A"/>
          </a:solidFill>
          <a:ln w="12700">
            <a:solidFill>
              <a:srgbClr val="333333"/>
            </a:solidFill>
            <a:prstDash val="solid"/>
          </a:ln>
        </p:spPr>
        <p:txBody>
          <a:bodyPr/>
          <a:p/>
        </p:txBody>
      </p:sp>
      <p:sp>
        <p:nvSpPr>
          <p:cNvPr id="36" name="Text 34"/>
          <p:cNvSpPr/>
          <p:nvPr/>
        </p:nvSpPr>
        <p:spPr>
          <a:xfrm>
            <a:off x="987552" y="3268980"/>
            <a:ext cx="1298448" cy="301752"/>
          </a:xfrm>
          <a:prstGeom prst="rect">
            <a:avLst/>
          </a:prstGeom>
          <a:noFill/>
          <a:ln/>
        </p:spPr>
        <p:txBody>
          <a:bodyPr wrap="square" lIns="0" tIns="0" rIns="0" bIns="0" rtlCol="0" anchor="ctr"/>
          <a:lstStyle/>
          <a:p>
            <a:pPr indent="0" marL="0">
              <a:buNone/>
            </a:pPr>
            <a:r>
              <a:rPr lang="en-US" sz="900" dirty="0">
                <a:solidFill>
                  <a:srgbClr val="A9BEDC"/>
                </a:solidFill>
                <a:latin typeface="Calibri" pitchFamily="34" charset="0"/>
                <a:ea typeface="Calibri" pitchFamily="34" charset="-122"/>
                <a:cs typeface="Calibri" pitchFamily="34" charset="-120"/>
              </a:rPr>
              <a:t>Air &amp; hotel</a:t>
            </a:r>
            <a:endParaRPr lang="en-US" sz="900" dirty="0"/>
          </a:p>
        </p:txBody>
      </p:sp>
      <p:sp>
        <p:nvSpPr>
          <p:cNvPr id="37" name="Text 35"/>
          <p:cNvSpPr/>
          <p:nvPr/>
        </p:nvSpPr>
        <p:spPr>
          <a:xfrm>
            <a:off x="2286000" y="3268980"/>
            <a:ext cx="2103120" cy="30175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Duffel + LiteAPI sandboxes</a:t>
            </a:r>
            <a:endParaRPr lang="en-US" sz="900" dirty="0"/>
          </a:p>
        </p:txBody>
      </p:sp>
      <p:sp>
        <p:nvSpPr>
          <p:cNvPr id="38" name="Text 36"/>
          <p:cNvSpPr/>
          <p:nvPr/>
        </p:nvSpPr>
        <p:spPr>
          <a:xfrm>
            <a:off x="4389120" y="3268980"/>
            <a:ext cx="1316736" cy="301752"/>
          </a:xfrm>
          <a:prstGeom prst="rect">
            <a:avLst/>
          </a:prstGeom>
          <a:noFill/>
          <a:ln/>
        </p:spPr>
        <p:txBody>
          <a:bodyPr wrap="square" lIns="0" tIns="0" rIns="0" bIns="0" rtlCol="0" anchor="ctr"/>
          <a:lstStyle/>
          <a:p>
            <a:pPr algn="r" indent="0" marL="0">
              <a:buNone/>
            </a:pPr>
            <a:r>
              <a:rPr lang="en-US" sz="800" b="1" dirty="0">
                <a:solidFill>
                  <a:srgbClr val="2ECC9A"/>
                </a:solidFill>
                <a:latin typeface="Calibri" pitchFamily="34" charset="0"/>
                <a:ea typeface="Calibri" pitchFamily="34" charset="-122"/>
                <a:cs typeface="Calibri" pitchFamily="34" charset="-120"/>
              </a:rPr>
              <a:t>FREE · key in ~1 min</a:t>
            </a:r>
            <a:endParaRPr lang="en-US" sz="800" dirty="0"/>
          </a:p>
        </p:txBody>
      </p:sp>
      <p:sp>
        <p:nvSpPr>
          <p:cNvPr id="39" name="Shape 37"/>
          <p:cNvSpPr/>
          <p:nvPr/>
        </p:nvSpPr>
        <p:spPr>
          <a:xfrm>
            <a:off x="694944" y="3611880"/>
            <a:ext cx="5102352" cy="301752"/>
          </a:xfrm>
          <a:prstGeom prst="roundRect">
            <a:avLst>
              <a:gd name="adj" fmla="val 12121"/>
            </a:avLst>
          </a:prstGeom>
          <a:solidFill>
            <a:srgbClr val="0D2246"/>
          </a:solidFill>
          <a:ln w="12700">
            <a:solidFill>
              <a:srgbClr val="333333"/>
            </a:solidFill>
            <a:prstDash val="solid"/>
          </a:ln>
        </p:spPr>
        <p:txBody>
          <a:bodyPr/>
          <a:p/>
        </p:txBody>
      </p:sp>
      <p:sp>
        <p:nvSpPr>
          <p:cNvPr id="40" name="Shape 38"/>
          <p:cNvSpPr/>
          <p:nvPr/>
        </p:nvSpPr>
        <p:spPr>
          <a:xfrm>
            <a:off x="804672" y="3730752"/>
            <a:ext cx="100584" cy="100584"/>
          </a:xfrm>
          <a:prstGeom prst="ellipse">
            <a:avLst/>
          </a:prstGeom>
          <a:solidFill>
            <a:srgbClr val="FF6B6B"/>
          </a:solidFill>
          <a:ln w="12700">
            <a:solidFill>
              <a:srgbClr val="333333"/>
            </a:solidFill>
            <a:prstDash val="solid"/>
          </a:ln>
        </p:spPr>
        <p:txBody>
          <a:bodyPr/>
          <a:p/>
        </p:txBody>
      </p:sp>
      <p:sp>
        <p:nvSpPr>
          <p:cNvPr id="41" name="Text 39"/>
          <p:cNvSpPr/>
          <p:nvPr/>
        </p:nvSpPr>
        <p:spPr>
          <a:xfrm>
            <a:off x="987552" y="3611880"/>
            <a:ext cx="1298448" cy="301752"/>
          </a:xfrm>
          <a:prstGeom prst="rect">
            <a:avLst/>
          </a:prstGeom>
          <a:noFill/>
          <a:ln/>
        </p:spPr>
        <p:txBody>
          <a:bodyPr wrap="square" lIns="0" tIns="0" rIns="0" bIns="0" rtlCol="0" anchor="ctr"/>
          <a:lstStyle/>
          <a:p>
            <a:pPr indent="0" marL="0">
              <a:buNone/>
            </a:pPr>
            <a:r>
              <a:rPr lang="en-US" sz="900" dirty="0">
                <a:solidFill>
                  <a:srgbClr val="A9BEDC"/>
                </a:solidFill>
                <a:latin typeface="Calibri" pitchFamily="34" charset="0"/>
                <a:ea typeface="Calibri" pitchFamily="34" charset="-122"/>
                <a:cs typeface="Calibri" pitchFamily="34" charset="-120"/>
              </a:rPr>
              <a:t>Amadeus</a:t>
            </a:r>
            <a:endParaRPr lang="en-US" sz="900" dirty="0"/>
          </a:p>
        </p:txBody>
      </p:sp>
      <p:sp>
        <p:nvSpPr>
          <p:cNvPr id="42" name="Text 40"/>
          <p:cNvSpPr/>
          <p:nvPr/>
        </p:nvSpPr>
        <p:spPr>
          <a:xfrm>
            <a:off x="2286000" y="3611880"/>
            <a:ext cx="2103120" cy="301752"/>
          </a:xfrm>
          <a:prstGeom prst="rect">
            <a:avLst/>
          </a:prstGeom>
          <a:noFill/>
          <a:ln/>
        </p:spPr>
        <p:txBody>
          <a:bodyPr wrap="square" lIns="0" tIns="0" rIns="0" bIns="0" rtlCol="0" anchor="ctr"/>
          <a:lstStyle/>
          <a:p>
            <a:pPr indent="0" marL="0">
              <a:buNone/>
            </a:pPr>
            <a:r>
              <a:rPr lang="en-US" sz="900" b="1" dirty="0">
                <a:solidFill>
                  <a:srgbClr val="FF6B6B"/>
                </a:solidFill>
                <a:latin typeface="Calibri" pitchFamily="34" charset="0"/>
                <a:ea typeface="Calibri" pitchFamily="34" charset="-122"/>
                <a:cs typeface="Calibri" pitchFamily="34" charset="-120"/>
              </a:rPr>
              <a:t>Self-Service APIs</a:t>
            </a:r>
            <a:endParaRPr lang="en-US" sz="900" dirty="0"/>
          </a:p>
        </p:txBody>
      </p:sp>
      <p:sp>
        <p:nvSpPr>
          <p:cNvPr id="43" name="Text 41"/>
          <p:cNvSpPr/>
          <p:nvPr/>
        </p:nvSpPr>
        <p:spPr>
          <a:xfrm>
            <a:off x="4389120" y="3611880"/>
            <a:ext cx="1316736" cy="301752"/>
          </a:xfrm>
          <a:prstGeom prst="rect">
            <a:avLst/>
          </a:prstGeom>
          <a:noFill/>
          <a:ln/>
        </p:spPr>
        <p:txBody>
          <a:bodyPr wrap="square" lIns="0" tIns="0" rIns="0" bIns="0" rtlCol="0" anchor="ctr"/>
          <a:lstStyle/>
          <a:p>
            <a:pPr algn="r" indent="0" marL="0">
              <a:buNone/>
            </a:pPr>
            <a:r>
              <a:rPr lang="en-US" sz="800" b="1" dirty="0">
                <a:solidFill>
                  <a:srgbClr val="FF6B6B"/>
                </a:solidFill>
                <a:latin typeface="Calibri" pitchFamily="34" charset="0"/>
                <a:ea typeface="Calibri" pitchFamily="34" charset="-122"/>
                <a:cs typeface="Calibri" pitchFamily="34" charset="-120"/>
              </a:rPr>
              <a:t>DEAD — 17 Jul 2026</a:t>
            </a:r>
            <a:endParaRPr lang="en-US" sz="800" dirty="0"/>
          </a:p>
        </p:txBody>
      </p:sp>
      <p:sp>
        <p:nvSpPr>
          <p:cNvPr id="44" name="Shape 42"/>
          <p:cNvSpPr/>
          <p:nvPr/>
        </p:nvSpPr>
        <p:spPr>
          <a:xfrm>
            <a:off x="694944" y="3954780"/>
            <a:ext cx="5102352" cy="301752"/>
          </a:xfrm>
          <a:prstGeom prst="roundRect">
            <a:avLst>
              <a:gd name="adj" fmla="val 12121"/>
            </a:avLst>
          </a:prstGeom>
          <a:solidFill>
            <a:srgbClr val="0D2246"/>
          </a:solidFill>
          <a:ln w="12700">
            <a:solidFill>
              <a:srgbClr val="333333"/>
            </a:solidFill>
            <a:prstDash val="solid"/>
          </a:ln>
        </p:spPr>
        <p:txBody>
          <a:bodyPr/>
          <a:p/>
        </p:txBody>
      </p:sp>
      <p:sp>
        <p:nvSpPr>
          <p:cNvPr id="45" name="Shape 43"/>
          <p:cNvSpPr/>
          <p:nvPr/>
        </p:nvSpPr>
        <p:spPr>
          <a:xfrm>
            <a:off x="804672" y="4073652"/>
            <a:ext cx="100584" cy="100584"/>
          </a:xfrm>
          <a:prstGeom prst="ellipse">
            <a:avLst/>
          </a:prstGeom>
          <a:solidFill>
            <a:srgbClr val="2ECC9A"/>
          </a:solidFill>
          <a:ln w="12700">
            <a:solidFill>
              <a:srgbClr val="333333"/>
            </a:solidFill>
            <a:prstDash val="solid"/>
          </a:ln>
        </p:spPr>
        <p:txBody>
          <a:bodyPr/>
          <a:p/>
        </p:txBody>
      </p:sp>
      <p:sp>
        <p:nvSpPr>
          <p:cNvPr id="46" name="Text 44"/>
          <p:cNvSpPr/>
          <p:nvPr/>
        </p:nvSpPr>
        <p:spPr>
          <a:xfrm>
            <a:off x="987552" y="3954780"/>
            <a:ext cx="1298448" cy="301752"/>
          </a:xfrm>
          <a:prstGeom prst="rect">
            <a:avLst/>
          </a:prstGeom>
          <a:noFill/>
          <a:ln/>
        </p:spPr>
        <p:txBody>
          <a:bodyPr wrap="square" lIns="0" tIns="0" rIns="0" bIns="0" rtlCol="0" anchor="ctr"/>
          <a:lstStyle/>
          <a:p>
            <a:pPr indent="0" marL="0">
              <a:buNone/>
            </a:pPr>
            <a:r>
              <a:rPr lang="en-US" sz="900" dirty="0">
                <a:solidFill>
                  <a:srgbClr val="A9BEDC"/>
                </a:solidFill>
                <a:latin typeface="Calibri" pitchFamily="34" charset="0"/>
                <a:ea typeface="Calibri" pitchFamily="34" charset="-122"/>
                <a:cs typeface="Calibri" pitchFamily="34" charset="-120"/>
              </a:rPr>
              <a:t>Agentic GDS</a:t>
            </a:r>
            <a:endParaRPr lang="en-US" sz="900" dirty="0"/>
          </a:p>
        </p:txBody>
      </p:sp>
      <p:sp>
        <p:nvSpPr>
          <p:cNvPr id="47" name="Text 45"/>
          <p:cNvSpPr/>
          <p:nvPr/>
        </p:nvSpPr>
        <p:spPr>
          <a:xfrm>
            <a:off x="2286000" y="3954780"/>
            <a:ext cx="2103120" cy="30175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Sabre Dev Studio test key</a:t>
            </a:r>
            <a:endParaRPr lang="en-US" sz="900" dirty="0"/>
          </a:p>
        </p:txBody>
      </p:sp>
      <p:sp>
        <p:nvSpPr>
          <p:cNvPr id="48" name="Text 46"/>
          <p:cNvSpPr/>
          <p:nvPr/>
        </p:nvSpPr>
        <p:spPr>
          <a:xfrm>
            <a:off x="4389120" y="3954780"/>
            <a:ext cx="1316736" cy="301752"/>
          </a:xfrm>
          <a:prstGeom prst="rect">
            <a:avLst/>
          </a:prstGeom>
          <a:noFill/>
          <a:ln/>
        </p:spPr>
        <p:txBody>
          <a:bodyPr wrap="square" lIns="0" tIns="0" rIns="0" bIns="0" rtlCol="0" anchor="ctr"/>
          <a:lstStyle/>
          <a:p>
            <a:pPr algn="r" indent="0" marL="0">
              <a:buNone/>
            </a:pPr>
            <a:r>
              <a:rPr lang="en-US" sz="800" b="1" dirty="0">
                <a:solidFill>
                  <a:srgbClr val="2ECC9A"/>
                </a:solidFill>
                <a:latin typeface="Calibri" pitchFamily="34" charset="0"/>
                <a:ea typeface="Calibri" pitchFamily="34" charset="-122"/>
                <a:cs typeface="Calibri" pitchFamily="34" charset="-120"/>
              </a:rPr>
              <a:t>free, self-serve</a:t>
            </a:r>
            <a:endParaRPr lang="en-US" sz="800" dirty="0"/>
          </a:p>
        </p:txBody>
      </p:sp>
      <p:sp>
        <p:nvSpPr>
          <p:cNvPr id="49" name="Shape 47"/>
          <p:cNvSpPr/>
          <p:nvPr/>
        </p:nvSpPr>
        <p:spPr>
          <a:xfrm>
            <a:off x="694944" y="4297680"/>
            <a:ext cx="5102352" cy="301752"/>
          </a:xfrm>
          <a:prstGeom prst="roundRect">
            <a:avLst>
              <a:gd name="adj" fmla="val 12121"/>
            </a:avLst>
          </a:prstGeom>
          <a:solidFill>
            <a:srgbClr val="0D2246"/>
          </a:solidFill>
          <a:ln w="12700">
            <a:solidFill>
              <a:srgbClr val="333333"/>
            </a:solidFill>
            <a:prstDash val="solid"/>
          </a:ln>
        </p:spPr>
        <p:txBody>
          <a:bodyPr/>
          <a:p/>
        </p:txBody>
      </p:sp>
      <p:sp>
        <p:nvSpPr>
          <p:cNvPr id="50" name="Shape 48"/>
          <p:cNvSpPr/>
          <p:nvPr/>
        </p:nvSpPr>
        <p:spPr>
          <a:xfrm>
            <a:off x="804672" y="4416552"/>
            <a:ext cx="100584" cy="100584"/>
          </a:xfrm>
          <a:prstGeom prst="ellipse">
            <a:avLst/>
          </a:prstGeom>
          <a:solidFill>
            <a:srgbClr val="FFB020"/>
          </a:solidFill>
          <a:ln w="12700">
            <a:solidFill>
              <a:srgbClr val="333333"/>
            </a:solidFill>
            <a:prstDash val="solid"/>
          </a:ln>
        </p:spPr>
        <p:txBody>
          <a:bodyPr/>
          <a:p/>
        </p:txBody>
      </p:sp>
      <p:sp>
        <p:nvSpPr>
          <p:cNvPr id="51" name="Text 49"/>
          <p:cNvSpPr/>
          <p:nvPr/>
        </p:nvSpPr>
        <p:spPr>
          <a:xfrm>
            <a:off x="987552" y="4297680"/>
            <a:ext cx="1298448" cy="301752"/>
          </a:xfrm>
          <a:prstGeom prst="rect">
            <a:avLst/>
          </a:prstGeom>
          <a:noFill/>
          <a:ln/>
        </p:spPr>
        <p:txBody>
          <a:bodyPr wrap="square" lIns="0" tIns="0" rIns="0" bIns="0" rtlCol="0" anchor="ctr"/>
          <a:lstStyle/>
          <a:p>
            <a:pPr indent="0" marL="0">
              <a:buNone/>
            </a:pPr>
            <a:r>
              <a:rPr lang="en-US" sz="900" dirty="0">
                <a:solidFill>
                  <a:srgbClr val="A9BEDC"/>
                </a:solidFill>
                <a:latin typeface="Calibri" pitchFamily="34" charset="0"/>
                <a:ea typeface="Calibri" pitchFamily="34" charset="-122"/>
                <a:cs typeface="Calibri" pitchFamily="34" charset="-120"/>
              </a:rPr>
              <a:t>Predictive</a:t>
            </a:r>
            <a:endParaRPr lang="en-US" sz="900" dirty="0"/>
          </a:p>
        </p:txBody>
      </p:sp>
      <p:sp>
        <p:nvSpPr>
          <p:cNvPr id="52" name="Text 50"/>
          <p:cNvSpPr/>
          <p:nvPr/>
        </p:nvSpPr>
        <p:spPr>
          <a:xfrm>
            <a:off x="2286000" y="4297680"/>
            <a:ext cx="2103120" cy="30175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Lumo APIs</a:t>
            </a:r>
            <a:endParaRPr lang="en-US" sz="900" dirty="0"/>
          </a:p>
        </p:txBody>
      </p:sp>
      <p:sp>
        <p:nvSpPr>
          <p:cNvPr id="53" name="Text 51"/>
          <p:cNvSpPr/>
          <p:nvPr/>
        </p:nvSpPr>
        <p:spPr>
          <a:xfrm>
            <a:off x="4389120" y="4297680"/>
            <a:ext cx="1316736" cy="301752"/>
          </a:xfrm>
          <a:prstGeom prst="rect">
            <a:avLst/>
          </a:prstGeom>
          <a:noFill/>
          <a:ln/>
        </p:spPr>
        <p:txBody>
          <a:bodyPr wrap="square" lIns="0" tIns="0" rIns="0" bIns="0" rtlCol="0" anchor="ctr"/>
          <a:lstStyle/>
          <a:p>
            <a:pPr algn="r" indent="0" marL="0">
              <a:buNone/>
            </a:pPr>
            <a:r>
              <a:rPr lang="en-US" sz="800" b="1" dirty="0">
                <a:solidFill>
                  <a:srgbClr val="FFB020"/>
                </a:solidFill>
                <a:latin typeface="Calibri" pitchFamily="34" charset="0"/>
                <a:ea typeface="Calibri" pitchFamily="34" charset="-122"/>
                <a:cs typeface="Calibri" pitchFamily="34" charset="-120"/>
              </a:rPr>
              <a:t>commercial · mocked</a:t>
            </a:r>
            <a:endParaRPr lang="en-US" sz="800" dirty="0"/>
          </a:p>
        </p:txBody>
      </p:sp>
      <p:sp>
        <p:nvSpPr>
          <p:cNvPr id="54" name="Shape 52"/>
          <p:cNvSpPr/>
          <p:nvPr/>
        </p:nvSpPr>
        <p:spPr>
          <a:xfrm>
            <a:off x="694944" y="4640580"/>
            <a:ext cx="5102352" cy="301752"/>
          </a:xfrm>
          <a:prstGeom prst="roundRect">
            <a:avLst>
              <a:gd name="adj" fmla="val 12121"/>
            </a:avLst>
          </a:prstGeom>
          <a:solidFill>
            <a:srgbClr val="0D2246"/>
          </a:solidFill>
          <a:ln w="12700">
            <a:solidFill>
              <a:srgbClr val="333333"/>
            </a:solidFill>
            <a:prstDash val="solid"/>
          </a:ln>
        </p:spPr>
        <p:txBody>
          <a:bodyPr/>
          <a:p/>
        </p:txBody>
      </p:sp>
      <p:sp>
        <p:nvSpPr>
          <p:cNvPr id="55" name="Shape 53"/>
          <p:cNvSpPr/>
          <p:nvPr/>
        </p:nvSpPr>
        <p:spPr>
          <a:xfrm>
            <a:off x="804672" y="4759452"/>
            <a:ext cx="100584" cy="100584"/>
          </a:xfrm>
          <a:prstGeom prst="ellipse">
            <a:avLst/>
          </a:prstGeom>
          <a:solidFill>
            <a:srgbClr val="FFB020"/>
          </a:solidFill>
          <a:ln w="12700">
            <a:solidFill>
              <a:srgbClr val="333333"/>
            </a:solidFill>
            <a:prstDash val="solid"/>
          </a:ln>
        </p:spPr>
        <p:txBody>
          <a:bodyPr/>
          <a:p/>
        </p:txBody>
      </p:sp>
      <p:sp>
        <p:nvSpPr>
          <p:cNvPr id="56" name="Text 54"/>
          <p:cNvSpPr/>
          <p:nvPr/>
        </p:nvSpPr>
        <p:spPr>
          <a:xfrm>
            <a:off x="987552" y="4640580"/>
            <a:ext cx="1298448" cy="301752"/>
          </a:xfrm>
          <a:prstGeom prst="rect">
            <a:avLst/>
          </a:prstGeom>
          <a:noFill/>
          <a:ln/>
        </p:spPr>
        <p:txBody>
          <a:bodyPr wrap="square" lIns="0" tIns="0" rIns="0" bIns="0" rtlCol="0" anchor="ctr"/>
          <a:lstStyle/>
          <a:p>
            <a:pPr indent="0" marL="0">
              <a:buNone/>
            </a:pPr>
            <a:r>
              <a:rPr lang="en-US" sz="900" dirty="0">
                <a:solidFill>
                  <a:srgbClr val="A9BEDC"/>
                </a:solidFill>
                <a:latin typeface="Calibri" pitchFamily="34" charset="0"/>
                <a:ea typeface="Calibri" pitchFamily="34" charset="-122"/>
                <a:cs typeface="Calibri" pitchFamily="34" charset="-120"/>
              </a:rPr>
              <a:t>Payments</a:t>
            </a:r>
            <a:endParaRPr lang="en-US" sz="900" dirty="0"/>
          </a:p>
        </p:txBody>
      </p:sp>
      <p:sp>
        <p:nvSpPr>
          <p:cNvPr id="57" name="Text 55"/>
          <p:cNvSpPr/>
          <p:nvPr/>
        </p:nvSpPr>
        <p:spPr>
          <a:xfrm>
            <a:off x="2286000" y="4640580"/>
            <a:ext cx="2103120" cy="30175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Amex ACE + vPayment</a:t>
            </a:r>
            <a:endParaRPr lang="en-US" sz="900" dirty="0"/>
          </a:p>
        </p:txBody>
      </p:sp>
      <p:sp>
        <p:nvSpPr>
          <p:cNvPr id="58" name="Text 56"/>
          <p:cNvSpPr/>
          <p:nvPr/>
        </p:nvSpPr>
        <p:spPr>
          <a:xfrm>
            <a:off x="4389120" y="4640580"/>
            <a:ext cx="1316736" cy="301752"/>
          </a:xfrm>
          <a:prstGeom prst="rect">
            <a:avLst/>
          </a:prstGeom>
          <a:noFill/>
          <a:ln/>
        </p:spPr>
        <p:txBody>
          <a:bodyPr wrap="square" lIns="0" tIns="0" rIns="0" bIns="0" rtlCol="0" anchor="ctr"/>
          <a:lstStyle/>
          <a:p>
            <a:pPr algn="r" indent="0" marL="0">
              <a:buNone/>
            </a:pPr>
            <a:r>
              <a:rPr lang="en-US" sz="800" b="1" dirty="0">
                <a:solidFill>
                  <a:srgbClr val="FFB020"/>
                </a:solidFill>
                <a:latin typeface="Calibri" pitchFamily="34" charset="0"/>
                <a:ea typeface="Calibri" pitchFamily="34" charset="-122"/>
                <a:cs typeface="Calibri" pitchFamily="34" charset="-120"/>
              </a:rPr>
              <a:t>select devs · mocked</a:t>
            </a:r>
            <a:endParaRPr lang="en-US" sz="800" dirty="0"/>
          </a:p>
        </p:txBody>
      </p:sp>
      <p:sp>
        <p:nvSpPr>
          <p:cNvPr id="59" name="Shape 57"/>
          <p:cNvSpPr/>
          <p:nvPr/>
        </p:nvSpPr>
        <p:spPr>
          <a:xfrm>
            <a:off x="694944" y="4983480"/>
            <a:ext cx="5102352" cy="301752"/>
          </a:xfrm>
          <a:prstGeom prst="roundRect">
            <a:avLst>
              <a:gd name="adj" fmla="val 12121"/>
            </a:avLst>
          </a:prstGeom>
          <a:solidFill>
            <a:srgbClr val="0D2246"/>
          </a:solidFill>
          <a:ln w="12700">
            <a:solidFill>
              <a:srgbClr val="333333"/>
            </a:solidFill>
            <a:prstDash val="solid"/>
          </a:ln>
        </p:spPr>
        <p:txBody>
          <a:bodyPr/>
          <a:p/>
        </p:txBody>
      </p:sp>
      <p:sp>
        <p:nvSpPr>
          <p:cNvPr id="60" name="Shape 58"/>
          <p:cNvSpPr/>
          <p:nvPr/>
        </p:nvSpPr>
        <p:spPr>
          <a:xfrm>
            <a:off x="804672" y="5102352"/>
            <a:ext cx="100584" cy="100584"/>
          </a:xfrm>
          <a:prstGeom prst="ellipse">
            <a:avLst/>
          </a:prstGeom>
          <a:solidFill>
            <a:srgbClr val="2ECC9A"/>
          </a:solidFill>
          <a:ln w="12700">
            <a:solidFill>
              <a:srgbClr val="333333"/>
            </a:solidFill>
            <a:prstDash val="solid"/>
          </a:ln>
        </p:spPr>
        <p:txBody>
          <a:bodyPr/>
          <a:p/>
        </p:txBody>
      </p:sp>
      <p:sp>
        <p:nvSpPr>
          <p:cNvPr id="61" name="Text 59"/>
          <p:cNvSpPr/>
          <p:nvPr/>
        </p:nvSpPr>
        <p:spPr>
          <a:xfrm>
            <a:off x="987552" y="4983480"/>
            <a:ext cx="1298448" cy="301752"/>
          </a:xfrm>
          <a:prstGeom prst="rect">
            <a:avLst/>
          </a:prstGeom>
          <a:noFill/>
          <a:ln/>
        </p:spPr>
        <p:txBody>
          <a:bodyPr wrap="square" lIns="0" tIns="0" rIns="0" bIns="0" rtlCol="0" anchor="ctr"/>
          <a:lstStyle/>
          <a:p>
            <a:pPr indent="0" marL="0">
              <a:buNone/>
            </a:pPr>
            <a:r>
              <a:rPr lang="en-US" sz="900" dirty="0">
                <a:solidFill>
                  <a:srgbClr val="A9BEDC"/>
                </a:solidFill>
                <a:latin typeface="Calibri" pitchFamily="34" charset="0"/>
                <a:ea typeface="Calibri" pitchFamily="34" charset="-122"/>
                <a:cs typeface="Calibri" pitchFamily="34" charset="-120"/>
              </a:rPr>
              <a:t>Messaging</a:t>
            </a:r>
            <a:endParaRPr lang="en-US" sz="900" dirty="0"/>
          </a:p>
        </p:txBody>
      </p:sp>
      <p:sp>
        <p:nvSpPr>
          <p:cNvPr id="62" name="Text 60"/>
          <p:cNvSpPr/>
          <p:nvPr/>
        </p:nvSpPr>
        <p:spPr>
          <a:xfrm>
            <a:off x="2286000" y="4983480"/>
            <a:ext cx="2103120" cy="30175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Firebase Cloud Messaging v1</a:t>
            </a:r>
            <a:endParaRPr lang="en-US" sz="900" dirty="0"/>
          </a:p>
        </p:txBody>
      </p:sp>
      <p:sp>
        <p:nvSpPr>
          <p:cNvPr id="63" name="Text 61"/>
          <p:cNvSpPr/>
          <p:nvPr/>
        </p:nvSpPr>
        <p:spPr>
          <a:xfrm>
            <a:off x="4389120" y="4983480"/>
            <a:ext cx="1316736" cy="301752"/>
          </a:xfrm>
          <a:prstGeom prst="rect">
            <a:avLst/>
          </a:prstGeom>
          <a:noFill/>
          <a:ln/>
        </p:spPr>
        <p:txBody>
          <a:bodyPr wrap="square" lIns="0" tIns="0" rIns="0" bIns="0" rtlCol="0" anchor="ctr"/>
          <a:lstStyle/>
          <a:p>
            <a:pPr algn="r" indent="0" marL="0">
              <a:buNone/>
            </a:pPr>
            <a:r>
              <a:rPr lang="en-US" sz="800" b="1" dirty="0">
                <a:solidFill>
                  <a:srgbClr val="2ECC9A"/>
                </a:solidFill>
                <a:latin typeface="Calibri" pitchFamily="34" charset="0"/>
                <a:ea typeface="Calibri" pitchFamily="34" charset="-122"/>
                <a:cs typeface="Calibri" pitchFamily="34" charset="-120"/>
              </a:rPr>
              <a:t>open</a:t>
            </a:r>
            <a:endParaRPr lang="en-US" sz="800" dirty="0"/>
          </a:p>
        </p:txBody>
      </p:sp>
      <p:sp>
        <p:nvSpPr>
          <p:cNvPr id="64" name="Text 62"/>
          <p:cNvSpPr/>
          <p:nvPr/>
        </p:nvSpPr>
        <p:spPr>
          <a:xfrm>
            <a:off x="694944" y="5413248"/>
            <a:ext cx="5102352" cy="365760"/>
          </a:xfrm>
          <a:prstGeom prst="rect">
            <a:avLst/>
          </a:prstGeom>
          <a:noFill/>
          <a:ln/>
        </p:spPr>
        <p:txBody>
          <a:bodyPr wrap="square" lIns="0" tIns="0" rIns="0" bIns="0" rtlCol="0" anchor="ctr"/>
          <a:lstStyle/>
          <a:p>
            <a:pPr indent="0" marL="0">
              <a:lnSpc>
                <a:spcPts val="1020"/>
              </a:lnSpc>
              <a:buNone/>
            </a:pPr>
            <a:r>
              <a:rPr lang="en-US" sz="850" i="1" dirty="0">
                <a:solidFill>
                  <a:srgbClr val="FF6B6B"/>
                </a:solidFill>
                <a:latin typeface="Calibri" pitchFamily="34" charset="0"/>
                <a:ea typeface="Calibri" pitchFamily="34" charset="-122"/>
                <a:cs typeface="Calibri" pitchFamily="34" charset="-120"/>
              </a:rPr>
              <a:t>Amadeus is listed on the challenge page — its free portal was switched off on 17 Jul 2026. Duffel and LiteAPI sandboxes give a real book AND cancel round trip, free.</a:t>
            </a:r>
            <a:endParaRPr lang="en-US" sz="850" dirty="0"/>
          </a:p>
        </p:txBody>
      </p:sp>
      <p:sp>
        <p:nvSpPr>
          <p:cNvPr id="65" name="Shape 63"/>
          <p:cNvSpPr/>
          <p:nvPr/>
        </p:nvSpPr>
        <p:spPr>
          <a:xfrm>
            <a:off x="6291072" y="1152144"/>
            <a:ext cx="5440680" cy="2395728"/>
          </a:xfrm>
          <a:prstGeom prst="roundRect">
            <a:avLst>
              <a:gd name="adj" fmla="val 2290"/>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pic>
        <p:nvPicPr>
          <p:cNvPr id="66" name="Image 0" descr="preencoded.png">    </p:cNvPr>
          <p:cNvPicPr>
            <a:picLocks noChangeAspect="1"/>
          </p:cNvPicPr>
          <p:nvPr/>
        </p:nvPicPr>
        <p:blipFill>
          <a:blip r:embed="rId1"/>
          <a:stretch>
            <a:fillRect/>
          </a:stretch>
        </p:blipFill>
        <p:spPr>
          <a:xfrm>
            <a:off x="6492240" y="1261872"/>
            <a:ext cx="237744" cy="237744"/>
          </a:xfrm>
          <a:prstGeom prst="rect">
            <a:avLst/>
          </a:prstGeom>
        </p:spPr>
      </p:pic>
      <p:sp>
        <p:nvSpPr>
          <p:cNvPr id="67" name="Text 64"/>
          <p:cNvSpPr/>
          <p:nvPr/>
        </p:nvSpPr>
        <p:spPr>
          <a:xfrm>
            <a:off x="6803136" y="1261872"/>
            <a:ext cx="1572768" cy="237744"/>
          </a:xfrm>
          <a:prstGeom prst="rect">
            <a:avLst/>
          </a:prstGeom>
          <a:noFill/>
          <a:ln/>
        </p:spPr>
        <p:txBody>
          <a:bodyPr wrap="square" lIns="0" tIns="0" rIns="0" bIns="0" rtlCol="0" anchor="ctr"/>
          <a:lstStyle/>
          <a:p>
            <a:pPr indent="0" marL="0">
              <a:buNone/>
            </a:pPr>
            <a:r>
              <a:rPr lang="en-US" sz="850" b="1" spc="130" kern="0" dirty="0">
                <a:solidFill>
                  <a:srgbClr val="3D9CFF"/>
                </a:solidFill>
                <a:latin typeface="Calibri" pitchFamily="34" charset="0"/>
                <a:ea typeface="Calibri" pitchFamily="34" charset="-122"/>
                <a:cs typeface="Calibri" pitchFamily="34" charset="-120"/>
              </a:rPr>
              <a:t>WHERE THE TIME GOES — AND WHEN</a:t>
            </a:r>
            <a:endParaRPr lang="en-US" sz="850" dirty="0"/>
          </a:p>
        </p:txBody>
      </p:sp>
      <p:sp>
        <p:nvSpPr>
          <p:cNvPr id="68" name="Text 65"/>
          <p:cNvSpPr/>
          <p:nvPr/>
        </p:nvSpPr>
        <p:spPr>
          <a:xfrm>
            <a:off x="8412480" y="1261872"/>
            <a:ext cx="3127248" cy="237744"/>
          </a:xfrm>
          <a:prstGeom prst="rect">
            <a:avLst/>
          </a:prstGeom>
          <a:noFill/>
          <a:ln/>
        </p:spPr>
        <p:txBody>
          <a:bodyPr wrap="square" lIns="0" tIns="0" rIns="0" bIns="0" rtlCol="0" anchor="ctr"/>
          <a:lstStyle/>
          <a:p>
            <a:pPr algn="r" indent="0" marL="0">
              <a:buNone/>
            </a:pPr>
            <a:r>
              <a:rPr lang="en-US" sz="850" b="1" dirty="0">
                <a:solidFill>
                  <a:srgbClr val="2ECC9A"/>
                </a:solidFill>
                <a:latin typeface="Calibri" pitchFamily="34" charset="0"/>
                <a:ea typeface="Calibri" pitchFamily="34" charset="-122"/>
                <a:cs typeface="Calibri" pitchFamily="34" charset="-120"/>
              </a:rPr>
              <a:t>53 s cold  ·  42 s of it moved BEFORE the event  ·  ~11 s live</a:t>
            </a:r>
            <a:endParaRPr lang="en-US" sz="850" dirty="0"/>
          </a:p>
        </p:txBody>
      </p:sp>
      <p:sp>
        <p:nvSpPr>
          <p:cNvPr id="69" name="Text 66"/>
          <p:cNvSpPr/>
          <p:nvPr/>
        </p:nvSpPr>
        <p:spPr>
          <a:xfrm>
            <a:off x="6492240" y="1609344"/>
            <a:ext cx="1783080" cy="256032"/>
          </a:xfrm>
          <a:prstGeom prst="rect">
            <a:avLst/>
          </a:prstGeom>
          <a:noFill/>
          <a:ln/>
        </p:spPr>
        <p:txBody>
          <a:bodyPr wrap="square" lIns="0" tIns="0" rIns="0" bIns="0" rtlCol="0" anchor="ctr"/>
          <a:lstStyle/>
          <a:p>
            <a:pPr indent="0" marL="0">
              <a:buNone/>
            </a:pPr>
            <a:r>
              <a:rPr lang="en-US" sz="850" dirty="0">
                <a:solidFill>
                  <a:srgbClr val="E8F0FB"/>
                </a:solidFill>
                <a:latin typeface="Calibri" pitchFamily="34" charset="0"/>
                <a:ea typeface="Calibri" pitchFamily="34" charset="-122"/>
                <a:cs typeface="Calibri" pitchFamily="34" charset="-120"/>
              </a:rPr>
              <a:t>signal ingest</a:t>
            </a:r>
            <a:endParaRPr lang="en-US" sz="850" dirty="0"/>
          </a:p>
        </p:txBody>
      </p:sp>
      <p:sp>
        <p:nvSpPr>
          <p:cNvPr id="70" name="Shape 67"/>
          <p:cNvSpPr/>
          <p:nvPr/>
        </p:nvSpPr>
        <p:spPr>
          <a:xfrm>
            <a:off x="8339328" y="1691640"/>
            <a:ext cx="246081" cy="109728"/>
          </a:xfrm>
          <a:prstGeom prst="roundRect">
            <a:avLst>
              <a:gd name="adj" fmla="val 16667"/>
            </a:avLst>
          </a:prstGeom>
          <a:solidFill>
            <a:srgbClr val="3D9CFF"/>
          </a:solidFill>
          <a:ln w="12700">
            <a:solidFill>
              <a:srgbClr val="333333"/>
            </a:solidFill>
            <a:prstDash val="solid"/>
          </a:ln>
        </p:spPr>
        <p:txBody>
          <a:bodyPr/>
          <a:p/>
        </p:txBody>
      </p:sp>
      <p:sp>
        <p:nvSpPr>
          <p:cNvPr id="71" name="Text 68"/>
          <p:cNvSpPr/>
          <p:nvPr/>
        </p:nvSpPr>
        <p:spPr>
          <a:xfrm>
            <a:off x="11155680" y="1609344"/>
            <a:ext cx="411480" cy="256032"/>
          </a:xfrm>
          <a:prstGeom prst="rect">
            <a:avLst/>
          </a:prstGeom>
          <a:noFill/>
          <a:ln/>
        </p:spPr>
        <p:txBody>
          <a:bodyPr wrap="square" lIns="0" tIns="0" rIns="0" bIns="0" rtlCol="0" anchor="ctr"/>
          <a:lstStyle/>
          <a:p>
            <a:pPr algn="r" indent="0" marL="0">
              <a:buNone/>
            </a:pPr>
            <a:r>
              <a:rPr lang="en-US" sz="850" dirty="0">
                <a:solidFill>
                  <a:srgbClr val="A9BEDC"/>
                </a:solidFill>
                <a:latin typeface="Courier New" pitchFamily="34" charset="0"/>
                <a:ea typeface="Courier New" pitchFamily="34" charset="-122"/>
                <a:cs typeface="Courier New" pitchFamily="34" charset="-120"/>
              </a:rPr>
              <a:t>3s</a:t>
            </a:r>
            <a:endParaRPr lang="en-US" sz="850" dirty="0"/>
          </a:p>
        </p:txBody>
      </p:sp>
      <p:sp>
        <p:nvSpPr>
          <p:cNvPr id="72" name="Text 69"/>
          <p:cNvSpPr/>
          <p:nvPr/>
        </p:nvSpPr>
        <p:spPr>
          <a:xfrm>
            <a:off x="6492240" y="1869948"/>
            <a:ext cx="1783080" cy="256032"/>
          </a:xfrm>
          <a:prstGeom prst="rect">
            <a:avLst/>
          </a:prstGeom>
          <a:noFill/>
          <a:ln/>
        </p:spPr>
        <p:txBody>
          <a:bodyPr wrap="square" lIns="0" tIns="0" rIns="0" bIns="0" rtlCol="0" anchor="ctr"/>
          <a:lstStyle/>
          <a:p>
            <a:pPr indent="0" marL="0">
              <a:buNone/>
            </a:pPr>
            <a:r>
              <a:rPr lang="en-US" sz="850" dirty="0">
                <a:solidFill>
                  <a:srgbClr val="E8F0FB"/>
                </a:solidFill>
                <a:latin typeface="Calibri" pitchFamily="34" charset="0"/>
                <a:ea typeface="Calibri" pitchFamily="34" charset="-122"/>
                <a:cs typeface="Calibri" pitchFamily="34" charset="-120"/>
              </a:rPr>
              <a:t>context assembly</a:t>
            </a:r>
            <a:endParaRPr lang="en-US" sz="850" dirty="0"/>
          </a:p>
        </p:txBody>
      </p:sp>
      <p:sp>
        <p:nvSpPr>
          <p:cNvPr id="73" name="Shape 70"/>
          <p:cNvSpPr/>
          <p:nvPr/>
        </p:nvSpPr>
        <p:spPr>
          <a:xfrm>
            <a:off x="8339328" y="1952244"/>
            <a:ext cx="410135" cy="109728"/>
          </a:xfrm>
          <a:prstGeom prst="roundRect">
            <a:avLst>
              <a:gd name="adj" fmla="val 16667"/>
            </a:avLst>
          </a:prstGeom>
          <a:solidFill>
            <a:srgbClr val="3D9CFF"/>
          </a:solidFill>
          <a:ln w="12700">
            <a:solidFill>
              <a:srgbClr val="333333"/>
            </a:solidFill>
            <a:prstDash val="solid"/>
          </a:ln>
        </p:spPr>
        <p:txBody>
          <a:bodyPr/>
          <a:p/>
        </p:txBody>
      </p:sp>
      <p:sp>
        <p:nvSpPr>
          <p:cNvPr id="74" name="Text 71"/>
          <p:cNvSpPr/>
          <p:nvPr/>
        </p:nvSpPr>
        <p:spPr>
          <a:xfrm>
            <a:off x="11155680" y="1869948"/>
            <a:ext cx="411480" cy="256032"/>
          </a:xfrm>
          <a:prstGeom prst="rect">
            <a:avLst/>
          </a:prstGeom>
          <a:noFill/>
          <a:ln/>
        </p:spPr>
        <p:txBody>
          <a:bodyPr wrap="square" lIns="0" tIns="0" rIns="0" bIns="0" rtlCol="0" anchor="ctr"/>
          <a:lstStyle/>
          <a:p>
            <a:pPr algn="r" indent="0" marL="0">
              <a:buNone/>
            </a:pPr>
            <a:r>
              <a:rPr lang="en-US" sz="850" dirty="0">
                <a:solidFill>
                  <a:srgbClr val="A9BEDC"/>
                </a:solidFill>
                <a:latin typeface="Courier New" pitchFamily="34" charset="0"/>
                <a:ea typeface="Courier New" pitchFamily="34" charset="-122"/>
                <a:cs typeface="Courier New" pitchFamily="34" charset="-120"/>
              </a:rPr>
              <a:t>5s</a:t>
            </a:r>
            <a:endParaRPr lang="en-US" sz="850" dirty="0"/>
          </a:p>
        </p:txBody>
      </p:sp>
      <p:sp>
        <p:nvSpPr>
          <p:cNvPr id="75" name="Text 72"/>
          <p:cNvSpPr/>
          <p:nvPr/>
        </p:nvSpPr>
        <p:spPr>
          <a:xfrm>
            <a:off x="6492240" y="2130552"/>
            <a:ext cx="1783080" cy="256032"/>
          </a:xfrm>
          <a:prstGeom prst="rect">
            <a:avLst/>
          </a:prstGeom>
          <a:noFill/>
          <a:ln/>
        </p:spPr>
        <p:txBody>
          <a:bodyPr wrap="square" lIns="0" tIns="0" rIns="0" bIns="0" rtlCol="0" anchor="ctr"/>
          <a:lstStyle/>
          <a:p>
            <a:pPr indent="0" marL="0">
              <a:buNone/>
            </a:pPr>
            <a:r>
              <a:rPr lang="en-US" sz="850" dirty="0">
                <a:solidFill>
                  <a:srgbClr val="E8F0FB"/>
                </a:solidFill>
                <a:latin typeface="Calibri" pitchFamily="34" charset="0"/>
                <a:ea typeface="Calibri" pitchFamily="34" charset="-122"/>
                <a:cs typeface="Calibri" pitchFamily="34" charset="-120"/>
              </a:rPr>
              <a:t>supplier fan-out</a:t>
            </a:r>
            <a:endParaRPr lang="en-US" sz="850" dirty="0"/>
          </a:p>
        </p:txBody>
      </p:sp>
      <p:sp>
        <p:nvSpPr>
          <p:cNvPr id="76" name="Shape 73"/>
          <p:cNvSpPr/>
          <p:nvPr/>
        </p:nvSpPr>
        <p:spPr>
          <a:xfrm>
            <a:off x="8339328" y="2212848"/>
            <a:ext cx="2788920" cy="109728"/>
          </a:xfrm>
          <a:prstGeom prst="roundRect">
            <a:avLst>
              <a:gd name="adj" fmla="val 16667"/>
            </a:avLst>
          </a:prstGeom>
          <a:solidFill>
            <a:srgbClr val="9B8CFF"/>
          </a:solidFill>
          <a:ln w="12700">
            <a:solidFill>
              <a:srgbClr val="333333"/>
            </a:solidFill>
            <a:prstDash val="solid"/>
          </a:ln>
        </p:spPr>
        <p:txBody>
          <a:bodyPr/>
          <a:p/>
        </p:txBody>
      </p:sp>
      <p:sp>
        <p:nvSpPr>
          <p:cNvPr id="77" name="Text 74"/>
          <p:cNvSpPr/>
          <p:nvPr/>
        </p:nvSpPr>
        <p:spPr>
          <a:xfrm>
            <a:off x="11155680" y="2130552"/>
            <a:ext cx="411480" cy="256032"/>
          </a:xfrm>
          <a:prstGeom prst="rect">
            <a:avLst/>
          </a:prstGeom>
          <a:noFill/>
          <a:ln/>
        </p:spPr>
        <p:txBody>
          <a:bodyPr wrap="square" lIns="0" tIns="0" rIns="0" bIns="0" rtlCol="0" anchor="ctr"/>
          <a:lstStyle/>
          <a:p>
            <a:pPr algn="r" indent="0" marL="0">
              <a:buNone/>
            </a:pPr>
            <a:r>
              <a:rPr lang="en-US" sz="850" dirty="0">
                <a:solidFill>
                  <a:srgbClr val="A9BEDC"/>
                </a:solidFill>
                <a:latin typeface="Courier New" pitchFamily="34" charset="0"/>
                <a:ea typeface="Courier New" pitchFamily="34" charset="-122"/>
                <a:cs typeface="Courier New" pitchFamily="34" charset="-120"/>
              </a:rPr>
              <a:t>34s</a:t>
            </a:r>
            <a:endParaRPr lang="en-US" sz="850" dirty="0"/>
          </a:p>
        </p:txBody>
      </p:sp>
      <p:sp>
        <p:nvSpPr>
          <p:cNvPr id="78" name="Text 75"/>
          <p:cNvSpPr/>
          <p:nvPr/>
        </p:nvSpPr>
        <p:spPr>
          <a:xfrm>
            <a:off x="6492240" y="2391156"/>
            <a:ext cx="1783080" cy="256032"/>
          </a:xfrm>
          <a:prstGeom prst="rect">
            <a:avLst/>
          </a:prstGeom>
          <a:noFill/>
          <a:ln/>
        </p:spPr>
        <p:txBody>
          <a:bodyPr wrap="square" lIns="0" tIns="0" rIns="0" bIns="0" rtlCol="0" anchor="ctr"/>
          <a:lstStyle/>
          <a:p>
            <a:pPr indent="0" marL="0">
              <a:buNone/>
            </a:pPr>
            <a:r>
              <a:rPr lang="en-US" sz="850" dirty="0">
                <a:solidFill>
                  <a:srgbClr val="E8F0FB"/>
                </a:solidFill>
                <a:latin typeface="Calibri" pitchFamily="34" charset="0"/>
                <a:ea typeface="Calibri" pitchFamily="34" charset="-122"/>
                <a:cs typeface="Calibri" pitchFamily="34" charset="-120"/>
              </a:rPr>
              <a:t>policy gate (in-process)</a:t>
            </a:r>
            <a:endParaRPr lang="en-US" sz="850" dirty="0"/>
          </a:p>
        </p:txBody>
      </p:sp>
      <p:sp>
        <p:nvSpPr>
          <p:cNvPr id="79" name="Shape 76"/>
          <p:cNvSpPr/>
          <p:nvPr/>
        </p:nvSpPr>
        <p:spPr>
          <a:xfrm>
            <a:off x="8339328" y="2473452"/>
            <a:ext cx="54864" cy="109728"/>
          </a:xfrm>
          <a:prstGeom prst="roundRect">
            <a:avLst>
              <a:gd name="adj" fmla="val 33333"/>
            </a:avLst>
          </a:prstGeom>
          <a:solidFill>
            <a:srgbClr val="FFB020"/>
          </a:solidFill>
          <a:ln w="12700">
            <a:solidFill>
              <a:srgbClr val="333333"/>
            </a:solidFill>
            <a:prstDash val="solid"/>
          </a:ln>
        </p:spPr>
        <p:txBody>
          <a:bodyPr/>
          <a:p/>
        </p:txBody>
      </p:sp>
      <p:sp>
        <p:nvSpPr>
          <p:cNvPr id="80" name="Text 77"/>
          <p:cNvSpPr/>
          <p:nvPr/>
        </p:nvSpPr>
        <p:spPr>
          <a:xfrm>
            <a:off x="11155680" y="2391156"/>
            <a:ext cx="411480" cy="256032"/>
          </a:xfrm>
          <a:prstGeom prst="rect">
            <a:avLst/>
          </a:prstGeom>
          <a:noFill/>
          <a:ln/>
        </p:spPr>
        <p:txBody>
          <a:bodyPr wrap="square" lIns="0" tIns="0" rIns="0" bIns="0" rtlCol="0" anchor="ctr"/>
          <a:lstStyle/>
          <a:p>
            <a:pPr algn="r" indent="0" marL="0">
              <a:buNone/>
            </a:pPr>
            <a:r>
              <a:rPr lang="en-US" sz="850" dirty="0">
                <a:solidFill>
                  <a:srgbClr val="A9BEDC"/>
                </a:solidFill>
                <a:latin typeface="Courier New" pitchFamily="34" charset="0"/>
                <a:ea typeface="Courier New" pitchFamily="34" charset="-122"/>
                <a:cs typeface="Courier New" pitchFamily="34" charset="-120"/>
              </a:rPr>
              <a:t>0.01s</a:t>
            </a:r>
            <a:endParaRPr lang="en-US" sz="850" dirty="0"/>
          </a:p>
        </p:txBody>
      </p:sp>
      <p:sp>
        <p:nvSpPr>
          <p:cNvPr id="81" name="Text 78"/>
          <p:cNvSpPr/>
          <p:nvPr/>
        </p:nvSpPr>
        <p:spPr>
          <a:xfrm>
            <a:off x="6492240" y="2651760"/>
            <a:ext cx="1783080" cy="256032"/>
          </a:xfrm>
          <a:prstGeom prst="rect">
            <a:avLst/>
          </a:prstGeom>
          <a:noFill/>
          <a:ln/>
        </p:spPr>
        <p:txBody>
          <a:bodyPr wrap="square" lIns="0" tIns="0" rIns="0" bIns="0" rtlCol="0" anchor="ctr"/>
          <a:lstStyle/>
          <a:p>
            <a:pPr indent="0" marL="0">
              <a:buNone/>
            </a:pPr>
            <a:r>
              <a:rPr lang="en-US" sz="850" dirty="0">
                <a:solidFill>
                  <a:srgbClr val="E8F0FB"/>
                </a:solidFill>
                <a:latin typeface="Calibri" pitchFamily="34" charset="0"/>
                <a:ea typeface="Calibri" pitchFamily="34" charset="-122"/>
                <a:cs typeface="Calibri" pitchFamily="34" charset="-120"/>
              </a:rPr>
              <a:t>allocate + negotiate</a:t>
            </a:r>
            <a:endParaRPr lang="en-US" sz="850" dirty="0"/>
          </a:p>
        </p:txBody>
      </p:sp>
      <p:sp>
        <p:nvSpPr>
          <p:cNvPr id="82" name="Shape 79"/>
          <p:cNvSpPr/>
          <p:nvPr/>
        </p:nvSpPr>
        <p:spPr>
          <a:xfrm>
            <a:off x="8339328" y="2734056"/>
            <a:ext cx="738244" cy="109728"/>
          </a:xfrm>
          <a:prstGeom prst="roundRect">
            <a:avLst>
              <a:gd name="adj" fmla="val 16667"/>
            </a:avLst>
          </a:prstGeom>
          <a:solidFill>
            <a:srgbClr val="2ECC9A"/>
          </a:solidFill>
          <a:ln w="12700">
            <a:solidFill>
              <a:srgbClr val="333333"/>
            </a:solidFill>
            <a:prstDash val="solid"/>
          </a:ln>
        </p:spPr>
        <p:txBody>
          <a:bodyPr/>
          <a:p/>
        </p:txBody>
      </p:sp>
      <p:sp>
        <p:nvSpPr>
          <p:cNvPr id="83" name="Text 80"/>
          <p:cNvSpPr/>
          <p:nvPr/>
        </p:nvSpPr>
        <p:spPr>
          <a:xfrm>
            <a:off x="11155680" y="2651760"/>
            <a:ext cx="411480" cy="256032"/>
          </a:xfrm>
          <a:prstGeom prst="rect">
            <a:avLst/>
          </a:prstGeom>
          <a:noFill/>
          <a:ln/>
        </p:spPr>
        <p:txBody>
          <a:bodyPr wrap="square" lIns="0" tIns="0" rIns="0" bIns="0" rtlCol="0" anchor="ctr"/>
          <a:lstStyle/>
          <a:p>
            <a:pPr algn="r" indent="0" marL="0">
              <a:buNone/>
            </a:pPr>
            <a:r>
              <a:rPr lang="en-US" sz="850" dirty="0">
                <a:solidFill>
                  <a:srgbClr val="A9BEDC"/>
                </a:solidFill>
                <a:latin typeface="Courier New" pitchFamily="34" charset="0"/>
                <a:ea typeface="Courier New" pitchFamily="34" charset="-122"/>
                <a:cs typeface="Courier New" pitchFamily="34" charset="-120"/>
              </a:rPr>
              <a:t>0.6s</a:t>
            </a:r>
            <a:endParaRPr lang="en-US" sz="850" dirty="0"/>
          </a:p>
        </p:txBody>
      </p:sp>
      <p:sp>
        <p:nvSpPr>
          <p:cNvPr id="84" name="Text 81"/>
          <p:cNvSpPr/>
          <p:nvPr/>
        </p:nvSpPr>
        <p:spPr>
          <a:xfrm>
            <a:off x="6492240" y="2912364"/>
            <a:ext cx="1783080" cy="256032"/>
          </a:xfrm>
          <a:prstGeom prst="rect">
            <a:avLst/>
          </a:prstGeom>
          <a:noFill/>
          <a:ln/>
        </p:spPr>
        <p:txBody>
          <a:bodyPr wrap="square" lIns="0" tIns="0" rIns="0" bIns="0" rtlCol="0" anchor="ctr"/>
          <a:lstStyle/>
          <a:p>
            <a:pPr indent="0" marL="0">
              <a:buNone/>
            </a:pPr>
            <a:r>
              <a:rPr lang="en-US" sz="850" dirty="0">
                <a:solidFill>
                  <a:srgbClr val="E8F0FB"/>
                </a:solidFill>
                <a:latin typeface="Calibri" pitchFamily="34" charset="0"/>
                <a:ea typeface="Calibri" pitchFamily="34" charset="-122"/>
                <a:cs typeface="Calibri" pitchFamily="34" charset="-120"/>
              </a:rPr>
              <a:t>book flight · hotel · cab</a:t>
            </a:r>
            <a:endParaRPr lang="en-US" sz="850" dirty="0"/>
          </a:p>
        </p:txBody>
      </p:sp>
      <p:sp>
        <p:nvSpPr>
          <p:cNvPr id="85" name="Shape 82"/>
          <p:cNvSpPr/>
          <p:nvPr/>
        </p:nvSpPr>
        <p:spPr>
          <a:xfrm>
            <a:off x="8339328" y="2994660"/>
            <a:ext cx="164054" cy="109728"/>
          </a:xfrm>
          <a:prstGeom prst="roundRect">
            <a:avLst>
              <a:gd name="adj" fmla="val 16667"/>
            </a:avLst>
          </a:prstGeom>
          <a:solidFill>
            <a:srgbClr val="3D9CFF"/>
          </a:solidFill>
          <a:ln w="12700">
            <a:solidFill>
              <a:srgbClr val="333333"/>
            </a:solidFill>
            <a:prstDash val="solid"/>
          </a:ln>
        </p:spPr>
        <p:txBody>
          <a:bodyPr/>
          <a:p/>
        </p:txBody>
      </p:sp>
      <p:sp>
        <p:nvSpPr>
          <p:cNvPr id="86" name="Text 83"/>
          <p:cNvSpPr/>
          <p:nvPr/>
        </p:nvSpPr>
        <p:spPr>
          <a:xfrm>
            <a:off x="11155680" y="2912364"/>
            <a:ext cx="411480" cy="256032"/>
          </a:xfrm>
          <a:prstGeom prst="rect">
            <a:avLst/>
          </a:prstGeom>
          <a:noFill/>
          <a:ln/>
        </p:spPr>
        <p:txBody>
          <a:bodyPr wrap="square" lIns="0" tIns="0" rIns="0" bIns="0" rtlCol="0" anchor="ctr"/>
          <a:lstStyle/>
          <a:p>
            <a:pPr algn="r" indent="0" marL="0">
              <a:buNone/>
            </a:pPr>
            <a:r>
              <a:rPr lang="en-US" sz="850" dirty="0">
                <a:solidFill>
                  <a:srgbClr val="A9BEDC"/>
                </a:solidFill>
                <a:latin typeface="Courier New" pitchFamily="34" charset="0"/>
                <a:ea typeface="Courier New" pitchFamily="34" charset="-122"/>
                <a:cs typeface="Courier New" pitchFamily="34" charset="-120"/>
              </a:rPr>
              <a:t>9.1s</a:t>
            </a:r>
            <a:endParaRPr lang="en-US" sz="850" dirty="0"/>
          </a:p>
        </p:txBody>
      </p:sp>
      <p:sp>
        <p:nvSpPr>
          <p:cNvPr id="87" name="Text 84"/>
          <p:cNvSpPr/>
          <p:nvPr/>
        </p:nvSpPr>
        <p:spPr>
          <a:xfrm>
            <a:off x="6492240" y="3200400"/>
            <a:ext cx="5029200" cy="329184"/>
          </a:xfrm>
          <a:prstGeom prst="rect">
            <a:avLst/>
          </a:prstGeom>
          <a:noFill/>
          <a:ln/>
        </p:spPr>
        <p:txBody>
          <a:bodyPr wrap="square" lIns="0" tIns="0" rIns="0" bIns="0" rtlCol="0" anchor="ctr"/>
          <a:lstStyle/>
          <a:p>
            <a:pPr indent="0" marL="0">
              <a:lnSpc>
                <a:spcPts val="1050"/>
              </a:lnSpc>
              <a:buNone/>
            </a:pPr>
            <a:r>
              <a:rPr lang="en-US" sz="850" i="1" dirty="0">
                <a:solidFill>
                  <a:srgbClr val="A9BEDC"/>
                </a:solidFill>
                <a:latin typeface="Calibri" pitchFamily="34" charset="0"/>
                <a:ea typeface="Calibri" pitchFamily="34" charset="-122"/>
                <a:cs typeface="Calibri" pitchFamily="34" charset="-120"/>
              </a:rPr>
              <a:t>The 34 s fan-out runs BEFORE the cancellation, off the critical path. Of the ~11 s that remains, 95% is waiting on supplier APIs — the thinking is 0.6 s. There is no GPU on the critical path.</a:t>
            </a:r>
            <a:endParaRPr lang="en-US" sz="850" dirty="0"/>
          </a:p>
        </p:txBody>
      </p:sp>
      <p:sp>
        <p:nvSpPr>
          <p:cNvPr id="88" name="Shape 85"/>
          <p:cNvSpPr/>
          <p:nvPr/>
        </p:nvSpPr>
        <p:spPr>
          <a:xfrm>
            <a:off x="6291072" y="3694176"/>
            <a:ext cx="2606040" cy="2194560"/>
          </a:xfrm>
          <a:prstGeom prst="roundRect">
            <a:avLst>
              <a:gd name="adj" fmla="val 2500"/>
            </a:avLst>
          </a:prstGeom>
          <a:solidFill>
            <a:srgbClr val="1B3A69"/>
          </a:solidFill>
          <a:ln w="6350">
            <a:solidFill>
              <a:srgbClr val="1B3A69"/>
            </a:solidFill>
            <a:prstDash val="solid"/>
          </a:ln>
          <a:effectLst>
            <a:outerShdw sx="100000" sy="100000" kx="0" ky="0" algn="bl" rotWithShape="0" blurRad="114300" dist="25400" dir="5400000">
              <a:srgbClr val="000000">
                <a:alpha val="34000"/>
              </a:srgbClr>
            </a:outerShdw>
          </a:effectLst>
        </p:spPr>
      </p:sp>
      <p:pic>
        <p:nvPicPr>
          <p:cNvPr id="89" name="Image 1" descr="preencoded.png">    </p:cNvPr>
          <p:cNvPicPr>
            <a:picLocks noChangeAspect="1"/>
          </p:cNvPicPr>
          <p:nvPr/>
        </p:nvPicPr>
        <p:blipFill>
          <a:blip r:embed="rId2"/>
          <a:stretch>
            <a:fillRect/>
          </a:stretch>
        </p:blipFill>
        <p:spPr>
          <a:xfrm>
            <a:off x="6492240" y="3803904"/>
            <a:ext cx="237744" cy="237744"/>
          </a:xfrm>
          <a:prstGeom prst="rect">
            <a:avLst/>
          </a:prstGeom>
        </p:spPr>
      </p:pic>
      <p:sp>
        <p:nvSpPr>
          <p:cNvPr id="90" name="Text 86"/>
          <p:cNvSpPr/>
          <p:nvPr/>
        </p:nvSpPr>
        <p:spPr>
          <a:xfrm>
            <a:off x="6803136" y="3785616"/>
            <a:ext cx="2057400" cy="274320"/>
          </a:xfrm>
          <a:prstGeom prst="rect">
            <a:avLst/>
          </a:prstGeom>
          <a:noFill/>
          <a:ln/>
        </p:spPr>
        <p:txBody>
          <a:bodyPr wrap="square" lIns="0" tIns="0" rIns="0" bIns="0" rtlCol="0" anchor="ctr"/>
          <a:lstStyle/>
          <a:p>
            <a:pPr indent="0" marL="0">
              <a:lnSpc>
                <a:spcPts val="1000"/>
              </a:lnSpc>
              <a:buNone/>
            </a:pPr>
            <a:r>
              <a:rPr lang="en-US" sz="850" b="1" spc="120" kern="0" dirty="0">
                <a:solidFill>
                  <a:srgbClr val="FFB020"/>
                </a:solidFill>
                <a:latin typeface="Calibri" pitchFamily="34" charset="0"/>
                <a:ea typeface="Calibri" pitchFamily="34" charset="-122"/>
                <a:cs typeface="Calibri" pitchFamily="34" charset="-120"/>
              </a:rPr>
              <a:t>OUR BURST TEST IS A REAL EVENT</a:t>
            </a:r>
            <a:endParaRPr lang="en-US" sz="850" dirty="0"/>
          </a:p>
        </p:txBody>
      </p:sp>
      <p:sp>
        <p:nvSpPr>
          <p:cNvPr id="91" name="Text 87"/>
          <p:cNvSpPr/>
          <p:nvPr/>
        </p:nvSpPr>
        <p:spPr>
          <a:xfrm>
            <a:off x="6492240" y="4133088"/>
            <a:ext cx="2240280" cy="475488"/>
          </a:xfrm>
          <a:prstGeom prst="rect">
            <a:avLst/>
          </a:prstGeom>
          <a:noFill/>
          <a:ln/>
        </p:spPr>
        <p:txBody>
          <a:bodyPr wrap="square" lIns="0" tIns="0" rIns="0" bIns="0" rtlCol="0" anchor="ctr"/>
          <a:lstStyle/>
          <a:p>
            <a:pPr indent="0" marL="0">
              <a:buNone/>
            </a:pPr>
            <a:r>
              <a:rPr lang="en-US" sz="3100" b="1" dirty="0">
                <a:solidFill>
                  <a:srgbClr val="FFB020"/>
                </a:solidFill>
                <a:latin typeface="Cambria" pitchFamily="34" charset="0"/>
                <a:ea typeface="Cambria" pitchFamily="34" charset="-122"/>
                <a:cs typeface="Cambria" pitchFamily="34" charset="-120"/>
              </a:rPr>
              <a:t>3 lakh</a:t>
            </a:r>
            <a:endParaRPr lang="en-US" sz="3100" dirty="0"/>
          </a:p>
        </p:txBody>
      </p:sp>
      <p:sp>
        <p:nvSpPr>
          <p:cNvPr id="92" name="Text 88"/>
          <p:cNvSpPr/>
          <p:nvPr/>
        </p:nvSpPr>
        <p:spPr>
          <a:xfrm>
            <a:off x="6492240" y="4626864"/>
            <a:ext cx="2240280" cy="841248"/>
          </a:xfrm>
          <a:prstGeom prst="rect">
            <a:avLst/>
          </a:prstGeom>
          <a:noFill/>
          <a:ln/>
        </p:spPr>
        <p:txBody>
          <a:bodyPr wrap="square" lIns="0" tIns="0" rIns="0" bIns="0" rtlCol="0" anchor="ctr"/>
          <a:lstStyle/>
          <a:p>
            <a:pPr indent="0" marL="0">
              <a:lnSpc>
                <a:spcPts val="1050"/>
              </a:lnSpc>
              <a:buNone/>
            </a:pPr>
            <a:r>
              <a:rPr lang="en-US" sz="850" dirty="0">
                <a:solidFill>
                  <a:srgbClr val="E8F0FB"/>
                </a:solidFill>
                <a:latin typeface="Calibri" pitchFamily="34" charset="0"/>
                <a:ea typeface="Calibri" pitchFamily="34" charset="-122"/>
                <a:cs typeface="Calibri" pitchFamily="34" charset="-120"/>
              </a:rPr>
              <a:t>passengers stranded in 72 hours when IndiGo cancelled 2,507 flights and delayed 1,852 more, 3–5 Dec 2025. We size the system for that day, not for an average Tuesday.</a:t>
            </a:r>
            <a:endParaRPr lang="en-US" sz="850" dirty="0"/>
          </a:p>
        </p:txBody>
      </p:sp>
      <p:sp>
        <p:nvSpPr>
          <p:cNvPr id="93" name="Text 89"/>
          <p:cNvSpPr/>
          <p:nvPr/>
        </p:nvSpPr>
        <p:spPr>
          <a:xfrm>
            <a:off x="6492240" y="5522976"/>
            <a:ext cx="2240280" cy="274320"/>
          </a:xfrm>
          <a:prstGeom prst="rect">
            <a:avLst/>
          </a:prstGeom>
          <a:noFill/>
          <a:ln/>
        </p:spPr>
        <p:txBody>
          <a:bodyPr wrap="square" lIns="0" tIns="0" rIns="0" bIns="0" rtlCol="0" anchor="ctr"/>
          <a:lstStyle/>
          <a:p>
            <a:pPr indent="0" marL="0">
              <a:lnSpc>
                <a:spcPts val="1050"/>
              </a:lnSpc>
              <a:buNone/>
            </a:pPr>
            <a:r>
              <a:rPr lang="en-US" sz="850" b="1" dirty="0">
                <a:solidFill>
                  <a:srgbClr val="FFB020"/>
                </a:solidFill>
                <a:latin typeface="Calibri" pitchFamily="34" charset="0"/>
                <a:ea typeface="Calibri" pitchFamily="34" charset="-122"/>
                <a:cs typeface="Calibri" pitchFamily="34" charset="-120"/>
              </a:rPr>
              <a:t>Rate limits, not servers, are the ceiling.</a:t>
            </a:r>
            <a:endParaRPr lang="en-US" sz="850" dirty="0"/>
          </a:p>
        </p:txBody>
      </p:sp>
      <p:sp>
        <p:nvSpPr>
          <p:cNvPr id="94" name="Shape 90"/>
          <p:cNvSpPr/>
          <p:nvPr/>
        </p:nvSpPr>
        <p:spPr>
          <a:xfrm>
            <a:off x="9125712" y="3694176"/>
            <a:ext cx="2606040" cy="2194560"/>
          </a:xfrm>
          <a:prstGeom prst="roundRect">
            <a:avLst>
              <a:gd name="adj" fmla="val 2500"/>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95" name="Text 91"/>
          <p:cNvSpPr/>
          <p:nvPr/>
        </p:nvSpPr>
        <p:spPr>
          <a:xfrm>
            <a:off x="9326880" y="3803904"/>
            <a:ext cx="2240280" cy="402336"/>
          </a:xfrm>
          <a:prstGeom prst="rect">
            <a:avLst/>
          </a:prstGeom>
          <a:noFill/>
          <a:ln/>
        </p:spPr>
        <p:txBody>
          <a:bodyPr wrap="square" lIns="0" tIns="0" rIns="0" bIns="0" rtlCol="0" anchor="ctr"/>
          <a:lstStyle/>
          <a:p>
            <a:pPr indent="0" marL="0">
              <a:lnSpc>
                <a:spcPts val="1050"/>
              </a:lnSpc>
              <a:buNone/>
            </a:pPr>
            <a:r>
              <a:rPr lang="en-US" sz="850" b="1" spc="120" kern="0" dirty="0">
                <a:solidFill>
                  <a:srgbClr val="3D9CFF"/>
                </a:solidFill>
                <a:latin typeface="Calibri" pitchFamily="34" charset="0"/>
                <a:ea typeface="Calibri" pitchFamily="34" charset="-122"/>
                <a:cs typeface="Calibri" pitchFamily="34" charset="-120"/>
              </a:rPr>
              <a:t>WHAT WE CANNOT GET, AND WHAT WE DO INSTEAD</a:t>
            </a:r>
            <a:endParaRPr lang="en-US" sz="850" dirty="0"/>
          </a:p>
        </p:txBody>
      </p:sp>
      <p:sp>
        <p:nvSpPr>
          <p:cNvPr id="96" name="Text 92"/>
          <p:cNvSpPr/>
          <p:nvPr/>
        </p:nvSpPr>
        <p:spPr>
          <a:xfrm>
            <a:off x="9326880" y="4224528"/>
            <a:ext cx="2240280" cy="292608"/>
          </a:xfrm>
          <a:prstGeom prst="rect">
            <a:avLst/>
          </a:prstGeom>
          <a:noFill/>
          <a:ln/>
        </p:spPr>
        <p:txBody>
          <a:bodyPr wrap="square" lIns="0" tIns="0" rIns="0" bIns="0" rtlCol="0" anchor="ctr"/>
          <a:lstStyle/>
          <a:p>
            <a:pPr indent="0" marL="0">
              <a:lnSpc>
                <a:spcPts val="1000"/>
              </a:lnSpc>
              <a:buNone/>
            </a:pPr>
            <a:r>
              <a:rPr lang="en-US" sz="850" b="1" dirty="0">
                <a:solidFill>
                  <a:srgbClr val="FFFFFF"/>
                </a:solidFill>
                <a:latin typeface="Calibri" pitchFamily="34" charset="0"/>
                <a:ea typeface="Calibri" pitchFamily="34" charset="-122"/>
                <a:cs typeface="Calibri" pitchFamily="34" charset="-120"/>
              </a:rPr>
              <a:t>Amadeus self-service is switched off</a:t>
            </a:r>
            <a:endParaRPr lang="en-US" sz="850" dirty="0"/>
          </a:p>
        </p:txBody>
      </p:sp>
      <p:sp>
        <p:nvSpPr>
          <p:cNvPr id="97" name="Text 93"/>
          <p:cNvSpPr/>
          <p:nvPr/>
        </p:nvSpPr>
        <p:spPr>
          <a:xfrm>
            <a:off x="9326880" y="4517136"/>
            <a:ext cx="2240280" cy="237744"/>
          </a:xfrm>
          <a:prstGeom prst="rect">
            <a:avLst/>
          </a:prstGeom>
          <a:noFill/>
          <a:ln/>
        </p:spPr>
        <p:txBody>
          <a:bodyPr wrap="square" lIns="0" tIns="0" rIns="0" bIns="0" rtlCol="0" anchor="ctr"/>
          <a:lstStyle/>
          <a:p>
            <a:pPr indent="0" marL="0">
              <a:lnSpc>
                <a:spcPts val="1000"/>
              </a:lnSpc>
              <a:buNone/>
            </a:pPr>
            <a:r>
              <a:rPr lang="en-US" sz="800" dirty="0">
                <a:solidFill>
                  <a:srgbClr val="FF6B6B"/>
                </a:solidFill>
                <a:latin typeface="Calibri" pitchFamily="34" charset="0"/>
                <a:ea typeface="Calibri" pitchFamily="34" charset="-122"/>
                <a:cs typeface="Calibri" pitchFamily="34" charset="-120"/>
              </a:rPr>
              <a:t>→ build on Sabre, abstract the supplier</a:t>
            </a:r>
            <a:endParaRPr lang="en-US" sz="800" dirty="0"/>
          </a:p>
        </p:txBody>
      </p:sp>
      <p:sp>
        <p:nvSpPr>
          <p:cNvPr id="98" name="Text 94"/>
          <p:cNvSpPr/>
          <p:nvPr/>
        </p:nvSpPr>
        <p:spPr>
          <a:xfrm>
            <a:off x="9326880" y="4754880"/>
            <a:ext cx="2240280" cy="292608"/>
          </a:xfrm>
          <a:prstGeom prst="rect">
            <a:avLst/>
          </a:prstGeom>
          <a:noFill/>
          <a:ln/>
        </p:spPr>
        <p:txBody>
          <a:bodyPr wrap="square" lIns="0" tIns="0" rIns="0" bIns="0" rtlCol="0" anchor="ctr"/>
          <a:lstStyle/>
          <a:p>
            <a:pPr indent="0" marL="0">
              <a:lnSpc>
                <a:spcPts val="1000"/>
              </a:lnSpc>
              <a:buNone/>
            </a:pPr>
            <a:r>
              <a:rPr lang="en-US" sz="850" b="1" dirty="0">
                <a:solidFill>
                  <a:srgbClr val="FFFFFF"/>
                </a:solidFill>
                <a:latin typeface="Calibri" pitchFamily="34" charset="0"/>
                <a:ea typeface="Calibri" pitchFamily="34" charset="-122"/>
                <a:cs typeface="Calibri" pitchFamily="34" charset="-120"/>
              </a:rPr>
              <a:t>ACE is limited to select developers</a:t>
            </a:r>
            <a:endParaRPr lang="en-US" sz="850" dirty="0"/>
          </a:p>
        </p:txBody>
      </p:sp>
      <p:sp>
        <p:nvSpPr>
          <p:cNvPr id="99" name="Text 95"/>
          <p:cNvSpPr/>
          <p:nvPr/>
        </p:nvSpPr>
        <p:spPr>
          <a:xfrm>
            <a:off x="9326880" y="5047488"/>
            <a:ext cx="2240280" cy="237744"/>
          </a:xfrm>
          <a:prstGeom prst="rect">
            <a:avLst/>
          </a:prstGeom>
          <a:noFill/>
          <a:ln/>
        </p:spPr>
        <p:txBody>
          <a:bodyPr wrap="square" lIns="0" tIns="0" rIns="0" bIns="0" rtlCol="0" anchor="ctr"/>
          <a:lstStyle/>
          <a:p>
            <a:pPr indent="0" marL="0">
              <a:lnSpc>
                <a:spcPts val="1000"/>
              </a:lnSpc>
              <a:buNone/>
            </a:pPr>
            <a:r>
              <a:rPr lang="en-US" sz="800" dirty="0">
                <a:solidFill>
                  <a:srgbClr val="FFB020"/>
                </a:solidFill>
                <a:latin typeface="Calibri" pitchFamily="34" charset="0"/>
                <a:ea typeface="Calibri" pitchFamily="34" charset="-122"/>
                <a:cs typeface="Calibri" pitchFamily="34" charset="-120"/>
              </a:rPr>
              <a:t>→ mock behind a contract test</a:t>
            </a:r>
            <a:endParaRPr lang="en-US" sz="800" dirty="0"/>
          </a:p>
        </p:txBody>
      </p:sp>
      <p:sp>
        <p:nvSpPr>
          <p:cNvPr id="100" name="Text 96"/>
          <p:cNvSpPr/>
          <p:nvPr/>
        </p:nvSpPr>
        <p:spPr>
          <a:xfrm>
            <a:off x="9326880" y="5285232"/>
            <a:ext cx="2240280" cy="292608"/>
          </a:xfrm>
          <a:prstGeom prst="rect">
            <a:avLst/>
          </a:prstGeom>
          <a:noFill/>
          <a:ln/>
        </p:spPr>
        <p:txBody>
          <a:bodyPr wrap="square" lIns="0" tIns="0" rIns="0" bIns="0" rtlCol="0" anchor="ctr"/>
          <a:lstStyle/>
          <a:p>
            <a:pPr indent="0" marL="0">
              <a:lnSpc>
                <a:spcPts val="1000"/>
              </a:lnSpc>
              <a:buNone/>
            </a:pPr>
            <a:r>
              <a:rPr lang="en-US" sz="850" b="1" dirty="0">
                <a:solidFill>
                  <a:srgbClr val="FFFFFF"/>
                </a:solidFill>
                <a:latin typeface="Calibri" pitchFamily="34" charset="0"/>
                <a:ea typeface="Calibri" pitchFamily="34" charset="-122"/>
                <a:cs typeface="Calibri" pitchFamily="34" charset="-120"/>
              </a:rPr>
              <a:t>Lumo accuracy is a vendor claim</a:t>
            </a:r>
            <a:endParaRPr lang="en-US" sz="850" dirty="0"/>
          </a:p>
        </p:txBody>
      </p:sp>
      <p:sp>
        <p:nvSpPr>
          <p:cNvPr id="101" name="Text 97"/>
          <p:cNvSpPr/>
          <p:nvPr/>
        </p:nvSpPr>
        <p:spPr>
          <a:xfrm>
            <a:off x="9326880" y="5577840"/>
            <a:ext cx="2240280" cy="237744"/>
          </a:xfrm>
          <a:prstGeom prst="rect">
            <a:avLst/>
          </a:prstGeom>
          <a:noFill/>
          <a:ln/>
        </p:spPr>
        <p:txBody>
          <a:bodyPr wrap="square" lIns="0" tIns="0" rIns="0" bIns="0" rtlCol="0" anchor="ctr"/>
          <a:lstStyle/>
          <a:p>
            <a:pPr indent="0" marL="0">
              <a:lnSpc>
                <a:spcPts val="1000"/>
              </a:lnSpc>
              <a:buNone/>
            </a:pPr>
            <a:r>
              <a:rPr lang="en-US" sz="800" dirty="0">
                <a:solidFill>
                  <a:srgbClr val="9B8CFF"/>
                </a:solidFill>
                <a:latin typeface="Calibri" pitchFamily="34" charset="0"/>
                <a:ea typeface="Calibri" pitchFamily="34" charset="-122"/>
                <a:cs typeface="Calibri" pitchFamily="34" charset="-120"/>
              </a:rPr>
              <a:t>→ advisory only until back-tested</a:t>
            </a:r>
            <a:endParaRPr lang="en-US" sz="800" dirty="0"/>
          </a:p>
        </p:txBody>
      </p:sp>
      <p:sp>
        <p:nvSpPr>
          <p:cNvPr id="102" name="Text 98"/>
          <p:cNvSpPr/>
          <p:nvPr/>
        </p:nvSpPr>
        <p:spPr>
          <a:xfrm>
            <a:off x="457200" y="6382512"/>
            <a:ext cx="11274552" cy="310896"/>
          </a:xfrm>
          <a:prstGeom prst="rect">
            <a:avLst/>
          </a:prstGeom>
          <a:noFill/>
          <a:ln/>
        </p:spPr>
        <p:txBody>
          <a:bodyPr wrap="square" lIns="0" tIns="0" rIns="0" bIns="0" rtlCol="0" anchor="t"/>
          <a:lstStyle/>
          <a:p>
            <a:pPr indent="0" marL="0">
              <a:buNone/>
            </a:pPr>
            <a:r>
              <a:rPr lang="en-US" sz="750" b="1" spc="120" kern="0" dirty="0">
                <a:solidFill>
                  <a:srgbClr val="7B94BA"/>
                </a:solidFill>
                <a:latin typeface="Calibri" pitchFamily="34" charset="0"/>
                <a:ea typeface="Calibri" pitchFamily="34" charset="-122"/>
                <a:cs typeface="Calibri" pitchFamily="34" charset="-120"/>
              </a:rPr>
              <a:t>SOURCES  </a:t>
            </a:r>
            <a:pPr indent="0" marL="0">
              <a:buNone/>
            </a:pPr>
            <a:r>
              <a:rPr lang="en-US" sz="750" dirty="0">
                <a:solidFill>
                  <a:srgbClr val="7B94BA"/>
                </a:solidFill>
                <a:latin typeface="Calibri" pitchFamily="34" charset="0"/>
                <a:ea typeface="Calibri" pitchFamily="34" charset="-122"/>
                <a:cs typeface="Calibri" pitchFamily="34" charset="-120"/>
              </a:rPr>
              <a:t>PhocusWire 9 Feb 2026 + Amadeus developer notice (self-service portal decommissioned 17 Jul 2026); DGCA penalty order on IndiGo, Jan 2026, covering 3–5 Dec 2025; Sabre 23 Sep 2025; Amex ACE 14 Apr 2026; thinklumo.com. Latency figures are our engineering budget, not measurements.</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A1B3D"/>
        </a:solidFill>
      </p:bgPr>
    </p:bg>
    <p:spTree>
      <p:nvGrpSpPr>
        <p:cNvPr id="1" name=""/>
        <p:cNvGrpSpPr/>
        <p:nvPr/>
      </p:nvGrpSpPr>
      <p:grpSpPr>
        <a:xfrm>
          <a:off x="0" y="0"/>
          <a:ext cx="0" cy="0"/>
          <a:chOff x="0" y="0"/>
          <a:chExt cx="0" cy="0"/>
        </a:xfrm>
      </p:grpSpPr>
      <p:sp>
        <p:nvSpPr>
          <p:cNvPr id="2" name="Text 0"/>
          <p:cNvSpPr/>
          <p:nvPr/>
        </p:nvSpPr>
        <p:spPr>
          <a:xfrm>
            <a:off x="457200" y="146304"/>
            <a:ext cx="8229600" cy="201168"/>
          </a:xfrm>
          <a:prstGeom prst="rect">
            <a:avLst/>
          </a:prstGeom>
          <a:noFill/>
          <a:ln/>
        </p:spPr>
        <p:txBody>
          <a:bodyPr wrap="square" lIns="0" tIns="0" rIns="0" bIns="0" rtlCol="0" anchor="ctr"/>
          <a:lstStyle/>
          <a:p>
            <a:pPr indent="0" marL="0">
              <a:buNone/>
            </a:pPr>
            <a:r>
              <a:rPr lang="en-US" sz="850" b="1" spc="220" kern="0" dirty="0">
                <a:solidFill>
                  <a:srgbClr val="3D9CFF"/>
                </a:solidFill>
                <a:latin typeface="Calibri" pitchFamily="34" charset="0"/>
                <a:ea typeface="Calibri" pitchFamily="34" charset="-122"/>
                <a:cs typeface="Calibri" pitchFamily="34" charset="-120"/>
              </a:rPr>
              <a:t>09 · BUSINESS CASE &amp; METRICS</a:t>
            </a:r>
            <a:endParaRPr lang="en-US" sz="850" dirty="0"/>
          </a:p>
        </p:txBody>
      </p:sp>
      <p:sp>
        <p:nvSpPr>
          <p:cNvPr id="3" name="Text 1"/>
          <p:cNvSpPr/>
          <p:nvPr/>
        </p:nvSpPr>
        <p:spPr>
          <a:xfrm>
            <a:off x="11155680" y="146304"/>
            <a:ext cx="576072" cy="201168"/>
          </a:xfrm>
          <a:prstGeom prst="rect">
            <a:avLst/>
          </a:prstGeom>
          <a:noFill/>
          <a:ln/>
        </p:spPr>
        <p:txBody>
          <a:bodyPr wrap="square" lIns="0" tIns="0" rIns="0" bIns="0" rtlCol="0" anchor="ctr"/>
          <a:lstStyle/>
          <a:p>
            <a:pPr algn="r" indent="0" marL="0">
              <a:buNone/>
            </a:pPr>
            <a:r>
              <a:rPr lang="en-US" sz="850" dirty="0">
                <a:solidFill>
                  <a:srgbClr val="7B94BA"/>
                </a:solidFill>
                <a:latin typeface="Calibri" pitchFamily="34" charset="0"/>
                <a:ea typeface="Calibri" pitchFamily="34" charset="-122"/>
                <a:cs typeface="Calibri" pitchFamily="34" charset="-120"/>
              </a:rPr>
              <a:t>10</a:t>
            </a:r>
            <a:endParaRPr lang="en-US" sz="850" dirty="0"/>
          </a:p>
        </p:txBody>
      </p:sp>
      <p:sp>
        <p:nvSpPr>
          <p:cNvPr id="4" name="Text 2"/>
          <p:cNvSpPr/>
          <p:nvPr/>
        </p:nvSpPr>
        <p:spPr>
          <a:xfrm>
            <a:off x="457200" y="365760"/>
            <a:ext cx="11274552" cy="420624"/>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Three value pools — and the arithmetic behind them</a:t>
            </a:r>
            <a:endParaRPr lang="en-US" sz="2500" dirty="0"/>
          </a:p>
        </p:txBody>
      </p:sp>
      <p:sp>
        <p:nvSpPr>
          <p:cNvPr id="5" name="Text 3"/>
          <p:cNvSpPr/>
          <p:nvPr/>
        </p:nvSpPr>
        <p:spPr>
          <a:xfrm>
            <a:off x="457200" y="804672"/>
            <a:ext cx="11274552" cy="256032"/>
          </a:xfrm>
          <a:prstGeom prst="rect">
            <a:avLst/>
          </a:prstGeom>
          <a:noFill/>
          <a:ln/>
        </p:spPr>
        <p:txBody>
          <a:bodyPr wrap="square" lIns="0" tIns="0" rIns="0" bIns="0" rtlCol="0" anchor="ctr"/>
          <a:lstStyle/>
          <a:p>
            <a:pPr indent="0" marL="0">
              <a:buNone/>
            </a:pPr>
            <a:r>
              <a:rPr lang="en-US" sz="1150" dirty="0">
                <a:solidFill>
                  <a:srgbClr val="A9BEDC"/>
                </a:solidFill>
                <a:latin typeface="Calibri" pitchFamily="34" charset="0"/>
                <a:ea typeface="Calibri" pitchFamily="34" charset="-122"/>
                <a:cs typeface="Calibri" pitchFamily="34" charset="-120"/>
              </a:rPr>
              <a:t>Normalised to 100,000 protected trips a year on Indian routes. Amber inputs are assumptions, and we say so.</a:t>
            </a:r>
            <a:endParaRPr lang="en-US" sz="1150" dirty="0"/>
          </a:p>
        </p:txBody>
      </p:sp>
      <p:sp>
        <p:nvSpPr>
          <p:cNvPr id="6" name="Shape 4"/>
          <p:cNvSpPr/>
          <p:nvPr/>
        </p:nvSpPr>
        <p:spPr>
          <a:xfrm>
            <a:off x="457200" y="1152144"/>
            <a:ext cx="3630168" cy="1536192"/>
          </a:xfrm>
          <a:prstGeom prst="roundRect">
            <a:avLst>
              <a:gd name="adj" fmla="val 3571"/>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pic>
        <p:nvPicPr>
          <p:cNvPr id="7" name="Image 0" descr="preencoded.png">    </p:cNvPr>
          <p:cNvPicPr>
            <a:picLocks noChangeAspect="1"/>
          </p:cNvPicPr>
          <p:nvPr/>
        </p:nvPicPr>
        <p:blipFill>
          <a:blip r:embed="rId1"/>
          <a:stretch>
            <a:fillRect/>
          </a:stretch>
        </p:blipFill>
        <p:spPr>
          <a:xfrm>
            <a:off x="658368" y="1280160"/>
            <a:ext cx="274320" cy="274320"/>
          </a:xfrm>
          <a:prstGeom prst="rect">
            <a:avLst/>
          </a:prstGeom>
        </p:spPr>
      </p:pic>
      <p:sp>
        <p:nvSpPr>
          <p:cNvPr id="8" name="Text 5"/>
          <p:cNvSpPr/>
          <p:nvPr/>
        </p:nvSpPr>
        <p:spPr>
          <a:xfrm>
            <a:off x="1005840" y="1280160"/>
            <a:ext cx="1097280" cy="237744"/>
          </a:xfrm>
          <a:prstGeom prst="rect">
            <a:avLst/>
          </a:prstGeom>
          <a:noFill/>
          <a:ln/>
        </p:spPr>
        <p:txBody>
          <a:bodyPr wrap="square" lIns="0" tIns="0" rIns="0" bIns="0" rtlCol="0" anchor="ctr"/>
          <a:lstStyle/>
          <a:p>
            <a:pPr indent="0" marL="0">
              <a:buNone/>
            </a:pPr>
            <a:r>
              <a:rPr lang="en-US" sz="800" b="1" spc="130" kern="0" dirty="0">
                <a:solidFill>
                  <a:srgbClr val="3D9CFF"/>
                </a:solidFill>
                <a:latin typeface="Calibri" pitchFamily="34" charset="0"/>
                <a:ea typeface="Calibri" pitchFamily="34" charset="-122"/>
                <a:cs typeface="Calibri" pitchFamily="34" charset="-120"/>
              </a:rPr>
              <a:t>POOL A</a:t>
            </a:r>
            <a:endParaRPr lang="en-US" sz="800" dirty="0"/>
          </a:p>
        </p:txBody>
      </p:sp>
      <p:sp>
        <p:nvSpPr>
          <p:cNvPr id="9" name="Text 6"/>
          <p:cNvSpPr/>
          <p:nvPr/>
        </p:nvSpPr>
        <p:spPr>
          <a:xfrm>
            <a:off x="658368" y="1591056"/>
            <a:ext cx="2011680" cy="420624"/>
          </a:xfrm>
          <a:prstGeom prst="rect">
            <a:avLst/>
          </a:prstGeom>
          <a:noFill/>
          <a:ln/>
        </p:spPr>
        <p:txBody>
          <a:bodyPr wrap="square" lIns="0" tIns="0" rIns="0" bIns="0" rtlCol="0" anchor="ctr"/>
          <a:lstStyle/>
          <a:p>
            <a:pPr indent="0" marL="0">
              <a:lnSpc>
                <a:spcPts val="1300"/>
              </a:lnSpc>
              <a:buNone/>
            </a:pPr>
            <a:r>
              <a:rPr lang="en-US" sz="1100" b="1" dirty="0">
                <a:solidFill>
                  <a:srgbClr val="FFFFFF"/>
                </a:solidFill>
                <a:latin typeface="Calibri" pitchFamily="34" charset="0"/>
                <a:ea typeface="Calibri" pitchFamily="34" charset="-122"/>
                <a:cs typeface="Calibri" pitchFamily="34" charset="-120"/>
              </a:rPr>
              <a:t>Contact deflection</a:t>
            </a:r>
            <a:endParaRPr lang="en-US" sz="1100" dirty="0"/>
          </a:p>
        </p:txBody>
      </p:sp>
      <p:sp>
        <p:nvSpPr>
          <p:cNvPr id="10" name="Text 7"/>
          <p:cNvSpPr/>
          <p:nvPr/>
        </p:nvSpPr>
        <p:spPr>
          <a:xfrm>
            <a:off x="2560320" y="1572768"/>
            <a:ext cx="1371600" cy="402336"/>
          </a:xfrm>
          <a:prstGeom prst="rect">
            <a:avLst/>
          </a:prstGeom>
          <a:noFill/>
          <a:ln/>
        </p:spPr>
        <p:txBody>
          <a:bodyPr wrap="square" lIns="0" tIns="0" rIns="0" bIns="0" rtlCol="0" anchor="ctr"/>
          <a:lstStyle/>
          <a:p>
            <a:pPr algn="r" indent="0" marL="0">
              <a:buNone/>
            </a:pPr>
            <a:r>
              <a:rPr lang="en-US" sz="2000" b="1" dirty="0">
                <a:solidFill>
                  <a:srgbClr val="3D9CFF"/>
                </a:solidFill>
                <a:latin typeface="Cambria" pitchFamily="34" charset="0"/>
                <a:ea typeface="Cambria" pitchFamily="34" charset="-122"/>
                <a:cs typeface="Cambria" pitchFamily="34" charset="-120"/>
              </a:rPr>
              <a:t>$42.1K</a:t>
            </a:r>
            <a:endParaRPr lang="en-US" sz="2000" dirty="0"/>
          </a:p>
        </p:txBody>
      </p:sp>
      <p:sp>
        <p:nvSpPr>
          <p:cNvPr id="11" name="Text 8"/>
          <p:cNvSpPr/>
          <p:nvPr/>
        </p:nvSpPr>
        <p:spPr>
          <a:xfrm>
            <a:off x="2560320" y="1975104"/>
            <a:ext cx="1371600" cy="219456"/>
          </a:xfrm>
          <a:prstGeom prst="rect">
            <a:avLst/>
          </a:prstGeom>
          <a:noFill/>
          <a:ln/>
        </p:spPr>
        <p:txBody>
          <a:bodyPr wrap="square" lIns="0" tIns="0" rIns="0" bIns="0" rtlCol="0" anchor="ctr"/>
          <a:lstStyle/>
          <a:p>
            <a:pPr algn="r" indent="0" marL="0">
              <a:buNone/>
            </a:pPr>
            <a:r>
              <a:rPr lang="en-US" sz="750" dirty="0">
                <a:solidFill>
                  <a:srgbClr val="A9BEDC"/>
                </a:solidFill>
                <a:latin typeface="Calibri" pitchFamily="34" charset="0"/>
                <a:ea typeface="Calibri" pitchFamily="34" charset="-122"/>
                <a:cs typeface="Calibri" pitchFamily="34" charset="-120"/>
              </a:rPr>
              <a:t>per 100K trips / year</a:t>
            </a:r>
            <a:endParaRPr lang="en-US" sz="750" dirty="0"/>
          </a:p>
        </p:txBody>
      </p:sp>
      <p:sp>
        <p:nvSpPr>
          <p:cNvPr id="12" name="Text 9"/>
          <p:cNvSpPr/>
          <p:nvPr/>
        </p:nvSpPr>
        <p:spPr>
          <a:xfrm>
            <a:off x="658368" y="2249424"/>
            <a:ext cx="3246120" cy="329184"/>
          </a:xfrm>
          <a:prstGeom prst="rect">
            <a:avLst/>
          </a:prstGeom>
          <a:noFill/>
          <a:ln/>
        </p:spPr>
        <p:txBody>
          <a:bodyPr wrap="square" lIns="0" tIns="0" rIns="0" bIns="0" rtlCol="0" anchor="ctr"/>
          <a:lstStyle/>
          <a:p>
            <a:pPr indent="0" marL="0">
              <a:lnSpc>
                <a:spcPts val="1050"/>
              </a:lnSpc>
              <a:buNone/>
            </a:pPr>
            <a:r>
              <a:rPr lang="en-US" sz="850" dirty="0">
                <a:solidFill>
                  <a:srgbClr val="A9BEDC"/>
                </a:solidFill>
                <a:latin typeface="Calibri" pitchFamily="34" charset="0"/>
                <a:ea typeface="Calibri" pitchFamily="34" charset="-122"/>
                <a:cs typeface="Calibri" pitchFamily="34" charset="-120"/>
              </a:rPr>
              <a:t>Gartner global benchmark — an upper bound for India</a:t>
            </a:r>
            <a:endParaRPr lang="en-US" sz="850" dirty="0"/>
          </a:p>
        </p:txBody>
      </p:sp>
      <p:sp>
        <p:nvSpPr>
          <p:cNvPr id="13" name="Shape 10"/>
          <p:cNvSpPr/>
          <p:nvPr/>
        </p:nvSpPr>
        <p:spPr>
          <a:xfrm>
            <a:off x="4251960" y="1152144"/>
            <a:ext cx="3630168" cy="1536192"/>
          </a:xfrm>
          <a:prstGeom prst="roundRect">
            <a:avLst>
              <a:gd name="adj" fmla="val 3571"/>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pic>
        <p:nvPicPr>
          <p:cNvPr id="14" name="Image 1" descr="preencoded.png">    </p:cNvPr>
          <p:cNvPicPr>
            <a:picLocks noChangeAspect="1"/>
          </p:cNvPicPr>
          <p:nvPr/>
        </p:nvPicPr>
        <p:blipFill>
          <a:blip r:embed="rId2"/>
          <a:stretch>
            <a:fillRect/>
          </a:stretch>
        </p:blipFill>
        <p:spPr>
          <a:xfrm>
            <a:off x="4453128" y="1280160"/>
            <a:ext cx="274320" cy="274320"/>
          </a:xfrm>
          <a:prstGeom prst="rect">
            <a:avLst/>
          </a:prstGeom>
        </p:spPr>
      </p:pic>
      <p:sp>
        <p:nvSpPr>
          <p:cNvPr id="15" name="Text 11"/>
          <p:cNvSpPr/>
          <p:nvPr/>
        </p:nvSpPr>
        <p:spPr>
          <a:xfrm>
            <a:off x="4800600" y="1280160"/>
            <a:ext cx="1097280" cy="237744"/>
          </a:xfrm>
          <a:prstGeom prst="rect">
            <a:avLst/>
          </a:prstGeom>
          <a:noFill/>
          <a:ln/>
        </p:spPr>
        <p:txBody>
          <a:bodyPr wrap="square" lIns="0" tIns="0" rIns="0" bIns="0" rtlCol="0" anchor="ctr"/>
          <a:lstStyle/>
          <a:p>
            <a:pPr indent="0" marL="0">
              <a:buNone/>
            </a:pPr>
            <a:r>
              <a:rPr lang="en-US" sz="800" b="1" spc="130" kern="0" dirty="0">
                <a:solidFill>
                  <a:srgbClr val="2ECC9A"/>
                </a:solidFill>
                <a:latin typeface="Calibri" pitchFamily="34" charset="0"/>
                <a:ea typeface="Calibri" pitchFamily="34" charset="-122"/>
                <a:cs typeface="Calibri" pitchFamily="34" charset="-120"/>
              </a:rPr>
              <a:t>POOL B</a:t>
            </a:r>
            <a:endParaRPr lang="en-US" sz="800" dirty="0"/>
          </a:p>
        </p:txBody>
      </p:sp>
      <p:sp>
        <p:nvSpPr>
          <p:cNvPr id="16" name="Text 12"/>
          <p:cNvSpPr/>
          <p:nvPr/>
        </p:nvSpPr>
        <p:spPr>
          <a:xfrm>
            <a:off x="4453128" y="1591056"/>
            <a:ext cx="2011680" cy="420624"/>
          </a:xfrm>
          <a:prstGeom prst="rect">
            <a:avLst/>
          </a:prstGeom>
          <a:noFill/>
          <a:ln/>
        </p:spPr>
        <p:txBody>
          <a:bodyPr wrap="square" lIns="0" tIns="0" rIns="0" bIns="0" rtlCol="0" anchor="ctr"/>
          <a:lstStyle/>
          <a:p>
            <a:pPr indent="0" marL="0">
              <a:lnSpc>
                <a:spcPts val="1300"/>
              </a:lnSpc>
              <a:buNone/>
            </a:pPr>
            <a:r>
              <a:rPr lang="en-US" sz="1100" b="1" dirty="0">
                <a:solidFill>
                  <a:srgbClr val="FFFFFF"/>
                </a:solidFill>
                <a:latin typeface="Calibri" pitchFamily="34" charset="0"/>
                <a:ea typeface="Calibri" pitchFamily="34" charset="-122"/>
                <a:cs typeface="Calibri" pitchFamily="34" charset="-120"/>
              </a:rPr>
              <a:t>Billed business on Amex rails</a:t>
            </a:r>
            <a:endParaRPr lang="en-US" sz="1100" dirty="0"/>
          </a:p>
        </p:txBody>
      </p:sp>
      <p:sp>
        <p:nvSpPr>
          <p:cNvPr id="17" name="Text 13"/>
          <p:cNvSpPr/>
          <p:nvPr/>
        </p:nvSpPr>
        <p:spPr>
          <a:xfrm>
            <a:off x="6355080" y="1572768"/>
            <a:ext cx="1371600" cy="402336"/>
          </a:xfrm>
          <a:prstGeom prst="rect">
            <a:avLst/>
          </a:prstGeom>
          <a:noFill/>
          <a:ln/>
        </p:spPr>
        <p:txBody>
          <a:bodyPr wrap="square" lIns="0" tIns="0" rIns="0" bIns="0" rtlCol="0" anchor="ctr"/>
          <a:lstStyle/>
          <a:p>
            <a:pPr algn="r" indent="0" marL="0">
              <a:buNone/>
            </a:pPr>
            <a:r>
              <a:rPr lang="en-US" sz="2000" b="1" dirty="0">
                <a:solidFill>
                  <a:srgbClr val="2ECC9A"/>
                </a:solidFill>
                <a:latin typeface="Cambria" pitchFamily="34" charset="0"/>
                <a:ea typeface="Cambria" pitchFamily="34" charset="-122"/>
                <a:cs typeface="Cambria" pitchFamily="34" charset="-120"/>
              </a:rPr>
              <a:t>₹8.7 cr</a:t>
            </a:r>
            <a:endParaRPr lang="en-US" sz="2000" dirty="0"/>
          </a:p>
        </p:txBody>
      </p:sp>
      <p:sp>
        <p:nvSpPr>
          <p:cNvPr id="18" name="Text 14"/>
          <p:cNvSpPr/>
          <p:nvPr/>
        </p:nvSpPr>
        <p:spPr>
          <a:xfrm>
            <a:off x="6355080" y="1975104"/>
            <a:ext cx="1371600" cy="219456"/>
          </a:xfrm>
          <a:prstGeom prst="rect">
            <a:avLst/>
          </a:prstGeom>
          <a:noFill/>
          <a:ln/>
        </p:spPr>
        <p:txBody>
          <a:bodyPr wrap="square" lIns="0" tIns="0" rIns="0" bIns="0" rtlCol="0" anchor="ctr"/>
          <a:lstStyle/>
          <a:p>
            <a:pPr algn="r" indent="0" marL="0">
              <a:buNone/>
            </a:pPr>
            <a:r>
              <a:rPr lang="en-US" sz="750" dirty="0">
                <a:solidFill>
                  <a:srgbClr val="A9BEDC"/>
                </a:solidFill>
                <a:latin typeface="Calibri" pitchFamily="34" charset="0"/>
                <a:ea typeface="Calibri" pitchFamily="34" charset="-122"/>
                <a:cs typeface="Calibri" pitchFamily="34" charset="-120"/>
              </a:rPr>
              <a:t>per 100K trips / year</a:t>
            </a:r>
            <a:endParaRPr lang="en-US" sz="750" dirty="0"/>
          </a:p>
        </p:txBody>
      </p:sp>
      <p:sp>
        <p:nvSpPr>
          <p:cNvPr id="19" name="Text 15"/>
          <p:cNvSpPr/>
          <p:nvPr/>
        </p:nvSpPr>
        <p:spPr>
          <a:xfrm>
            <a:off x="4453128" y="2249424"/>
            <a:ext cx="3246120" cy="329184"/>
          </a:xfrm>
          <a:prstGeom prst="rect">
            <a:avLst/>
          </a:prstGeom>
          <a:noFill/>
          <a:ln/>
        </p:spPr>
        <p:txBody>
          <a:bodyPr wrap="square" lIns="0" tIns="0" rIns="0" bIns="0" rtlCol="0" anchor="ctr"/>
          <a:lstStyle/>
          <a:p>
            <a:pPr indent="0" marL="0">
              <a:lnSpc>
                <a:spcPts val="1050"/>
              </a:lnSpc>
              <a:buNone/>
            </a:pPr>
            <a:r>
              <a:rPr lang="en-US" sz="850" dirty="0">
                <a:solidFill>
                  <a:srgbClr val="A9BEDC"/>
                </a:solidFill>
                <a:latin typeface="Calibri" pitchFamily="34" charset="0"/>
                <a:ea typeface="Calibri" pitchFamily="34" charset="-122"/>
                <a:cs typeface="Calibri" pitchFamily="34" charset="-120"/>
              </a:rPr>
              <a:t>Recovery spend that today leaks off-network</a:t>
            </a:r>
            <a:endParaRPr lang="en-US" sz="850" dirty="0"/>
          </a:p>
        </p:txBody>
      </p:sp>
      <p:sp>
        <p:nvSpPr>
          <p:cNvPr id="20" name="Shape 16"/>
          <p:cNvSpPr/>
          <p:nvPr/>
        </p:nvSpPr>
        <p:spPr>
          <a:xfrm>
            <a:off x="8046720" y="1152144"/>
            <a:ext cx="3630168" cy="1536192"/>
          </a:xfrm>
          <a:prstGeom prst="roundRect">
            <a:avLst>
              <a:gd name="adj" fmla="val 3571"/>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pic>
        <p:nvPicPr>
          <p:cNvPr id="21" name="Image 2" descr="preencoded.png">    </p:cNvPr>
          <p:cNvPicPr>
            <a:picLocks noChangeAspect="1"/>
          </p:cNvPicPr>
          <p:nvPr/>
        </p:nvPicPr>
        <p:blipFill>
          <a:blip r:embed="rId3"/>
          <a:stretch>
            <a:fillRect/>
          </a:stretch>
        </p:blipFill>
        <p:spPr>
          <a:xfrm>
            <a:off x="8247888" y="1280160"/>
            <a:ext cx="274320" cy="274320"/>
          </a:xfrm>
          <a:prstGeom prst="rect">
            <a:avLst/>
          </a:prstGeom>
        </p:spPr>
      </p:pic>
      <p:sp>
        <p:nvSpPr>
          <p:cNvPr id="22" name="Text 17"/>
          <p:cNvSpPr/>
          <p:nvPr/>
        </p:nvSpPr>
        <p:spPr>
          <a:xfrm>
            <a:off x="8595360" y="1280160"/>
            <a:ext cx="1097280" cy="237744"/>
          </a:xfrm>
          <a:prstGeom prst="rect">
            <a:avLst/>
          </a:prstGeom>
          <a:noFill/>
          <a:ln/>
        </p:spPr>
        <p:txBody>
          <a:bodyPr wrap="square" lIns="0" tIns="0" rIns="0" bIns="0" rtlCol="0" anchor="ctr"/>
          <a:lstStyle/>
          <a:p>
            <a:pPr indent="0" marL="0">
              <a:buNone/>
            </a:pPr>
            <a:r>
              <a:rPr lang="en-US" sz="800" b="1" spc="130" kern="0" dirty="0">
                <a:solidFill>
                  <a:srgbClr val="9B8CFF"/>
                </a:solidFill>
                <a:latin typeface="Calibri" pitchFamily="34" charset="0"/>
                <a:ea typeface="Calibri" pitchFamily="34" charset="-122"/>
                <a:cs typeface="Calibri" pitchFamily="34" charset="-120"/>
              </a:rPr>
              <a:t>POOL C</a:t>
            </a:r>
            <a:endParaRPr lang="en-US" sz="800" dirty="0"/>
          </a:p>
        </p:txBody>
      </p:sp>
      <p:sp>
        <p:nvSpPr>
          <p:cNvPr id="23" name="Text 18"/>
          <p:cNvSpPr/>
          <p:nvPr/>
        </p:nvSpPr>
        <p:spPr>
          <a:xfrm>
            <a:off x="8247888" y="1591056"/>
            <a:ext cx="2011680" cy="420624"/>
          </a:xfrm>
          <a:prstGeom prst="rect">
            <a:avLst/>
          </a:prstGeom>
          <a:noFill/>
          <a:ln/>
        </p:spPr>
        <p:txBody>
          <a:bodyPr wrap="square" lIns="0" tIns="0" rIns="0" bIns="0" rtlCol="0" anchor="ctr"/>
          <a:lstStyle/>
          <a:p>
            <a:pPr indent="0" marL="0">
              <a:lnSpc>
                <a:spcPts val="1300"/>
              </a:lnSpc>
              <a:buNone/>
            </a:pPr>
            <a:r>
              <a:rPr lang="en-US" sz="1100" b="1" dirty="0">
                <a:solidFill>
                  <a:srgbClr val="FFFFFF"/>
                </a:solidFill>
                <a:latin typeface="Calibri" pitchFamily="34" charset="0"/>
                <a:ea typeface="Calibri" pitchFamily="34" charset="-122"/>
                <a:cs typeface="Calibri" pitchFamily="34" charset="-120"/>
              </a:rPr>
              <a:t>Retention &amp; benefit utilisation</a:t>
            </a:r>
            <a:endParaRPr lang="en-US" sz="1100" dirty="0"/>
          </a:p>
        </p:txBody>
      </p:sp>
      <p:sp>
        <p:nvSpPr>
          <p:cNvPr id="24" name="Text 19"/>
          <p:cNvSpPr/>
          <p:nvPr/>
        </p:nvSpPr>
        <p:spPr>
          <a:xfrm>
            <a:off x="10149840" y="1572768"/>
            <a:ext cx="1371600" cy="402336"/>
          </a:xfrm>
          <a:prstGeom prst="rect">
            <a:avLst/>
          </a:prstGeom>
          <a:noFill/>
          <a:ln/>
        </p:spPr>
        <p:txBody>
          <a:bodyPr wrap="square" lIns="0" tIns="0" rIns="0" bIns="0" rtlCol="0" anchor="ctr"/>
          <a:lstStyle/>
          <a:p>
            <a:pPr algn="r" indent="0" marL="0">
              <a:buNone/>
            </a:pPr>
            <a:r>
              <a:rPr lang="en-US" sz="2000" b="1" dirty="0">
                <a:solidFill>
                  <a:srgbClr val="9B8CFF"/>
                </a:solidFill>
                <a:latin typeface="Cambria" pitchFamily="34" charset="0"/>
                <a:ea typeface="Cambria" pitchFamily="34" charset="-122"/>
                <a:cs typeface="Cambria" pitchFamily="34" charset="-120"/>
              </a:rPr>
              <a:t>Δr × N × C</a:t>
            </a:r>
            <a:endParaRPr lang="en-US" sz="2000" dirty="0"/>
          </a:p>
        </p:txBody>
      </p:sp>
      <p:sp>
        <p:nvSpPr>
          <p:cNvPr id="25" name="Text 20"/>
          <p:cNvSpPr/>
          <p:nvPr/>
        </p:nvSpPr>
        <p:spPr>
          <a:xfrm>
            <a:off x="10149840" y="1975104"/>
            <a:ext cx="1371600" cy="219456"/>
          </a:xfrm>
          <a:prstGeom prst="rect">
            <a:avLst/>
          </a:prstGeom>
          <a:noFill/>
          <a:ln/>
        </p:spPr>
        <p:txBody>
          <a:bodyPr wrap="square" lIns="0" tIns="0" rIns="0" bIns="0" rtlCol="0" anchor="ctr"/>
          <a:lstStyle/>
          <a:p>
            <a:pPr algn="r" indent="0" marL="0">
              <a:buNone/>
            </a:pPr>
            <a:r>
              <a:rPr lang="en-US" sz="750" dirty="0">
                <a:solidFill>
                  <a:srgbClr val="A9BEDC"/>
                </a:solidFill>
                <a:latin typeface="Calibri" pitchFamily="34" charset="0"/>
                <a:ea typeface="Calibri" pitchFamily="34" charset="-122"/>
                <a:cs typeface="Calibri" pitchFamily="34" charset="-120"/>
              </a:rPr>
              <a:t>formula, not a guess</a:t>
            </a:r>
            <a:endParaRPr lang="en-US" sz="750" dirty="0"/>
          </a:p>
        </p:txBody>
      </p:sp>
      <p:sp>
        <p:nvSpPr>
          <p:cNvPr id="26" name="Text 21"/>
          <p:cNvSpPr/>
          <p:nvPr/>
        </p:nvSpPr>
        <p:spPr>
          <a:xfrm>
            <a:off x="8247888" y="2249424"/>
            <a:ext cx="3246120" cy="329184"/>
          </a:xfrm>
          <a:prstGeom prst="rect">
            <a:avLst/>
          </a:prstGeom>
          <a:noFill/>
          <a:ln/>
        </p:spPr>
        <p:txBody>
          <a:bodyPr wrap="square" lIns="0" tIns="0" rIns="0" bIns="0" rtlCol="0" anchor="ctr"/>
          <a:lstStyle/>
          <a:p>
            <a:pPr indent="0" marL="0">
              <a:lnSpc>
                <a:spcPts val="1050"/>
              </a:lnSpc>
              <a:buNone/>
            </a:pPr>
            <a:r>
              <a:rPr lang="en-US" sz="850" dirty="0">
                <a:solidFill>
                  <a:srgbClr val="A9BEDC"/>
                </a:solidFill>
                <a:latin typeface="Calibri" pitchFamily="34" charset="0"/>
                <a:ea typeface="Calibri" pitchFamily="34" charset="-122"/>
                <a:cs typeface="Calibri" pitchFamily="34" charset="-120"/>
              </a:rPr>
              <a:t>Third term is Amex-internal; we refuse to invent it</a:t>
            </a:r>
            <a:endParaRPr lang="en-US" sz="850" dirty="0"/>
          </a:p>
        </p:txBody>
      </p:sp>
      <p:sp>
        <p:nvSpPr>
          <p:cNvPr id="27" name="Text 22"/>
          <p:cNvSpPr/>
          <p:nvPr/>
        </p:nvSpPr>
        <p:spPr>
          <a:xfrm>
            <a:off x="457200" y="2816352"/>
            <a:ext cx="4572000" cy="201168"/>
          </a:xfrm>
          <a:prstGeom prst="rect">
            <a:avLst/>
          </a:prstGeom>
          <a:noFill/>
          <a:ln/>
        </p:spPr>
        <p:txBody>
          <a:bodyPr wrap="square" lIns="0" tIns="0" rIns="0" bIns="0" rtlCol="0" anchor="ctr"/>
          <a:lstStyle/>
          <a:p>
            <a:pPr indent="0" marL="0">
              <a:buNone/>
            </a:pPr>
            <a:r>
              <a:rPr lang="en-US" sz="850" b="1" spc="140" kern="0" dirty="0">
                <a:solidFill>
                  <a:srgbClr val="3D9CFF"/>
                </a:solidFill>
                <a:latin typeface="Calibri" pitchFamily="34" charset="0"/>
                <a:ea typeface="Calibri" pitchFamily="34" charset="-122"/>
                <a:cs typeface="Calibri" pitchFamily="34" charset="-120"/>
              </a:rPr>
              <a:t>THE ARITHMETIC, IN FULL</a:t>
            </a:r>
            <a:endParaRPr lang="en-US" sz="850" dirty="0"/>
          </a:p>
        </p:txBody>
      </p:sp>
      <p:sp>
        <p:nvSpPr>
          <p:cNvPr id="28" name="Shape 23"/>
          <p:cNvSpPr/>
          <p:nvPr/>
        </p:nvSpPr>
        <p:spPr>
          <a:xfrm>
            <a:off x="457200" y="3054096"/>
            <a:ext cx="1700784" cy="786384"/>
          </a:xfrm>
          <a:prstGeom prst="roundRect">
            <a:avLst>
              <a:gd name="adj" fmla="val 697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sp>
        <p:nvSpPr>
          <p:cNvPr id="29" name="Text 24"/>
          <p:cNvSpPr/>
          <p:nvPr/>
        </p:nvSpPr>
        <p:spPr>
          <a:xfrm>
            <a:off x="566928" y="3127248"/>
            <a:ext cx="148132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100,000</a:t>
            </a:r>
            <a:endParaRPr lang="en-US" sz="1300" dirty="0"/>
          </a:p>
        </p:txBody>
      </p:sp>
      <p:sp>
        <p:nvSpPr>
          <p:cNvPr id="30" name="Text 25"/>
          <p:cNvSpPr/>
          <p:nvPr/>
        </p:nvSpPr>
        <p:spPr>
          <a:xfrm>
            <a:off x="566928" y="3419856"/>
            <a:ext cx="1481328" cy="201168"/>
          </a:xfrm>
          <a:prstGeom prst="rect">
            <a:avLst/>
          </a:prstGeom>
          <a:noFill/>
          <a:ln/>
        </p:spPr>
        <p:txBody>
          <a:bodyPr wrap="square" lIns="0" tIns="0" rIns="0" bIns="0" rtlCol="0" anchor="ctr"/>
          <a:lstStyle/>
          <a:p>
            <a:pPr algn="ctr" indent="0" marL="0">
              <a:buNone/>
            </a:pPr>
            <a:r>
              <a:rPr lang="en-US" sz="800" dirty="0">
                <a:solidFill>
                  <a:srgbClr val="A9BEDC"/>
                </a:solidFill>
                <a:latin typeface="Calibri" pitchFamily="34" charset="0"/>
                <a:ea typeface="Calibri" pitchFamily="34" charset="-122"/>
                <a:cs typeface="Calibri" pitchFamily="34" charset="-120"/>
              </a:rPr>
              <a:t>protected trips</a:t>
            </a:r>
            <a:endParaRPr lang="en-US" sz="800" dirty="0"/>
          </a:p>
        </p:txBody>
      </p:sp>
      <p:sp>
        <p:nvSpPr>
          <p:cNvPr id="31" name="Text 26"/>
          <p:cNvSpPr/>
          <p:nvPr/>
        </p:nvSpPr>
        <p:spPr>
          <a:xfrm>
            <a:off x="566928" y="3602736"/>
            <a:ext cx="1481328" cy="182880"/>
          </a:xfrm>
          <a:prstGeom prst="rect">
            <a:avLst/>
          </a:prstGeom>
          <a:noFill/>
          <a:ln/>
        </p:spPr>
        <p:txBody>
          <a:bodyPr wrap="square" lIns="0" tIns="0" rIns="0" bIns="0" rtlCol="0" anchor="ctr"/>
          <a:lstStyle/>
          <a:p>
            <a:pPr algn="ctr" indent="0" marL="0">
              <a:buNone/>
            </a:pPr>
            <a:r>
              <a:rPr lang="en-US" sz="700" b="1" spc="80" kern="0" dirty="0">
                <a:solidFill>
                  <a:srgbClr val="7B94BA"/>
                </a:solidFill>
                <a:latin typeface="Calibri" pitchFamily="34" charset="0"/>
                <a:ea typeface="Calibri" pitchFamily="34" charset="-122"/>
                <a:cs typeface="Calibri" pitchFamily="34" charset="-120"/>
              </a:rPr>
              <a:t>base</a:t>
            </a:r>
            <a:endParaRPr lang="en-US" sz="700" dirty="0"/>
          </a:p>
        </p:txBody>
      </p:sp>
      <p:sp>
        <p:nvSpPr>
          <p:cNvPr id="32" name="Shape 27"/>
          <p:cNvSpPr/>
          <p:nvPr/>
        </p:nvSpPr>
        <p:spPr>
          <a:xfrm>
            <a:off x="2176272" y="3364992"/>
            <a:ext cx="128016" cy="164592"/>
          </a:xfrm>
          <a:prstGeom prst="rightArrow">
            <a:avLst/>
          </a:prstGeom>
          <a:solidFill>
            <a:srgbClr val="7B94BA"/>
          </a:solidFill>
          <a:ln w="12700">
            <a:solidFill>
              <a:srgbClr val="333333"/>
            </a:solidFill>
            <a:prstDash val="solid"/>
          </a:ln>
        </p:spPr>
        <p:txBody>
          <a:bodyPr/>
          <a:p/>
        </p:txBody>
      </p:sp>
      <p:sp>
        <p:nvSpPr>
          <p:cNvPr id="33" name="Shape 28"/>
          <p:cNvSpPr/>
          <p:nvPr/>
        </p:nvSpPr>
        <p:spPr>
          <a:xfrm>
            <a:off x="2340864" y="3054096"/>
            <a:ext cx="1700784" cy="786384"/>
          </a:xfrm>
          <a:prstGeom prst="roundRect">
            <a:avLst>
              <a:gd name="adj" fmla="val 697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sp>
        <p:nvSpPr>
          <p:cNvPr id="34" name="Text 29"/>
          <p:cNvSpPr/>
          <p:nvPr/>
        </p:nvSpPr>
        <p:spPr>
          <a:xfrm>
            <a:off x="2450592" y="3127248"/>
            <a:ext cx="148132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17.2%</a:t>
            </a:r>
            <a:endParaRPr lang="en-US" sz="1300" dirty="0"/>
          </a:p>
        </p:txBody>
      </p:sp>
      <p:sp>
        <p:nvSpPr>
          <p:cNvPr id="35" name="Text 30"/>
          <p:cNvSpPr/>
          <p:nvPr/>
        </p:nvSpPr>
        <p:spPr>
          <a:xfrm>
            <a:off x="2450592" y="3419856"/>
            <a:ext cx="1481328" cy="201168"/>
          </a:xfrm>
          <a:prstGeom prst="rect">
            <a:avLst/>
          </a:prstGeom>
          <a:noFill/>
          <a:ln/>
        </p:spPr>
        <p:txBody>
          <a:bodyPr wrap="square" lIns="0" tIns="0" rIns="0" bIns="0" rtlCol="0" anchor="ctr"/>
          <a:lstStyle/>
          <a:p>
            <a:pPr algn="ctr" indent="0" marL="0">
              <a:buNone/>
            </a:pPr>
            <a:r>
              <a:rPr lang="en-US" sz="800" dirty="0">
                <a:solidFill>
                  <a:srgbClr val="A9BEDC"/>
                </a:solidFill>
                <a:latin typeface="Calibri" pitchFamily="34" charset="0"/>
                <a:ea typeface="Calibri" pitchFamily="34" charset="-122"/>
                <a:cs typeface="Calibri" pitchFamily="34" charset="-120"/>
              </a:rPr>
              <a:t>arrive late</a:t>
            </a:r>
            <a:endParaRPr lang="en-US" sz="800" dirty="0"/>
          </a:p>
        </p:txBody>
      </p:sp>
      <p:sp>
        <p:nvSpPr>
          <p:cNvPr id="36" name="Text 31"/>
          <p:cNvSpPr/>
          <p:nvPr/>
        </p:nvSpPr>
        <p:spPr>
          <a:xfrm>
            <a:off x="2450592" y="3602736"/>
            <a:ext cx="1481328" cy="182880"/>
          </a:xfrm>
          <a:prstGeom prst="rect">
            <a:avLst/>
          </a:prstGeom>
          <a:noFill/>
          <a:ln/>
        </p:spPr>
        <p:txBody>
          <a:bodyPr wrap="square" lIns="0" tIns="0" rIns="0" bIns="0" rtlCol="0" anchor="ctr"/>
          <a:lstStyle/>
          <a:p>
            <a:pPr algn="ctr" indent="0" marL="0">
              <a:buNone/>
            </a:pPr>
            <a:r>
              <a:rPr lang="en-US" sz="700" b="1" spc="80" kern="0" dirty="0">
                <a:solidFill>
                  <a:srgbClr val="2ECC9A"/>
                </a:solidFill>
                <a:latin typeface="Calibri" pitchFamily="34" charset="0"/>
                <a:ea typeface="Calibri" pitchFamily="34" charset="-122"/>
                <a:cs typeface="Calibri" pitchFamily="34" charset="-120"/>
              </a:rPr>
              <a:t>DGCA</a:t>
            </a:r>
            <a:endParaRPr lang="en-US" sz="700" dirty="0"/>
          </a:p>
        </p:txBody>
      </p:sp>
      <p:sp>
        <p:nvSpPr>
          <p:cNvPr id="37" name="Shape 32"/>
          <p:cNvSpPr/>
          <p:nvPr/>
        </p:nvSpPr>
        <p:spPr>
          <a:xfrm>
            <a:off x="4059936" y="3364992"/>
            <a:ext cx="128016" cy="164592"/>
          </a:xfrm>
          <a:prstGeom prst="rightArrow">
            <a:avLst/>
          </a:prstGeom>
          <a:solidFill>
            <a:srgbClr val="7B94BA"/>
          </a:solidFill>
          <a:ln w="12700">
            <a:solidFill>
              <a:srgbClr val="333333"/>
            </a:solidFill>
            <a:prstDash val="solid"/>
          </a:ln>
        </p:spPr>
        <p:txBody>
          <a:bodyPr/>
          <a:p/>
        </p:txBody>
      </p:sp>
      <p:sp>
        <p:nvSpPr>
          <p:cNvPr id="38" name="Shape 33"/>
          <p:cNvSpPr/>
          <p:nvPr/>
        </p:nvSpPr>
        <p:spPr>
          <a:xfrm>
            <a:off x="4224528" y="3054096"/>
            <a:ext cx="1700784" cy="786384"/>
          </a:xfrm>
          <a:prstGeom prst="roundRect">
            <a:avLst>
              <a:gd name="adj" fmla="val 697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sp>
        <p:nvSpPr>
          <p:cNvPr id="39" name="Text 34"/>
          <p:cNvSpPr/>
          <p:nvPr/>
        </p:nvSpPr>
        <p:spPr>
          <a:xfrm>
            <a:off x="4334256" y="3127248"/>
            <a:ext cx="148132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6,020</a:t>
            </a:r>
            <a:endParaRPr lang="en-US" sz="1300" dirty="0"/>
          </a:p>
        </p:txBody>
      </p:sp>
      <p:sp>
        <p:nvSpPr>
          <p:cNvPr id="40" name="Text 35"/>
          <p:cNvSpPr/>
          <p:nvPr/>
        </p:nvSpPr>
        <p:spPr>
          <a:xfrm>
            <a:off x="4334256" y="3419856"/>
            <a:ext cx="1481328" cy="201168"/>
          </a:xfrm>
          <a:prstGeom prst="rect">
            <a:avLst/>
          </a:prstGeom>
          <a:noFill/>
          <a:ln/>
        </p:spPr>
        <p:txBody>
          <a:bodyPr wrap="square" lIns="0" tIns="0" rIns="0" bIns="0" rtlCol="0" anchor="ctr"/>
          <a:lstStyle/>
          <a:p>
            <a:pPr algn="ctr" indent="0" marL="0">
              <a:buNone/>
            </a:pPr>
            <a:r>
              <a:rPr lang="en-US" sz="800" dirty="0">
                <a:solidFill>
                  <a:srgbClr val="A9BEDC"/>
                </a:solidFill>
                <a:latin typeface="Calibri" pitchFamily="34" charset="0"/>
                <a:ea typeface="Calibri" pitchFamily="34" charset="-122"/>
                <a:cs typeface="Calibri" pitchFamily="34" charset="-120"/>
              </a:rPr>
              <a:t>call-centre contacts</a:t>
            </a:r>
            <a:endParaRPr lang="en-US" sz="800" dirty="0"/>
          </a:p>
        </p:txBody>
      </p:sp>
      <p:sp>
        <p:nvSpPr>
          <p:cNvPr id="41" name="Text 36"/>
          <p:cNvSpPr/>
          <p:nvPr/>
        </p:nvSpPr>
        <p:spPr>
          <a:xfrm>
            <a:off x="4334256" y="3602736"/>
            <a:ext cx="1481328" cy="182880"/>
          </a:xfrm>
          <a:prstGeom prst="rect">
            <a:avLst/>
          </a:prstGeom>
          <a:noFill/>
          <a:ln/>
        </p:spPr>
        <p:txBody>
          <a:bodyPr wrap="square" lIns="0" tIns="0" rIns="0" bIns="0" rtlCol="0" anchor="ctr"/>
          <a:lstStyle/>
          <a:p>
            <a:pPr algn="ctr" indent="0" marL="0">
              <a:buNone/>
            </a:pPr>
            <a:r>
              <a:rPr lang="en-US" sz="700" b="1" spc="80" kern="0" dirty="0">
                <a:solidFill>
                  <a:srgbClr val="FFB020"/>
                </a:solidFill>
                <a:latin typeface="Calibri" pitchFamily="34" charset="0"/>
                <a:ea typeface="Calibri" pitchFamily="34" charset="-122"/>
                <a:cs typeface="Calibri" pitchFamily="34" charset="-120"/>
              </a:rPr>
              <a:t>35% assumed</a:t>
            </a:r>
            <a:endParaRPr lang="en-US" sz="700" dirty="0"/>
          </a:p>
        </p:txBody>
      </p:sp>
      <p:sp>
        <p:nvSpPr>
          <p:cNvPr id="42" name="Shape 37"/>
          <p:cNvSpPr/>
          <p:nvPr/>
        </p:nvSpPr>
        <p:spPr>
          <a:xfrm>
            <a:off x="5943600" y="3364992"/>
            <a:ext cx="128016" cy="164592"/>
          </a:xfrm>
          <a:prstGeom prst="rightArrow">
            <a:avLst/>
          </a:prstGeom>
          <a:solidFill>
            <a:srgbClr val="7B94BA"/>
          </a:solidFill>
          <a:ln w="12700">
            <a:solidFill>
              <a:srgbClr val="333333"/>
            </a:solidFill>
            <a:prstDash val="solid"/>
          </a:ln>
        </p:spPr>
        <p:txBody>
          <a:bodyPr/>
          <a:p/>
        </p:txBody>
      </p:sp>
      <p:sp>
        <p:nvSpPr>
          <p:cNvPr id="43" name="Shape 38"/>
          <p:cNvSpPr/>
          <p:nvPr/>
        </p:nvSpPr>
        <p:spPr>
          <a:xfrm>
            <a:off x="6108192" y="3054096"/>
            <a:ext cx="1700784" cy="786384"/>
          </a:xfrm>
          <a:prstGeom prst="roundRect">
            <a:avLst>
              <a:gd name="adj" fmla="val 697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sp>
        <p:nvSpPr>
          <p:cNvPr id="44" name="Text 39"/>
          <p:cNvSpPr/>
          <p:nvPr/>
        </p:nvSpPr>
        <p:spPr>
          <a:xfrm>
            <a:off x="6217920" y="3127248"/>
            <a:ext cx="148132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60%</a:t>
            </a:r>
            <a:endParaRPr lang="en-US" sz="1300" dirty="0"/>
          </a:p>
        </p:txBody>
      </p:sp>
      <p:sp>
        <p:nvSpPr>
          <p:cNvPr id="45" name="Text 40"/>
          <p:cNvSpPr/>
          <p:nvPr/>
        </p:nvSpPr>
        <p:spPr>
          <a:xfrm>
            <a:off x="6217920" y="3419856"/>
            <a:ext cx="1481328" cy="201168"/>
          </a:xfrm>
          <a:prstGeom prst="rect">
            <a:avLst/>
          </a:prstGeom>
          <a:noFill/>
          <a:ln/>
        </p:spPr>
        <p:txBody>
          <a:bodyPr wrap="square" lIns="0" tIns="0" rIns="0" bIns="0" rtlCol="0" anchor="ctr"/>
          <a:lstStyle/>
          <a:p>
            <a:pPr algn="ctr" indent="0" marL="0">
              <a:buNone/>
            </a:pPr>
            <a:r>
              <a:rPr lang="en-US" sz="800" dirty="0">
                <a:solidFill>
                  <a:srgbClr val="A9BEDC"/>
                </a:solidFill>
                <a:latin typeface="Calibri" pitchFamily="34" charset="0"/>
                <a:ea typeface="Calibri" pitchFamily="34" charset="-122"/>
                <a:cs typeface="Calibri" pitchFamily="34" charset="-120"/>
              </a:rPr>
              <a:t>deflected</a:t>
            </a:r>
            <a:endParaRPr lang="en-US" sz="800" dirty="0"/>
          </a:p>
        </p:txBody>
      </p:sp>
      <p:sp>
        <p:nvSpPr>
          <p:cNvPr id="46" name="Text 41"/>
          <p:cNvSpPr/>
          <p:nvPr/>
        </p:nvSpPr>
        <p:spPr>
          <a:xfrm>
            <a:off x="6217920" y="3602736"/>
            <a:ext cx="1481328" cy="182880"/>
          </a:xfrm>
          <a:prstGeom prst="rect">
            <a:avLst/>
          </a:prstGeom>
          <a:noFill/>
          <a:ln/>
        </p:spPr>
        <p:txBody>
          <a:bodyPr wrap="square" lIns="0" tIns="0" rIns="0" bIns="0" rtlCol="0" anchor="ctr"/>
          <a:lstStyle/>
          <a:p>
            <a:pPr algn="ctr" indent="0" marL="0">
              <a:buNone/>
            </a:pPr>
            <a:r>
              <a:rPr lang="en-US" sz="700" b="1" spc="80" kern="0" dirty="0">
                <a:solidFill>
                  <a:srgbClr val="FFB020"/>
                </a:solidFill>
                <a:latin typeface="Calibri" pitchFamily="34" charset="0"/>
                <a:ea typeface="Calibri" pitchFamily="34" charset="-122"/>
                <a:cs typeface="Calibri" pitchFamily="34" charset="-120"/>
              </a:rPr>
              <a:t>target</a:t>
            </a:r>
            <a:endParaRPr lang="en-US" sz="700" dirty="0"/>
          </a:p>
        </p:txBody>
      </p:sp>
      <p:sp>
        <p:nvSpPr>
          <p:cNvPr id="47" name="Shape 42"/>
          <p:cNvSpPr/>
          <p:nvPr/>
        </p:nvSpPr>
        <p:spPr>
          <a:xfrm>
            <a:off x="7827264" y="3364992"/>
            <a:ext cx="128016" cy="164592"/>
          </a:xfrm>
          <a:prstGeom prst="rightArrow">
            <a:avLst/>
          </a:prstGeom>
          <a:solidFill>
            <a:srgbClr val="7B94BA"/>
          </a:solidFill>
          <a:ln w="12700">
            <a:solidFill>
              <a:srgbClr val="333333"/>
            </a:solidFill>
            <a:prstDash val="solid"/>
          </a:ln>
        </p:spPr>
        <p:txBody>
          <a:bodyPr/>
          <a:p/>
        </p:txBody>
      </p:sp>
      <p:sp>
        <p:nvSpPr>
          <p:cNvPr id="48" name="Shape 43"/>
          <p:cNvSpPr/>
          <p:nvPr/>
        </p:nvSpPr>
        <p:spPr>
          <a:xfrm>
            <a:off x="7991856" y="3054096"/>
            <a:ext cx="1700784" cy="786384"/>
          </a:xfrm>
          <a:prstGeom prst="roundRect">
            <a:avLst>
              <a:gd name="adj" fmla="val 697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sp>
        <p:nvSpPr>
          <p:cNvPr id="49" name="Text 44"/>
          <p:cNvSpPr/>
          <p:nvPr/>
        </p:nvSpPr>
        <p:spPr>
          <a:xfrm>
            <a:off x="8101584" y="3127248"/>
            <a:ext cx="148132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$11.66</a:t>
            </a:r>
            <a:endParaRPr lang="en-US" sz="1300" dirty="0"/>
          </a:p>
        </p:txBody>
      </p:sp>
      <p:sp>
        <p:nvSpPr>
          <p:cNvPr id="50" name="Text 45"/>
          <p:cNvSpPr/>
          <p:nvPr/>
        </p:nvSpPr>
        <p:spPr>
          <a:xfrm>
            <a:off x="8101584" y="3419856"/>
            <a:ext cx="1481328" cy="201168"/>
          </a:xfrm>
          <a:prstGeom prst="rect">
            <a:avLst/>
          </a:prstGeom>
          <a:noFill/>
          <a:ln/>
        </p:spPr>
        <p:txBody>
          <a:bodyPr wrap="square" lIns="0" tIns="0" rIns="0" bIns="0" rtlCol="0" anchor="ctr"/>
          <a:lstStyle/>
          <a:p>
            <a:pPr algn="ctr" indent="0" marL="0">
              <a:buNone/>
            </a:pPr>
            <a:r>
              <a:rPr lang="en-US" sz="800" dirty="0">
                <a:solidFill>
                  <a:srgbClr val="A9BEDC"/>
                </a:solidFill>
                <a:latin typeface="Calibri" pitchFamily="34" charset="0"/>
                <a:ea typeface="Calibri" pitchFamily="34" charset="-122"/>
                <a:cs typeface="Calibri" pitchFamily="34" charset="-120"/>
              </a:rPr>
              <a:t>saved each</a:t>
            </a:r>
            <a:endParaRPr lang="en-US" sz="800" dirty="0"/>
          </a:p>
        </p:txBody>
      </p:sp>
      <p:sp>
        <p:nvSpPr>
          <p:cNvPr id="51" name="Text 46"/>
          <p:cNvSpPr/>
          <p:nvPr/>
        </p:nvSpPr>
        <p:spPr>
          <a:xfrm>
            <a:off x="8101584" y="3602736"/>
            <a:ext cx="1481328" cy="182880"/>
          </a:xfrm>
          <a:prstGeom prst="rect">
            <a:avLst/>
          </a:prstGeom>
          <a:noFill/>
          <a:ln/>
        </p:spPr>
        <p:txBody>
          <a:bodyPr wrap="square" lIns="0" tIns="0" rIns="0" bIns="0" rtlCol="0" anchor="ctr"/>
          <a:lstStyle/>
          <a:p>
            <a:pPr algn="ctr" indent="0" marL="0">
              <a:buNone/>
            </a:pPr>
            <a:r>
              <a:rPr lang="en-US" sz="700" b="1" spc="80" kern="0" dirty="0">
                <a:solidFill>
                  <a:srgbClr val="2ECC9A"/>
                </a:solidFill>
                <a:latin typeface="Calibri" pitchFamily="34" charset="0"/>
                <a:ea typeface="Calibri" pitchFamily="34" charset="-122"/>
                <a:cs typeface="Calibri" pitchFamily="34" charset="-120"/>
              </a:rPr>
              <a:t>Gartner</a:t>
            </a:r>
            <a:endParaRPr lang="en-US" sz="700" dirty="0"/>
          </a:p>
        </p:txBody>
      </p:sp>
      <p:sp>
        <p:nvSpPr>
          <p:cNvPr id="52" name="Shape 47"/>
          <p:cNvSpPr/>
          <p:nvPr/>
        </p:nvSpPr>
        <p:spPr>
          <a:xfrm>
            <a:off x="9710928" y="3364992"/>
            <a:ext cx="128016" cy="164592"/>
          </a:xfrm>
          <a:prstGeom prst="rightArrow">
            <a:avLst/>
          </a:prstGeom>
          <a:solidFill>
            <a:srgbClr val="7B94BA"/>
          </a:solidFill>
          <a:ln w="12700">
            <a:solidFill>
              <a:srgbClr val="333333"/>
            </a:solidFill>
            <a:prstDash val="solid"/>
          </a:ln>
        </p:spPr>
        <p:txBody>
          <a:bodyPr/>
          <a:p/>
        </p:txBody>
      </p:sp>
      <p:sp>
        <p:nvSpPr>
          <p:cNvPr id="53" name="Shape 48"/>
          <p:cNvSpPr/>
          <p:nvPr/>
        </p:nvSpPr>
        <p:spPr>
          <a:xfrm>
            <a:off x="9875520" y="3054096"/>
            <a:ext cx="1700784" cy="786384"/>
          </a:xfrm>
          <a:prstGeom prst="roundRect">
            <a:avLst>
              <a:gd name="adj" fmla="val 6977"/>
            </a:avLst>
          </a:prstGeom>
          <a:solidFill>
            <a:srgbClr val="1B3A69"/>
          </a:solidFill>
          <a:ln w="6350">
            <a:solidFill>
              <a:srgbClr val="1B3A69"/>
            </a:solidFill>
            <a:prstDash val="solid"/>
          </a:ln>
          <a:effectLst>
            <a:outerShdw sx="100000" sy="100000" kx="0" ky="0" algn="bl" rotWithShape="0" blurRad="114300" dist="25400" dir="5400000">
              <a:srgbClr val="000000">
                <a:alpha val="34000"/>
              </a:srgbClr>
            </a:outerShdw>
          </a:effectLst>
        </p:spPr>
        <p:txBody>
          <a:bodyPr/>
          <a:p/>
        </p:txBody>
      </p:sp>
      <p:sp>
        <p:nvSpPr>
          <p:cNvPr id="54" name="Text 49"/>
          <p:cNvSpPr/>
          <p:nvPr/>
        </p:nvSpPr>
        <p:spPr>
          <a:xfrm>
            <a:off x="9985248" y="3127248"/>
            <a:ext cx="1481328" cy="292608"/>
          </a:xfrm>
          <a:prstGeom prst="rect">
            <a:avLst/>
          </a:prstGeom>
          <a:noFill/>
          <a:ln/>
        </p:spPr>
        <p:txBody>
          <a:bodyPr wrap="square" lIns="0" tIns="0" rIns="0" bIns="0" rtlCol="0" anchor="ctr"/>
          <a:lstStyle/>
          <a:p>
            <a:pPr algn="ctr" indent="0" marL="0">
              <a:buNone/>
            </a:pPr>
            <a:r>
              <a:rPr lang="en-US" sz="1300" b="1" dirty="0">
                <a:solidFill>
                  <a:srgbClr val="3D9CFF"/>
                </a:solidFill>
                <a:latin typeface="Cambria" pitchFamily="34" charset="0"/>
                <a:ea typeface="Cambria" pitchFamily="34" charset="-122"/>
                <a:cs typeface="Cambria" pitchFamily="34" charset="-120"/>
              </a:rPr>
              <a:t>$42,116</a:t>
            </a:r>
            <a:endParaRPr lang="en-US" sz="1300" dirty="0"/>
          </a:p>
        </p:txBody>
      </p:sp>
      <p:sp>
        <p:nvSpPr>
          <p:cNvPr id="55" name="Text 50"/>
          <p:cNvSpPr/>
          <p:nvPr/>
        </p:nvSpPr>
        <p:spPr>
          <a:xfrm>
            <a:off x="9985248" y="3419856"/>
            <a:ext cx="1481328" cy="201168"/>
          </a:xfrm>
          <a:prstGeom prst="rect">
            <a:avLst/>
          </a:prstGeom>
          <a:noFill/>
          <a:ln/>
        </p:spPr>
        <p:txBody>
          <a:bodyPr wrap="square" lIns="0" tIns="0" rIns="0" bIns="0" rtlCol="0" anchor="ctr"/>
          <a:lstStyle/>
          <a:p>
            <a:pPr algn="ctr" indent="0" marL="0">
              <a:buNone/>
            </a:pPr>
            <a:r>
              <a:rPr lang="en-US" sz="800" dirty="0">
                <a:solidFill>
                  <a:srgbClr val="A9BEDC"/>
                </a:solidFill>
                <a:latin typeface="Calibri" pitchFamily="34" charset="0"/>
                <a:ea typeface="Calibri" pitchFamily="34" charset="-122"/>
                <a:cs typeface="Calibri" pitchFamily="34" charset="-120"/>
              </a:rPr>
              <a:t>POOL A</a:t>
            </a:r>
            <a:endParaRPr lang="en-US" sz="800" dirty="0"/>
          </a:p>
        </p:txBody>
      </p:sp>
      <p:sp>
        <p:nvSpPr>
          <p:cNvPr id="56" name="Text 51"/>
          <p:cNvSpPr/>
          <p:nvPr/>
        </p:nvSpPr>
        <p:spPr>
          <a:xfrm>
            <a:off x="9985248" y="3602736"/>
            <a:ext cx="1481328" cy="182880"/>
          </a:xfrm>
          <a:prstGeom prst="rect">
            <a:avLst/>
          </a:prstGeom>
          <a:noFill/>
          <a:ln/>
        </p:spPr>
        <p:txBody>
          <a:bodyPr wrap="square" lIns="0" tIns="0" rIns="0" bIns="0" rtlCol="0" anchor="ctr"/>
          <a:lstStyle/>
          <a:p>
            <a:pPr algn="ctr" indent="0" marL="0">
              <a:buNone/>
            </a:pPr>
            <a:r>
              <a:rPr lang="en-US" sz="700" b="1" spc="80" kern="0" dirty="0">
                <a:solidFill>
                  <a:srgbClr val="3D9CFF"/>
                </a:solidFill>
                <a:latin typeface="Calibri" pitchFamily="34" charset="0"/>
                <a:ea typeface="Calibri" pitchFamily="34" charset="-122"/>
                <a:cs typeface="Calibri" pitchFamily="34" charset="-120"/>
              </a:rPr>
              <a:t>derived</a:t>
            </a:r>
            <a:endParaRPr lang="en-US" sz="700" dirty="0"/>
          </a:p>
        </p:txBody>
      </p:sp>
      <p:sp>
        <p:nvSpPr>
          <p:cNvPr id="57" name="Shape 52"/>
          <p:cNvSpPr/>
          <p:nvPr/>
        </p:nvSpPr>
        <p:spPr>
          <a:xfrm>
            <a:off x="457200" y="4041648"/>
            <a:ext cx="5577840" cy="1847088"/>
          </a:xfrm>
          <a:prstGeom prst="roundRect">
            <a:avLst>
              <a:gd name="adj" fmla="val 2970"/>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sp>
        <p:nvSpPr>
          <p:cNvPr id="58" name="Text 53"/>
          <p:cNvSpPr/>
          <p:nvPr/>
        </p:nvSpPr>
        <p:spPr>
          <a:xfrm>
            <a:off x="676656" y="4151376"/>
            <a:ext cx="2377440" cy="201168"/>
          </a:xfrm>
          <a:prstGeom prst="rect">
            <a:avLst/>
          </a:prstGeom>
          <a:noFill/>
          <a:ln/>
        </p:spPr>
        <p:txBody>
          <a:bodyPr wrap="square" lIns="0" tIns="0" rIns="0" bIns="0" rtlCol="0" anchor="ctr"/>
          <a:lstStyle/>
          <a:p>
            <a:pPr indent="0" marL="0">
              <a:buNone/>
            </a:pPr>
            <a:r>
              <a:rPr lang="en-US" sz="850" b="1" spc="130" kern="0" dirty="0">
                <a:solidFill>
                  <a:srgbClr val="3D9CFF"/>
                </a:solidFill>
                <a:latin typeface="Calibri" pitchFamily="34" charset="0"/>
                <a:ea typeface="Calibri" pitchFamily="34" charset="-122"/>
                <a:cs typeface="Calibri" pitchFamily="34" charset="-120"/>
              </a:rPr>
              <a:t>RICE — BUILD ORDER</a:t>
            </a:r>
            <a:endParaRPr lang="en-US" sz="850" dirty="0"/>
          </a:p>
        </p:txBody>
      </p:sp>
      <p:sp>
        <p:nvSpPr>
          <p:cNvPr id="59" name="Text 54"/>
          <p:cNvSpPr/>
          <p:nvPr/>
        </p:nvSpPr>
        <p:spPr>
          <a:xfrm>
            <a:off x="3108960" y="4151376"/>
            <a:ext cx="2706624" cy="201168"/>
          </a:xfrm>
          <a:prstGeom prst="rect">
            <a:avLst/>
          </a:prstGeom>
          <a:noFill/>
          <a:ln/>
        </p:spPr>
        <p:txBody>
          <a:bodyPr wrap="square" lIns="0" tIns="0" rIns="0" bIns="0" rtlCol="0" anchor="ctr"/>
          <a:lstStyle/>
          <a:p>
            <a:pPr algn="r" indent="0" marL="0">
              <a:buNone/>
            </a:pPr>
            <a:r>
              <a:rPr lang="en-US" sz="800" dirty="0">
                <a:solidFill>
                  <a:srgbClr val="7B94BA"/>
                </a:solidFill>
                <a:latin typeface="Calibri" pitchFamily="34" charset="0"/>
                <a:ea typeface="Calibri" pitchFamily="34" charset="-122"/>
                <a:cs typeface="Calibri" pitchFamily="34" charset="-120"/>
              </a:rPr>
              <a:t>(Reach × Impact × Confidence) ÷ Effort</a:t>
            </a:r>
            <a:endParaRPr lang="en-US" sz="800" dirty="0"/>
          </a:p>
        </p:txBody>
      </p:sp>
      <p:sp>
        <p:nvSpPr>
          <p:cNvPr id="60" name="Text 55"/>
          <p:cNvSpPr/>
          <p:nvPr/>
        </p:nvSpPr>
        <p:spPr>
          <a:xfrm>
            <a:off x="676656" y="4389120"/>
            <a:ext cx="2103120" cy="237744"/>
          </a:xfrm>
          <a:prstGeom prst="rect">
            <a:avLst/>
          </a:prstGeom>
          <a:noFill/>
          <a:ln/>
        </p:spPr>
        <p:txBody>
          <a:bodyPr wrap="square" lIns="0" tIns="0" rIns="0" bIns="0" rtlCol="0" anchor="ctr"/>
          <a:lstStyle/>
          <a:p>
            <a:pPr indent="0" marL="0">
              <a:buNone/>
            </a:pPr>
            <a:r>
              <a:rPr lang="en-US" sz="850" dirty="0">
                <a:solidFill>
                  <a:srgbClr val="E8F0FB"/>
                </a:solidFill>
                <a:latin typeface="Calibri" pitchFamily="34" charset="0"/>
                <a:ea typeface="Calibri" pitchFamily="34" charset="-122"/>
                <a:cs typeface="Calibri" pitchFamily="34" charset="-120"/>
              </a:rPr>
              <a:t>P2  Predictive Watcher</a:t>
            </a:r>
            <a:endParaRPr lang="en-US" sz="850" dirty="0"/>
          </a:p>
        </p:txBody>
      </p:sp>
      <p:sp>
        <p:nvSpPr>
          <p:cNvPr id="61" name="Shape 56"/>
          <p:cNvSpPr/>
          <p:nvPr/>
        </p:nvSpPr>
        <p:spPr>
          <a:xfrm>
            <a:off x="2852928" y="4462272"/>
            <a:ext cx="2148840" cy="100584"/>
          </a:xfrm>
          <a:prstGeom prst="roundRect">
            <a:avLst>
              <a:gd name="adj" fmla="val 18182"/>
            </a:avLst>
          </a:prstGeom>
          <a:solidFill>
            <a:srgbClr val="9B8CFF"/>
          </a:solidFill>
          <a:ln w="12700">
            <a:solidFill>
              <a:srgbClr val="333333"/>
            </a:solidFill>
            <a:prstDash val="solid"/>
          </a:ln>
        </p:spPr>
        <p:txBody>
          <a:bodyPr/>
          <a:p/>
        </p:txBody>
      </p:sp>
      <p:sp>
        <p:nvSpPr>
          <p:cNvPr id="62" name="Text 57"/>
          <p:cNvSpPr/>
          <p:nvPr/>
        </p:nvSpPr>
        <p:spPr>
          <a:xfrm>
            <a:off x="5074920" y="4389120"/>
            <a:ext cx="731520" cy="237744"/>
          </a:xfrm>
          <a:prstGeom prst="rect">
            <a:avLst/>
          </a:prstGeom>
          <a:noFill/>
          <a:ln/>
        </p:spPr>
        <p:txBody>
          <a:bodyPr wrap="square" lIns="0" tIns="0" rIns="0" bIns="0" rtlCol="0" anchor="ctr"/>
          <a:lstStyle/>
          <a:p>
            <a:pPr algn="r" indent="0" marL="0">
              <a:buNone/>
            </a:pPr>
            <a:r>
              <a:rPr lang="en-US" sz="850" b="1" dirty="0">
                <a:solidFill>
                  <a:srgbClr val="9B8CFF"/>
                </a:solidFill>
                <a:latin typeface="Courier New" pitchFamily="34" charset="0"/>
                <a:ea typeface="Courier New" pitchFamily="34" charset="-122"/>
                <a:cs typeface="Courier New" pitchFamily="34" charset="-120"/>
              </a:rPr>
              <a:t>1500</a:t>
            </a:r>
            <a:endParaRPr lang="en-US" sz="850" dirty="0"/>
          </a:p>
        </p:txBody>
      </p:sp>
      <p:sp>
        <p:nvSpPr>
          <p:cNvPr id="63" name="Text 58"/>
          <p:cNvSpPr/>
          <p:nvPr/>
        </p:nvSpPr>
        <p:spPr>
          <a:xfrm>
            <a:off x="676656" y="4640580"/>
            <a:ext cx="2103120" cy="237744"/>
          </a:xfrm>
          <a:prstGeom prst="rect">
            <a:avLst/>
          </a:prstGeom>
          <a:noFill/>
          <a:ln/>
        </p:spPr>
        <p:txBody>
          <a:bodyPr wrap="square" lIns="0" tIns="0" rIns="0" bIns="0" rtlCol="0" anchor="ctr"/>
          <a:lstStyle/>
          <a:p>
            <a:pPr indent="0" marL="0">
              <a:buNone/>
            </a:pPr>
            <a:r>
              <a:rPr lang="en-US" sz="850" dirty="0">
                <a:solidFill>
                  <a:srgbClr val="E8F0FB"/>
                </a:solidFill>
                <a:latin typeface="Calibri" pitchFamily="34" charset="0"/>
                <a:ea typeface="Calibri" pitchFamily="34" charset="-122"/>
                <a:cs typeface="Calibri" pitchFamily="34" charset="-120"/>
              </a:rPr>
              <a:t>P1  Core Workflow</a:t>
            </a:r>
            <a:endParaRPr lang="en-US" sz="850" dirty="0"/>
          </a:p>
        </p:txBody>
      </p:sp>
      <p:sp>
        <p:nvSpPr>
          <p:cNvPr id="64" name="Shape 59"/>
          <p:cNvSpPr/>
          <p:nvPr/>
        </p:nvSpPr>
        <p:spPr>
          <a:xfrm>
            <a:off x="2852928" y="4713732"/>
            <a:ext cx="1848002" cy="100584"/>
          </a:xfrm>
          <a:prstGeom prst="roundRect">
            <a:avLst>
              <a:gd name="adj" fmla="val 18182"/>
            </a:avLst>
          </a:prstGeom>
          <a:solidFill>
            <a:srgbClr val="3D9CFF"/>
          </a:solidFill>
          <a:ln w="12700">
            <a:solidFill>
              <a:srgbClr val="333333"/>
            </a:solidFill>
            <a:prstDash val="solid"/>
          </a:ln>
        </p:spPr>
        <p:txBody>
          <a:bodyPr/>
          <a:p/>
        </p:txBody>
      </p:sp>
      <p:sp>
        <p:nvSpPr>
          <p:cNvPr id="65" name="Text 60"/>
          <p:cNvSpPr/>
          <p:nvPr/>
        </p:nvSpPr>
        <p:spPr>
          <a:xfrm>
            <a:off x="5074920" y="4640580"/>
            <a:ext cx="731520" cy="237744"/>
          </a:xfrm>
          <a:prstGeom prst="rect">
            <a:avLst/>
          </a:prstGeom>
          <a:noFill/>
          <a:ln/>
        </p:spPr>
        <p:txBody>
          <a:bodyPr wrap="square" lIns="0" tIns="0" rIns="0" bIns="0" rtlCol="0" anchor="ctr"/>
          <a:lstStyle/>
          <a:p>
            <a:pPr algn="r" indent="0" marL="0">
              <a:buNone/>
            </a:pPr>
            <a:r>
              <a:rPr lang="en-US" sz="850" b="1" dirty="0">
                <a:solidFill>
                  <a:srgbClr val="3D9CFF"/>
                </a:solidFill>
                <a:latin typeface="Courier New" pitchFamily="34" charset="0"/>
                <a:ea typeface="Courier New" pitchFamily="34" charset="-122"/>
                <a:cs typeface="Courier New" pitchFamily="34" charset="-120"/>
              </a:rPr>
              <a:t>1290</a:t>
            </a:r>
            <a:endParaRPr lang="en-US" sz="850" dirty="0"/>
          </a:p>
        </p:txBody>
      </p:sp>
      <p:sp>
        <p:nvSpPr>
          <p:cNvPr id="66" name="Text 61"/>
          <p:cNvSpPr/>
          <p:nvPr/>
        </p:nvSpPr>
        <p:spPr>
          <a:xfrm>
            <a:off x="676656" y="4892040"/>
            <a:ext cx="2103120" cy="237744"/>
          </a:xfrm>
          <a:prstGeom prst="rect">
            <a:avLst/>
          </a:prstGeom>
          <a:noFill/>
          <a:ln/>
        </p:spPr>
        <p:txBody>
          <a:bodyPr wrap="square" lIns="0" tIns="0" rIns="0" bIns="0" rtlCol="0" anchor="ctr"/>
          <a:lstStyle/>
          <a:p>
            <a:pPr indent="0" marL="0">
              <a:buNone/>
            </a:pPr>
            <a:r>
              <a:rPr lang="en-US" sz="850" dirty="0">
                <a:solidFill>
                  <a:srgbClr val="E8F0FB"/>
                </a:solidFill>
                <a:latin typeface="Calibri" pitchFamily="34" charset="0"/>
                <a:ea typeface="Calibri" pitchFamily="34" charset="-122"/>
                <a:cs typeface="Calibri" pitchFamily="34" charset="-120"/>
              </a:rPr>
              <a:t>P3  Cascading Logistics</a:t>
            </a:r>
            <a:endParaRPr lang="en-US" sz="850" dirty="0"/>
          </a:p>
        </p:txBody>
      </p:sp>
      <p:sp>
        <p:nvSpPr>
          <p:cNvPr id="67" name="Shape 62"/>
          <p:cNvSpPr/>
          <p:nvPr/>
        </p:nvSpPr>
        <p:spPr>
          <a:xfrm>
            <a:off x="2852928" y="4965192"/>
            <a:ext cx="647517" cy="100584"/>
          </a:xfrm>
          <a:prstGeom prst="roundRect">
            <a:avLst>
              <a:gd name="adj" fmla="val 18182"/>
            </a:avLst>
          </a:prstGeom>
          <a:solidFill>
            <a:srgbClr val="2ECC9A"/>
          </a:solidFill>
          <a:ln w="12700">
            <a:solidFill>
              <a:srgbClr val="333333"/>
            </a:solidFill>
            <a:prstDash val="solid"/>
          </a:ln>
        </p:spPr>
        <p:txBody>
          <a:bodyPr/>
          <a:p/>
        </p:txBody>
      </p:sp>
      <p:sp>
        <p:nvSpPr>
          <p:cNvPr id="68" name="Text 63"/>
          <p:cNvSpPr/>
          <p:nvPr/>
        </p:nvSpPr>
        <p:spPr>
          <a:xfrm>
            <a:off x="5074920" y="4892040"/>
            <a:ext cx="731520" cy="237744"/>
          </a:xfrm>
          <a:prstGeom prst="rect">
            <a:avLst/>
          </a:prstGeom>
          <a:noFill/>
          <a:ln/>
        </p:spPr>
        <p:txBody>
          <a:bodyPr wrap="square" lIns="0" tIns="0" rIns="0" bIns="0" rtlCol="0" anchor="ctr"/>
          <a:lstStyle/>
          <a:p>
            <a:pPr algn="r" indent="0" marL="0">
              <a:buNone/>
            </a:pPr>
            <a:r>
              <a:rPr lang="en-US" sz="850" b="1" dirty="0">
                <a:solidFill>
                  <a:srgbClr val="2ECC9A"/>
                </a:solidFill>
                <a:latin typeface="Courier New" pitchFamily="34" charset="0"/>
                <a:ea typeface="Courier New" pitchFamily="34" charset="-122"/>
                <a:cs typeface="Courier New" pitchFamily="34" charset="-120"/>
              </a:rPr>
              <a:t>452</a:t>
            </a:r>
            <a:endParaRPr lang="en-US" sz="850" dirty="0"/>
          </a:p>
        </p:txBody>
      </p:sp>
      <p:sp>
        <p:nvSpPr>
          <p:cNvPr id="69" name="Text 64"/>
          <p:cNvSpPr/>
          <p:nvPr/>
        </p:nvSpPr>
        <p:spPr>
          <a:xfrm>
            <a:off x="676656" y="5143500"/>
            <a:ext cx="2103120" cy="237744"/>
          </a:xfrm>
          <a:prstGeom prst="rect">
            <a:avLst/>
          </a:prstGeom>
          <a:noFill/>
          <a:ln/>
        </p:spPr>
        <p:txBody>
          <a:bodyPr wrap="square" lIns="0" tIns="0" rIns="0" bIns="0" rtlCol="0" anchor="ctr"/>
          <a:lstStyle/>
          <a:p>
            <a:pPr indent="0" marL="0">
              <a:buNone/>
            </a:pPr>
            <a:r>
              <a:rPr lang="en-US" sz="850" dirty="0">
                <a:solidFill>
                  <a:srgbClr val="E8F0FB"/>
                </a:solidFill>
                <a:latin typeface="Calibri" pitchFamily="34" charset="0"/>
                <a:ea typeface="Calibri" pitchFamily="34" charset="-122"/>
                <a:cs typeface="Calibri" pitchFamily="34" charset="-120"/>
              </a:rPr>
              <a:t>P4  Conversational Fallback</a:t>
            </a:r>
            <a:endParaRPr lang="en-US" sz="850" dirty="0"/>
          </a:p>
        </p:txBody>
      </p:sp>
      <p:sp>
        <p:nvSpPr>
          <p:cNvPr id="70" name="Shape 65"/>
          <p:cNvSpPr/>
          <p:nvPr/>
        </p:nvSpPr>
        <p:spPr>
          <a:xfrm>
            <a:off x="2852928" y="5216652"/>
            <a:ext cx="610271" cy="100584"/>
          </a:xfrm>
          <a:prstGeom prst="roundRect">
            <a:avLst>
              <a:gd name="adj" fmla="val 18182"/>
            </a:avLst>
          </a:prstGeom>
          <a:solidFill>
            <a:srgbClr val="FFB020"/>
          </a:solidFill>
          <a:ln w="12700">
            <a:solidFill>
              <a:srgbClr val="333333"/>
            </a:solidFill>
            <a:prstDash val="solid"/>
          </a:ln>
        </p:spPr>
        <p:txBody>
          <a:bodyPr/>
          <a:p/>
        </p:txBody>
      </p:sp>
      <p:sp>
        <p:nvSpPr>
          <p:cNvPr id="71" name="Text 66"/>
          <p:cNvSpPr/>
          <p:nvPr/>
        </p:nvSpPr>
        <p:spPr>
          <a:xfrm>
            <a:off x="5074920" y="5143500"/>
            <a:ext cx="731520" cy="237744"/>
          </a:xfrm>
          <a:prstGeom prst="rect">
            <a:avLst/>
          </a:prstGeom>
          <a:noFill/>
          <a:ln/>
        </p:spPr>
        <p:txBody>
          <a:bodyPr wrap="square" lIns="0" tIns="0" rIns="0" bIns="0" rtlCol="0" anchor="ctr"/>
          <a:lstStyle/>
          <a:p>
            <a:pPr algn="r" indent="0" marL="0">
              <a:buNone/>
            </a:pPr>
            <a:r>
              <a:rPr lang="en-US" sz="850" b="1" dirty="0">
                <a:solidFill>
                  <a:srgbClr val="FFB020"/>
                </a:solidFill>
                <a:latin typeface="Courier New" pitchFamily="34" charset="0"/>
                <a:ea typeface="Courier New" pitchFamily="34" charset="-122"/>
                <a:cs typeface="Courier New" pitchFamily="34" charset="-120"/>
              </a:rPr>
              <a:t>426</a:t>
            </a:r>
            <a:endParaRPr lang="en-US" sz="850" dirty="0"/>
          </a:p>
        </p:txBody>
      </p:sp>
      <p:sp>
        <p:nvSpPr>
          <p:cNvPr id="72" name="Text 67"/>
          <p:cNvSpPr/>
          <p:nvPr/>
        </p:nvSpPr>
        <p:spPr>
          <a:xfrm>
            <a:off x="676656" y="5394960"/>
            <a:ext cx="2103120" cy="237744"/>
          </a:xfrm>
          <a:prstGeom prst="rect">
            <a:avLst/>
          </a:prstGeom>
          <a:noFill/>
          <a:ln/>
        </p:spPr>
        <p:txBody>
          <a:bodyPr wrap="square" lIns="0" tIns="0" rIns="0" bIns="0" rtlCol="0" anchor="ctr"/>
          <a:lstStyle/>
          <a:p>
            <a:pPr indent="0" marL="0">
              <a:buNone/>
            </a:pPr>
            <a:r>
              <a:rPr lang="en-US" sz="850" dirty="0">
                <a:solidFill>
                  <a:srgbClr val="E8F0FB"/>
                </a:solidFill>
                <a:latin typeface="Calibri" pitchFamily="34" charset="0"/>
                <a:ea typeface="Calibri" pitchFamily="34" charset="-122"/>
                <a:cs typeface="Calibri" pitchFamily="34" charset="-120"/>
              </a:rPr>
              <a:t>P5  Duty-of-Care Enforcer</a:t>
            </a:r>
            <a:endParaRPr lang="en-US" sz="850" dirty="0"/>
          </a:p>
        </p:txBody>
      </p:sp>
      <p:sp>
        <p:nvSpPr>
          <p:cNvPr id="73" name="Shape 68"/>
          <p:cNvSpPr/>
          <p:nvPr/>
        </p:nvSpPr>
        <p:spPr>
          <a:xfrm>
            <a:off x="2852928" y="5468112"/>
            <a:ext cx="415442" cy="100584"/>
          </a:xfrm>
          <a:prstGeom prst="roundRect">
            <a:avLst>
              <a:gd name="adj" fmla="val 18182"/>
            </a:avLst>
          </a:prstGeom>
          <a:solidFill>
            <a:srgbClr val="FF6B6B"/>
          </a:solidFill>
          <a:ln w="12700">
            <a:solidFill>
              <a:srgbClr val="333333"/>
            </a:solidFill>
            <a:prstDash val="solid"/>
          </a:ln>
        </p:spPr>
        <p:txBody>
          <a:bodyPr/>
          <a:p/>
        </p:txBody>
      </p:sp>
      <p:sp>
        <p:nvSpPr>
          <p:cNvPr id="74" name="Text 69"/>
          <p:cNvSpPr/>
          <p:nvPr/>
        </p:nvSpPr>
        <p:spPr>
          <a:xfrm>
            <a:off x="5074920" y="5394960"/>
            <a:ext cx="731520" cy="237744"/>
          </a:xfrm>
          <a:prstGeom prst="rect">
            <a:avLst/>
          </a:prstGeom>
          <a:noFill/>
          <a:ln/>
        </p:spPr>
        <p:txBody>
          <a:bodyPr wrap="square" lIns="0" tIns="0" rIns="0" bIns="0" rtlCol="0" anchor="ctr"/>
          <a:lstStyle/>
          <a:p>
            <a:pPr algn="r" indent="0" marL="0">
              <a:buNone/>
            </a:pPr>
            <a:r>
              <a:rPr lang="en-US" sz="850" b="1" dirty="0">
                <a:solidFill>
                  <a:srgbClr val="FF6B6B"/>
                </a:solidFill>
                <a:latin typeface="Courier New" pitchFamily="34" charset="0"/>
                <a:ea typeface="Courier New" pitchFamily="34" charset="-122"/>
                <a:cs typeface="Courier New" pitchFamily="34" charset="-120"/>
              </a:rPr>
              <a:t>290</a:t>
            </a:r>
            <a:endParaRPr lang="en-US" sz="850" dirty="0"/>
          </a:p>
        </p:txBody>
      </p:sp>
      <p:sp>
        <p:nvSpPr>
          <p:cNvPr id="75" name="Text 70"/>
          <p:cNvSpPr/>
          <p:nvPr/>
        </p:nvSpPr>
        <p:spPr>
          <a:xfrm>
            <a:off x="676656" y="5669280"/>
            <a:ext cx="5138928" cy="201168"/>
          </a:xfrm>
          <a:prstGeom prst="rect">
            <a:avLst/>
          </a:prstGeom>
          <a:noFill/>
          <a:ln/>
        </p:spPr>
        <p:txBody>
          <a:bodyPr wrap="square" lIns="0" tIns="0" rIns="0" bIns="0" rtlCol="0" anchor="ctr"/>
          <a:lstStyle/>
          <a:p>
            <a:pPr indent="0" marL="0">
              <a:lnSpc>
                <a:spcPts val="1000"/>
              </a:lnSpc>
              <a:buNone/>
            </a:pPr>
            <a:r>
              <a:rPr lang="en-US" sz="800" i="1" dirty="0">
                <a:solidFill>
                  <a:srgbClr val="A9BEDC"/>
                </a:solidFill>
                <a:latin typeface="Calibri" pitchFamily="34" charset="0"/>
                <a:ea typeface="Calibri" pitchFamily="34" charset="-122"/>
                <a:cs typeface="Calibri" pitchFamily="34" charset="-120"/>
              </a:rPr>
              <a:t>RICE ranks P2 first on reach, but we build to order and demo P1 + P4.</a:t>
            </a:r>
            <a:endParaRPr lang="en-US" sz="800" dirty="0"/>
          </a:p>
        </p:txBody>
      </p:sp>
      <p:sp>
        <p:nvSpPr>
          <p:cNvPr id="76" name="Shape 71"/>
          <p:cNvSpPr/>
          <p:nvPr/>
        </p:nvSpPr>
        <p:spPr>
          <a:xfrm>
            <a:off x="6291072" y="4041648"/>
            <a:ext cx="5440680" cy="1847088"/>
          </a:xfrm>
          <a:prstGeom prst="roundRect">
            <a:avLst>
              <a:gd name="adj" fmla="val 2970"/>
            </a:avLst>
          </a:prstGeom>
          <a:solidFill>
            <a:srgbClr val="1B3A69"/>
          </a:solidFill>
          <a:ln w="6350">
            <a:solidFill>
              <a:srgbClr val="1B3A69"/>
            </a:solidFill>
            <a:prstDash val="solid"/>
          </a:ln>
          <a:effectLst>
            <a:outerShdw sx="100000" sy="100000" kx="0" ky="0" algn="bl" rotWithShape="0" blurRad="114300" dist="25400" dir="5400000">
              <a:srgbClr val="000000">
                <a:alpha val="34000"/>
              </a:srgbClr>
            </a:outerShdw>
          </a:effectLst>
        </p:spPr>
        <p:txBody>
          <a:bodyPr/>
          <a:p/>
        </p:txBody>
      </p:sp>
      <p:sp>
        <p:nvSpPr>
          <p:cNvPr id="77" name="Text 72"/>
          <p:cNvSpPr/>
          <p:nvPr/>
        </p:nvSpPr>
        <p:spPr>
          <a:xfrm>
            <a:off x="6492240" y="4151376"/>
            <a:ext cx="5029200" cy="201168"/>
          </a:xfrm>
          <a:prstGeom prst="rect">
            <a:avLst/>
          </a:prstGeom>
          <a:noFill/>
          <a:ln/>
        </p:spPr>
        <p:txBody>
          <a:bodyPr wrap="square" lIns="0" tIns="0" rIns="0" bIns="0" rtlCol="0" anchor="ctr"/>
          <a:lstStyle/>
          <a:p>
            <a:pPr indent="0" marL="0">
              <a:buNone/>
            </a:pPr>
            <a:r>
              <a:rPr lang="en-US" sz="850" b="1" spc="130" kern="0" dirty="0">
                <a:solidFill>
                  <a:srgbClr val="2ECC9A"/>
                </a:solidFill>
                <a:latin typeface="Calibri" pitchFamily="34" charset="0"/>
                <a:ea typeface="Calibri" pitchFamily="34" charset="-122"/>
                <a:cs typeface="Calibri" pitchFamily="34" charset="-120"/>
              </a:rPr>
              <a:t>SUCCESS METRICS — THE THREE THE BRIEF ASKS FOR, DEFINED</a:t>
            </a:r>
            <a:endParaRPr lang="en-US" sz="850" dirty="0"/>
          </a:p>
        </p:txBody>
      </p:sp>
      <p:sp>
        <p:nvSpPr>
          <p:cNvPr id="78" name="Text 73"/>
          <p:cNvSpPr/>
          <p:nvPr/>
        </p:nvSpPr>
        <p:spPr>
          <a:xfrm>
            <a:off x="6492240" y="4389120"/>
            <a:ext cx="1691640" cy="25603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Detection speed</a:t>
            </a:r>
            <a:endParaRPr lang="en-US" sz="850" dirty="0"/>
          </a:p>
        </p:txBody>
      </p:sp>
      <p:sp>
        <p:nvSpPr>
          <p:cNvPr id="79" name="Text 74"/>
          <p:cNvSpPr/>
          <p:nvPr/>
        </p:nvSpPr>
        <p:spPr>
          <a:xfrm>
            <a:off x="8229600" y="4389120"/>
            <a:ext cx="2103120" cy="256032"/>
          </a:xfrm>
          <a:prstGeom prst="rect">
            <a:avLst/>
          </a:prstGeom>
          <a:noFill/>
          <a:ln/>
        </p:spPr>
        <p:txBody>
          <a:bodyPr wrap="square" lIns="0" tIns="0" rIns="0" bIns="0" rtlCol="0" anchor="ctr"/>
          <a:lstStyle/>
          <a:p>
            <a:pPr indent="0" marL="0">
              <a:buNone/>
            </a:pPr>
            <a:r>
              <a:rPr lang="en-US" sz="750" dirty="0">
                <a:solidFill>
                  <a:srgbClr val="A9BEDC"/>
                </a:solidFill>
                <a:latin typeface="Courier New" pitchFamily="34" charset="0"/>
                <a:ea typeface="Courier New" pitchFamily="34" charset="-122"/>
                <a:cs typeface="Courier New" pitchFamily="34" charset="-120"/>
              </a:rPr>
              <a:t>delay-ratio crossing → action</a:t>
            </a:r>
            <a:endParaRPr lang="en-US" sz="750" dirty="0"/>
          </a:p>
        </p:txBody>
      </p:sp>
      <p:sp>
        <p:nvSpPr>
          <p:cNvPr id="80" name="Text 75"/>
          <p:cNvSpPr/>
          <p:nvPr/>
        </p:nvSpPr>
        <p:spPr>
          <a:xfrm>
            <a:off x="10332720" y="4389120"/>
            <a:ext cx="1207008" cy="256032"/>
          </a:xfrm>
          <a:prstGeom prst="rect">
            <a:avLst/>
          </a:prstGeom>
          <a:noFill/>
          <a:ln/>
        </p:spPr>
        <p:txBody>
          <a:bodyPr wrap="square" lIns="0" tIns="0" rIns="0" bIns="0" rtlCol="0" anchor="ctr"/>
          <a:lstStyle/>
          <a:p>
            <a:pPr algn="r" indent="0" marL="0">
              <a:buNone/>
            </a:pPr>
            <a:r>
              <a:rPr lang="en-US" sz="850" b="1" dirty="0">
                <a:solidFill>
                  <a:srgbClr val="3D9CFF"/>
                </a:solidFill>
                <a:latin typeface="Calibri" pitchFamily="34" charset="0"/>
                <a:ea typeface="Calibri" pitchFamily="34" charset="-122"/>
                <a:cs typeface="Calibri" pitchFamily="34" charset="-120"/>
              </a:rPr>
              <a:t>8 s, modelled</a:t>
            </a:r>
            <a:endParaRPr lang="en-US" sz="850" dirty="0"/>
          </a:p>
        </p:txBody>
      </p:sp>
      <p:sp>
        <p:nvSpPr>
          <p:cNvPr id="81" name="Text 76"/>
          <p:cNvSpPr/>
          <p:nvPr/>
        </p:nvSpPr>
        <p:spPr>
          <a:xfrm>
            <a:off x="6492240" y="4640580"/>
            <a:ext cx="1691640" cy="25603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Rebooking success rate</a:t>
            </a:r>
            <a:endParaRPr lang="en-US" sz="850" dirty="0"/>
          </a:p>
        </p:txBody>
      </p:sp>
      <p:sp>
        <p:nvSpPr>
          <p:cNvPr id="82" name="Text 77"/>
          <p:cNvSpPr/>
          <p:nvPr/>
        </p:nvSpPr>
        <p:spPr>
          <a:xfrm>
            <a:off x="8229600" y="4640580"/>
            <a:ext cx="2103120" cy="256032"/>
          </a:xfrm>
          <a:prstGeom prst="rect">
            <a:avLst/>
          </a:prstGeom>
          <a:noFill/>
          <a:ln/>
        </p:spPr>
        <p:txBody>
          <a:bodyPr wrap="square" lIns="0" tIns="0" rIns="0" bIns="0" rtlCol="0" anchor="ctr"/>
          <a:lstStyle/>
          <a:p>
            <a:pPr indent="0" marL="0">
              <a:buNone/>
            </a:pPr>
            <a:r>
              <a:rPr lang="en-US" sz="750" dirty="0">
                <a:solidFill>
                  <a:srgbClr val="A9BEDC"/>
                </a:solidFill>
                <a:latin typeface="Courier New" pitchFamily="34" charset="0"/>
                <a:ea typeface="Courier New" pitchFamily="34" charset="-122"/>
                <a:cs typeface="Courier New" pitchFamily="34" charset="-120"/>
              </a:rPr>
              <a:t>same-day seat, constraint held</a:t>
            </a:r>
            <a:endParaRPr lang="en-US" sz="750" dirty="0"/>
          </a:p>
        </p:txBody>
      </p:sp>
      <p:sp>
        <p:nvSpPr>
          <p:cNvPr id="83" name="Text 78"/>
          <p:cNvSpPr/>
          <p:nvPr/>
        </p:nvSpPr>
        <p:spPr>
          <a:xfrm>
            <a:off x="10332720" y="4640580"/>
            <a:ext cx="1207008" cy="256032"/>
          </a:xfrm>
          <a:prstGeom prst="rect">
            <a:avLst/>
          </a:prstGeom>
          <a:noFill/>
          <a:ln/>
        </p:spPr>
        <p:txBody>
          <a:bodyPr wrap="square" lIns="0" tIns="0" rIns="0" bIns="0" rtlCol="0" anchor="ctr"/>
          <a:lstStyle/>
          <a:p>
            <a:pPr algn="r" indent="0" marL="0">
              <a:buNone/>
            </a:pPr>
            <a:r>
              <a:rPr lang="en-US" sz="850" b="1" dirty="0">
                <a:solidFill>
                  <a:srgbClr val="3D9CFF"/>
                </a:solidFill>
                <a:latin typeface="Calibri" pitchFamily="34" charset="0"/>
                <a:ea typeface="Calibri" pitchFamily="34" charset="-122"/>
                <a:cs typeface="Calibri" pitchFamily="34" charset="-120"/>
              </a:rPr>
              <a:t>65.5% modelled</a:t>
            </a:r>
            <a:endParaRPr lang="en-US" sz="850" dirty="0"/>
          </a:p>
        </p:txBody>
      </p:sp>
      <p:sp>
        <p:nvSpPr>
          <p:cNvPr id="84" name="Text 79"/>
          <p:cNvSpPr/>
          <p:nvPr/>
        </p:nvSpPr>
        <p:spPr>
          <a:xfrm>
            <a:off x="6492240" y="4892040"/>
            <a:ext cx="1691640" cy="25603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Notification clarity</a:t>
            </a:r>
            <a:endParaRPr lang="en-US" sz="850" dirty="0"/>
          </a:p>
        </p:txBody>
      </p:sp>
      <p:sp>
        <p:nvSpPr>
          <p:cNvPr id="85" name="Text 80"/>
          <p:cNvSpPr/>
          <p:nvPr/>
        </p:nvSpPr>
        <p:spPr>
          <a:xfrm>
            <a:off x="8229600" y="4892040"/>
            <a:ext cx="2103120" cy="256032"/>
          </a:xfrm>
          <a:prstGeom prst="rect">
            <a:avLst/>
          </a:prstGeom>
          <a:noFill/>
          <a:ln/>
        </p:spPr>
        <p:txBody>
          <a:bodyPr wrap="square" lIns="0" tIns="0" rIns="0" bIns="0" rtlCol="0" anchor="ctr"/>
          <a:lstStyle/>
          <a:p>
            <a:pPr indent="0" marL="0">
              <a:buNone/>
            </a:pPr>
            <a:r>
              <a:rPr lang="en-US" sz="750" dirty="0">
                <a:solidFill>
                  <a:srgbClr val="A9BEDC"/>
                </a:solidFill>
                <a:latin typeface="Courier New" pitchFamily="34" charset="0"/>
                <a:ea typeface="Courier New" pitchFamily="34" charset="-122"/>
                <a:cs typeface="Courier New" pitchFamily="34" charset="-120"/>
              </a:rPr>
              <a:t>FCM delivered ÷ accepted</a:t>
            </a:r>
            <a:endParaRPr lang="en-US" sz="750" dirty="0"/>
          </a:p>
        </p:txBody>
      </p:sp>
      <p:sp>
        <p:nvSpPr>
          <p:cNvPr id="86" name="Text 81"/>
          <p:cNvSpPr/>
          <p:nvPr/>
        </p:nvSpPr>
        <p:spPr>
          <a:xfrm>
            <a:off x="10332720" y="4892040"/>
            <a:ext cx="1207008" cy="256032"/>
          </a:xfrm>
          <a:prstGeom prst="rect">
            <a:avLst/>
          </a:prstGeom>
          <a:noFill/>
          <a:ln/>
        </p:spPr>
        <p:txBody>
          <a:bodyPr wrap="square" lIns="0" tIns="0" rIns="0" bIns="0" rtlCol="0" anchor="ctr"/>
          <a:lstStyle/>
          <a:p>
            <a:pPr algn="r" indent="0" marL="0">
              <a:buNone/>
            </a:pPr>
            <a:r>
              <a:rPr lang="en-US" sz="850" b="1" dirty="0">
                <a:solidFill>
                  <a:srgbClr val="2ECC9A"/>
                </a:solidFill>
                <a:latin typeface="Calibri" pitchFamily="34" charset="0"/>
                <a:ea typeface="Calibri" pitchFamily="34" charset="-122"/>
                <a:cs typeface="Calibri" pitchFamily="34" charset="-120"/>
              </a:rPr>
              <a:t>≥ 97%</a:t>
            </a:r>
            <a:endParaRPr lang="en-US" sz="850" dirty="0"/>
          </a:p>
        </p:txBody>
      </p:sp>
      <p:sp>
        <p:nvSpPr>
          <p:cNvPr id="87" name="Text 82"/>
          <p:cNvSpPr/>
          <p:nvPr/>
        </p:nvSpPr>
        <p:spPr>
          <a:xfrm>
            <a:off x="6492240" y="5143500"/>
            <a:ext cx="1691640" cy="25603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Policy adherence</a:t>
            </a:r>
            <a:endParaRPr lang="en-US" sz="850" dirty="0"/>
          </a:p>
        </p:txBody>
      </p:sp>
      <p:sp>
        <p:nvSpPr>
          <p:cNvPr id="88" name="Text 83"/>
          <p:cNvSpPr/>
          <p:nvPr/>
        </p:nvSpPr>
        <p:spPr>
          <a:xfrm>
            <a:off x="8229600" y="5143500"/>
            <a:ext cx="2103120" cy="256032"/>
          </a:xfrm>
          <a:prstGeom prst="rect">
            <a:avLst/>
          </a:prstGeom>
          <a:noFill/>
          <a:ln/>
        </p:spPr>
        <p:txBody>
          <a:bodyPr wrap="square" lIns="0" tIns="0" rIns="0" bIns="0" rtlCol="0" anchor="ctr"/>
          <a:lstStyle/>
          <a:p>
            <a:pPr indent="0" marL="0">
              <a:buNone/>
            </a:pPr>
            <a:r>
              <a:rPr lang="en-US" sz="750" dirty="0">
                <a:solidFill>
                  <a:srgbClr val="A9BEDC"/>
                </a:solidFill>
                <a:latin typeface="Courier New" pitchFamily="34" charset="0"/>
                <a:ea typeface="Courier New" pitchFamily="34" charset="-122"/>
                <a:cs typeface="Courier New" pitchFamily="34" charset="-120"/>
              </a:rPr>
              <a:t>actions with an OPA allow</a:t>
            </a:r>
            <a:endParaRPr lang="en-US" sz="750" dirty="0"/>
          </a:p>
        </p:txBody>
      </p:sp>
      <p:sp>
        <p:nvSpPr>
          <p:cNvPr id="89" name="Text 84"/>
          <p:cNvSpPr/>
          <p:nvPr/>
        </p:nvSpPr>
        <p:spPr>
          <a:xfrm>
            <a:off x="10332720" y="5143500"/>
            <a:ext cx="1207008" cy="256032"/>
          </a:xfrm>
          <a:prstGeom prst="rect">
            <a:avLst/>
          </a:prstGeom>
          <a:noFill/>
          <a:ln/>
        </p:spPr>
        <p:txBody>
          <a:bodyPr wrap="square" lIns="0" tIns="0" rIns="0" bIns="0" rtlCol="0" anchor="ctr"/>
          <a:lstStyle/>
          <a:p>
            <a:pPr algn="r" indent="0" marL="0">
              <a:buNone/>
            </a:pPr>
            <a:r>
              <a:rPr lang="en-US" sz="850" b="1" dirty="0">
                <a:solidFill>
                  <a:srgbClr val="9B8CFF"/>
                </a:solidFill>
                <a:latin typeface="Calibri" pitchFamily="34" charset="0"/>
                <a:ea typeface="Calibri" pitchFamily="34" charset="-122"/>
                <a:cs typeface="Calibri" pitchFamily="34" charset="-120"/>
              </a:rPr>
              <a:t>100%  hard gate</a:t>
            </a:r>
            <a:endParaRPr lang="en-US" sz="850" dirty="0"/>
          </a:p>
        </p:txBody>
      </p:sp>
      <p:sp>
        <p:nvSpPr>
          <p:cNvPr id="90" name="Text 85"/>
          <p:cNvSpPr/>
          <p:nvPr/>
        </p:nvSpPr>
        <p:spPr>
          <a:xfrm>
            <a:off x="6492240" y="5394960"/>
            <a:ext cx="1691640" cy="25603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Hallucinated bookings</a:t>
            </a:r>
            <a:endParaRPr lang="en-US" sz="850" dirty="0"/>
          </a:p>
        </p:txBody>
      </p:sp>
      <p:sp>
        <p:nvSpPr>
          <p:cNvPr id="91" name="Text 86"/>
          <p:cNvSpPr/>
          <p:nvPr/>
        </p:nvSpPr>
        <p:spPr>
          <a:xfrm>
            <a:off x="8229600" y="5394960"/>
            <a:ext cx="2103120" cy="256032"/>
          </a:xfrm>
          <a:prstGeom prst="rect">
            <a:avLst/>
          </a:prstGeom>
          <a:noFill/>
          <a:ln/>
        </p:spPr>
        <p:txBody>
          <a:bodyPr wrap="square" lIns="0" tIns="0" rIns="0" bIns="0" rtlCol="0" anchor="ctr"/>
          <a:lstStyle/>
          <a:p>
            <a:pPr indent="0" marL="0">
              <a:buNone/>
            </a:pPr>
            <a:r>
              <a:rPr lang="en-US" sz="750" dirty="0">
                <a:solidFill>
                  <a:srgbClr val="A9BEDC"/>
                </a:solidFill>
                <a:latin typeface="Courier New" pitchFamily="34" charset="0"/>
                <a:ea typeface="Courier New" pitchFamily="34" charset="-122"/>
                <a:cs typeface="Courier New" pitchFamily="34" charset="-120"/>
              </a:rPr>
              <a:t>no valid supplier offer ID</a:t>
            </a:r>
            <a:endParaRPr lang="en-US" sz="750" dirty="0"/>
          </a:p>
        </p:txBody>
      </p:sp>
      <p:sp>
        <p:nvSpPr>
          <p:cNvPr id="92" name="Text 87"/>
          <p:cNvSpPr/>
          <p:nvPr/>
        </p:nvSpPr>
        <p:spPr>
          <a:xfrm>
            <a:off x="10332720" y="5394960"/>
            <a:ext cx="1207008" cy="256032"/>
          </a:xfrm>
          <a:prstGeom prst="rect">
            <a:avLst/>
          </a:prstGeom>
          <a:noFill/>
          <a:ln/>
        </p:spPr>
        <p:txBody>
          <a:bodyPr wrap="square" lIns="0" tIns="0" rIns="0" bIns="0" rtlCol="0" anchor="ctr"/>
          <a:lstStyle/>
          <a:p>
            <a:pPr algn="r" indent="0" marL="0">
              <a:buNone/>
            </a:pPr>
            <a:r>
              <a:rPr lang="en-US" sz="850" b="1" dirty="0">
                <a:solidFill>
                  <a:srgbClr val="9B8CFF"/>
                </a:solidFill>
                <a:latin typeface="Calibri" pitchFamily="34" charset="0"/>
                <a:ea typeface="Calibri" pitchFamily="34" charset="-122"/>
                <a:cs typeface="Calibri" pitchFamily="34" charset="-120"/>
              </a:rPr>
              <a:t>0  by construction</a:t>
            </a:r>
            <a:endParaRPr lang="en-US" sz="850" dirty="0"/>
          </a:p>
        </p:txBody>
      </p:sp>
      <p:sp>
        <p:nvSpPr>
          <p:cNvPr id="93" name="Text 88"/>
          <p:cNvSpPr/>
          <p:nvPr/>
        </p:nvSpPr>
        <p:spPr>
          <a:xfrm>
            <a:off x="6492240" y="5669280"/>
            <a:ext cx="5029200" cy="201168"/>
          </a:xfrm>
          <a:prstGeom prst="rect">
            <a:avLst/>
          </a:prstGeom>
          <a:noFill/>
          <a:ln/>
        </p:spPr>
        <p:txBody>
          <a:bodyPr wrap="square" lIns="0" tIns="0" rIns="0" bIns="0" rtlCol="0" anchor="ctr"/>
          <a:lstStyle/>
          <a:p>
            <a:pPr indent="0" marL="0">
              <a:lnSpc>
                <a:spcPts val="1000"/>
              </a:lnSpc>
              <a:buNone/>
            </a:pPr>
            <a:r>
              <a:rPr lang="en-US" sz="800" i="1" dirty="0">
                <a:solidFill>
                  <a:srgbClr val="E8F0FB"/>
                </a:solidFill>
                <a:latin typeface="Calibri" pitchFamily="34" charset="0"/>
                <a:ea typeface="Calibri" pitchFamily="34" charset="-122"/>
                <a:cs typeface="Calibri" pitchFamily="34" charset="-120"/>
              </a:rPr>
              <a:t>Outcome mix from a 250,000-case Monte Carlo at a fixed seed: A 52.6% · B 12.9% · C 27.6% · D 6.9%. Reproducible — python3 iropssim.py.</a:t>
            </a:r>
            <a:endParaRPr lang="en-US" sz="800" dirty="0"/>
          </a:p>
        </p:txBody>
      </p:sp>
      <p:sp>
        <p:nvSpPr>
          <p:cNvPr id="94" name="Text 89"/>
          <p:cNvSpPr/>
          <p:nvPr/>
        </p:nvSpPr>
        <p:spPr>
          <a:xfrm>
            <a:off x="457200" y="6382512"/>
            <a:ext cx="11274552" cy="310896"/>
          </a:xfrm>
          <a:prstGeom prst="rect">
            <a:avLst/>
          </a:prstGeom>
          <a:noFill/>
          <a:ln/>
        </p:spPr>
        <p:txBody>
          <a:bodyPr wrap="square" lIns="0" tIns="0" rIns="0" bIns="0" rtlCol="0" anchor="t"/>
          <a:lstStyle/>
          <a:p>
            <a:pPr indent="0" marL="0">
              <a:buNone/>
            </a:pPr>
            <a:r>
              <a:rPr lang="en-US" sz="750" b="1" spc="120" kern="0" dirty="0">
                <a:solidFill>
                  <a:srgbClr val="7B94BA"/>
                </a:solidFill>
                <a:latin typeface="Calibri" pitchFamily="34" charset="0"/>
                <a:ea typeface="Calibri" pitchFamily="34" charset="-122"/>
                <a:cs typeface="Calibri" pitchFamily="34" charset="-120"/>
              </a:rPr>
              <a:t>SOURCES  </a:t>
            </a:r>
            <a:pPr indent="0" marL="0">
              <a:buNone/>
            </a:pPr>
            <a:r>
              <a:rPr lang="en-US" sz="750" dirty="0">
                <a:solidFill>
                  <a:srgbClr val="7B94BA"/>
                </a:solidFill>
                <a:latin typeface="Calibri" pitchFamily="34" charset="0"/>
                <a:ea typeface="Calibri" pitchFamily="34" charset="-122"/>
                <a:cs typeface="Calibri" pitchFamily="34" charset="-120"/>
              </a:rPr>
              <a:t>DGCA monthly OTP (IndiGo 82.8%, May 2026) for the disruption rate; Gartner cost-per-contact benchmarks, flagged as a global upper bound pending Amex India telemetry; basket build-up ₹6,000 fare differential + ₹4,500 hotel night + ₹800 transfer, all assumptions; RICE per Intercom's published method.</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A1B3D"/>
        </a:solidFill>
      </p:bgPr>
    </p:bg>
    <p:spTree>
      <p:nvGrpSpPr>
        <p:cNvPr id="1" name=""/>
        <p:cNvGrpSpPr/>
        <p:nvPr/>
      </p:nvGrpSpPr>
      <p:grpSpPr>
        <a:xfrm>
          <a:off x="0" y="0"/>
          <a:ext cx="0" cy="0"/>
          <a:chOff x="0" y="0"/>
          <a:chExt cx="0" cy="0"/>
        </a:xfrm>
      </p:grpSpPr>
      <p:sp>
        <p:nvSpPr>
          <p:cNvPr id="2" name="Text 0"/>
          <p:cNvSpPr/>
          <p:nvPr/>
        </p:nvSpPr>
        <p:spPr>
          <a:xfrm>
            <a:off x="457200" y="146304"/>
            <a:ext cx="8229600" cy="201168"/>
          </a:xfrm>
          <a:prstGeom prst="rect">
            <a:avLst/>
          </a:prstGeom>
          <a:noFill/>
          <a:ln/>
        </p:spPr>
        <p:txBody>
          <a:bodyPr wrap="square" lIns="0" tIns="0" rIns="0" bIns="0" rtlCol="0" anchor="ctr"/>
          <a:lstStyle/>
          <a:p>
            <a:pPr indent="0" marL="0">
              <a:buNone/>
            </a:pPr>
            <a:r>
              <a:rPr lang="en-US" sz="850" b="1" spc="220" kern="0" dirty="0">
                <a:solidFill>
                  <a:srgbClr val="3D9CFF"/>
                </a:solidFill>
                <a:latin typeface="Calibri" pitchFamily="34" charset="0"/>
                <a:ea typeface="Calibri" pitchFamily="34" charset="-122"/>
                <a:cs typeface="Calibri" pitchFamily="34" charset="-120"/>
              </a:rPr>
              <a:t>10 · EXPERIENCE &amp; DELIVERY</a:t>
            </a:r>
            <a:endParaRPr lang="en-US" sz="850" dirty="0"/>
          </a:p>
        </p:txBody>
      </p:sp>
      <p:sp>
        <p:nvSpPr>
          <p:cNvPr id="3" name="Text 1"/>
          <p:cNvSpPr/>
          <p:nvPr/>
        </p:nvSpPr>
        <p:spPr>
          <a:xfrm>
            <a:off x="11155680" y="146304"/>
            <a:ext cx="576072" cy="201168"/>
          </a:xfrm>
          <a:prstGeom prst="rect">
            <a:avLst/>
          </a:prstGeom>
          <a:noFill/>
          <a:ln/>
        </p:spPr>
        <p:txBody>
          <a:bodyPr wrap="square" lIns="0" tIns="0" rIns="0" bIns="0" rtlCol="0" anchor="ctr"/>
          <a:lstStyle/>
          <a:p>
            <a:pPr algn="r" indent="0" marL="0">
              <a:buNone/>
            </a:pPr>
            <a:r>
              <a:rPr lang="en-US" sz="850" dirty="0">
                <a:solidFill>
                  <a:srgbClr val="7B94BA"/>
                </a:solidFill>
                <a:latin typeface="Calibri" pitchFamily="34" charset="0"/>
                <a:ea typeface="Calibri" pitchFamily="34" charset="-122"/>
                <a:cs typeface="Calibri" pitchFamily="34" charset="-120"/>
              </a:rPr>
              <a:t>11</a:t>
            </a:r>
            <a:endParaRPr lang="en-US" sz="850" dirty="0"/>
          </a:p>
        </p:txBody>
      </p:sp>
      <p:sp>
        <p:nvSpPr>
          <p:cNvPr id="4" name="Text 2"/>
          <p:cNvSpPr/>
          <p:nvPr/>
        </p:nvSpPr>
        <p:spPr>
          <a:xfrm>
            <a:off x="457200" y="365760"/>
            <a:ext cx="11274552" cy="420624"/>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Three surfaces — and the prototype is already built</a:t>
            </a:r>
            <a:endParaRPr lang="en-US" sz="2500" dirty="0"/>
          </a:p>
        </p:txBody>
      </p:sp>
      <p:sp>
        <p:nvSpPr>
          <p:cNvPr id="5" name="Text 3"/>
          <p:cNvSpPr/>
          <p:nvPr/>
        </p:nvSpPr>
        <p:spPr>
          <a:xfrm>
            <a:off x="457200" y="804672"/>
            <a:ext cx="11274552" cy="256032"/>
          </a:xfrm>
          <a:prstGeom prst="rect">
            <a:avLst/>
          </a:prstGeom>
          <a:noFill/>
          <a:ln/>
        </p:spPr>
        <p:txBody>
          <a:bodyPr wrap="square" lIns="0" tIns="0" rIns="0" bIns="0" rtlCol="0" anchor="ctr"/>
          <a:lstStyle/>
          <a:p>
            <a:pPr indent="0" marL="0">
              <a:buNone/>
            </a:pPr>
            <a:r>
              <a:rPr lang="en-US" sz="1150" dirty="0">
                <a:solidFill>
                  <a:srgbClr val="A9BEDC"/>
                </a:solidFill>
                <a:latin typeface="Calibri" pitchFamily="34" charset="0"/>
                <a:ea typeface="Calibri" pitchFamily="34" charset="-122"/>
                <a:cs typeface="Calibri" pitchFamily="34" charset="-120"/>
              </a:rPr>
              <a:t>Push notification → recovery dashboard → conversational fallback. If the traveller does nothing, the plan still executes.</a:t>
            </a:r>
            <a:endParaRPr lang="en-US" sz="1150" dirty="0"/>
          </a:p>
        </p:txBody>
      </p:sp>
      <p:sp>
        <p:nvSpPr>
          <p:cNvPr id="6" name="Shape 4"/>
          <p:cNvSpPr/>
          <p:nvPr/>
        </p:nvSpPr>
        <p:spPr>
          <a:xfrm>
            <a:off x="457200" y="1152144"/>
            <a:ext cx="2322576" cy="4645152"/>
          </a:xfrm>
          <a:prstGeom prst="roundRect">
            <a:avLst>
              <a:gd name="adj" fmla="val 2362"/>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pic>
        <p:nvPicPr>
          <p:cNvPr id="7" name="Image 0" descr="preencoded.png">    </p:cNvPr>
          <p:cNvPicPr>
            <a:picLocks noChangeAspect="1"/>
          </p:cNvPicPr>
          <p:nvPr/>
        </p:nvPicPr>
        <p:blipFill>
          <a:blip r:embed="rId1"/>
          <a:stretch>
            <a:fillRect/>
          </a:stretch>
        </p:blipFill>
        <p:spPr>
          <a:xfrm>
            <a:off x="640080" y="1261872"/>
            <a:ext cx="237744" cy="237744"/>
          </a:xfrm>
          <a:prstGeom prst="rect">
            <a:avLst/>
          </a:prstGeom>
        </p:spPr>
      </p:pic>
      <p:sp>
        <p:nvSpPr>
          <p:cNvPr id="8" name="Text 5"/>
          <p:cNvSpPr/>
          <p:nvPr/>
        </p:nvSpPr>
        <p:spPr>
          <a:xfrm>
            <a:off x="950976" y="1261872"/>
            <a:ext cx="1691640" cy="237744"/>
          </a:xfrm>
          <a:prstGeom prst="rect">
            <a:avLst/>
          </a:prstGeom>
          <a:noFill/>
          <a:ln/>
        </p:spPr>
        <p:txBody>
          <a:bodyPr wrap="square" lIns="0" tIns="0" rIns="0" bIns="0" rtlCol="0" anchor="ctr"/>
          <a:lstStyle/>
          <a:p>
            <a:pPr indent="0" marL="0">
              <a:buNone/>
            </a:pPr>
            <a:r>
              <a:rPr lang="en-US" sz="950" b="1" spc="110" kern="0" dirty="0">
                <a:solidFill>
                  <a:srgbClr val="3D9CFF"/>
                </a:solidFill>
                <a:latin typeface="Calibri" pitchFamily="34" charset="0"/>
                <a:ea typeface="Calibri" pitchFamily="34" charset="-122"/>
                <a:cs typeface="Calibri" pitchFamily="34" charset="-120"/>
              </a:rPr>
              <a:t>1  PUSH</a:t>
            </a:r>
            <a:endParaRPr lang="en-US" sz="950" dirty="0"/>
          </a:p>
        </p:txBody>
      </p:sp>
      <p:sp>
        <p:nvSpPr>
          <p:cNvPr id="9" name="Text 6"/>
          <p:cNvSpPr/>
          <p:nvPr/>
        </p:nvSpPr>
        <p:spPr>
          <a:xfrm>
            <a:off x="640080" y="1536192"/>
            <a:ext cx="1956816" cy="201168"/>
          </a:xfrm>
          <a:prstGeom prst="rect">
            <a:avLst/>
          </a:prstGeom>
          <a:noFill/>
          <a:ln/>
        </p:spPr>
        <p:txBody>
          <a:bodyPr wrap="square" lIns="0" tIns="0" rIns="0" bIns="0" rtlCol="0" anchor="ctr"/>
          <a:lstStyle/>
          <a:p>
            <a:pPr indent="0" marL="0">
              <a:buNone/>
            </a:pPr>
            <a:r>
              <a:rPr lang="en-US" sz="800" i="1" dirty="0">
                <a:solidFill>
                  <a:srgbClr val="A9BEDC"/>
                </a:solidFill>
                <a:latin typeface="Calibri" pitchFamily="34" charset="0"/>
                <a:ea typeface="Calibri" pitchFamily="34" charset="-122"/>
                <a:cs typeface="Calibri" pitchFamily="34" charset="-120"/>
              </a:rPr>
              <a:t>the only thing most users see</a:t>
            </a:r>
            <a:endParaRPr lang="en-US" sz="800" dirty="0"/>
          </a:p>
        </p:txBody>
      </p:sp>
      <p:sp>
        <p:nvSpPr>
          <p:cNvPr id="10" name="Shape 7"/>
          <p:cNvSpPr/>
          <p:nvPr/>
        </p:nvSpPr>
        <p:spPr>
          <a:xfrm>
            <a:off x="1005840" y="1810512"/>
            <a:ext cx="1225296" cy="2121408"/>
          </a:xfrm>
          <a:prstGeom prst="roundRect">
            <a:avLst>
              <a:gd name="adj" fmla="val 8955"/>
            </a:avLst>
          </a:prstGeom>
          <a:solidFill>
            <a:srgbClr val="0D2246"/>
          </a:solidFill>
          <a:ln w="12700">
            <a:solidFill>
              <a:srgbClr val="3D9CFF"/>
            </a:solidFill>
            <a:prstDash val="solid"/>
          </a:ln>
        </p:spPr>
        <p:txBody>
          <a:bodyPr/>
          <a:p/>
        </p:txBody>
      </p:sp>
      <p:sp>
        <p:nvSpPr>
          <p:cNvPr id="11" name="Shape 8"/>
          <p:cNvSpPr/>
          <p:nvPr/>
        </p:nvSpPr>
        <p:spPr>
          <a:xfrm>
            <a:off x="1097280" y="2157984"/>
            <a:ext cx="1042416" cy="713232"/>
          </a:xfrm>
          <a:prstGeom prst="roundRect">
            <a:avLst>
              <a:gd name="adj" fmla="val 6410"/>
            </a:avLst>
          </a:prstGeom>
          <a:solidFill>
            <a:srgbClr val="1B3A69"/>
          </a:solidFill>
          <a:ln w="12700">
            <a:solidFill>
              <a:srgbClr val="333333"/>
            </a:solidFill>
            <a:prstDash val="solid"/>
          </a:ln>
        </p:spPr>
        <p:txBody>
          <a:bodyPr/>
          <a:p/>
        </p:txBody>
      </p:sp>
      <p:sp>
        <p:nvSpPr>
          <p:cNvPr id="12" name="Text 9"/>
          <p:cNvSpPr/>
          <p:nvPr/>
        </p:nvSpPr>
        <p:spPr>
          <a:xfrm>
            <a:off x="1152144" y="2212848"/>
            <a:ext cx="932688" cy="365760"/>
          </a:xfrm>
          <a:prstGeom prst="rect">
            <a:avLst/>
          </a:prstGeom>
          <a:noFill/>
          <a:ln/>
        </p:spPr>
        <p:txBody>
          <a:bodyPr wrap="square" lIns="0" tIns="0" rIns="0" bIns="0" rtlCol="0" anchor="ctr"/>
          <a:lstStyle/>
          <a:p>
            <a:pPr indent="0" marL="0">
              <a:lnSpc>
                <a:spcPts val="850"/>
              </a:lnSpc>
              <a:buNone/>
            </a:pPr>
            <a:r>
              <a:rPr lang="en-US" sz="650" b="1" dirty="0">
                <a:solidFill>
                  <a:srgbClr val="FFFFFF"/>
                </a:solidFill>
                <a:latin typeface="Calibri" pitchFamily="34" charset="0"/>
                <a:ea typeface="Calibri" pitchFamily="34" charset="-122"/>
                <a:cs typeface="Calibri" pitchFamily="34" charset="-120"/>
              </a:rPr>
              <a:t>AI2803 MAA→DEL</a:t>
            </a:r>
            <a:endParaRPr lang="en-US" sz="650" dirty="0"/>
          </a:p>
          <a:p>
            <a:pPr indent="0" marL="0">
              <a:lnSpc>
                <a:spcPts val="850"/>
              </a:lnSpc>
              <a:buNone/>
            </a:pPr>
            <a:r>
              <a:rPr lang="en-US" sz="650" b="1" dirty="0">
                <a:solidFill>
                  <a:srgbClr val="FFFFFF"/>
                </a:solidFill>
                <a:latin typeface="Calibri" pitchFamily="34" charset="0"/>
                <a:ea typeface="Calibri" pitchFamily="34" charset="-122"/>
                <a:cs typeface="Calibri" pitchFamily="34" charset="-120"/>
              </a:rPr>
              <a:t>cancelled</a:t>
            </a:r>
            <a:endParaRPr lang="en-US" sz="650" dirty="0"/>
          </a:p>
        </p:txBody>
      </p:sp>
      <p:sp>
        <p:nvSpPr>
          <p:cNvPr id="13" name="Shape 10"/>
          <p:cNvSpPr/>
          <p:nvPr/>
        </p:nvSpPr>
        <p:spPr>
          <a:xfrm>
            <a:off x="1152144" y="2615184"/>
            <a:ext cx="932688" cy="182880"/>
          </a:xfrm>
          <a:prstGeom prst="roundRect">
            <a:avLst>
              <a:gd name="adj" fmla="val 15000"/>
            </a:avLst>
          </a:prstGeom>
          <a:solidFill>
            <a:srgbClr val="3D9CFF"/>
          </a:solidFill>
          <a:ln w="12700">
            <a:solidFill>
              <a:srgbClr val="333333"/>
            </a:solidFill>
            <a:prstDash val="solid"/>
          </a:ln>
        </p:spPr>
        <p:txBody>
          <a:bodyPr/>
          <a:p/>
        </p:txBody>
      </p:sp>
      <p:sp>
        <p:nvSpPr>
          <p:cNvPr id="14" name="Text 11"/>
          <p:cNvSpPr/>
          <p:nvPr/>
        </p:nvSpPr>
        <p:spPr>
          <a:xfrm>
            <a:off x="1152144" y="2615184"/>
            <a:ext cx="932688" cy="182880"/>
          </a:xfrm>
          <a:prstGeom prst="rect">
            <a:avLst/>
          </a:prstGeom>
          <a:noFill/>
          <a:ln/>
        </p:spPr>
        <p:txBody>
          <a:bodyPr wrap="square" lIns="0" tIns="0" rIns="0" bIns="0" rtlCol="0" anchor="ctr"/>
          <a:lstStyle/>
          <a:p>
            <a:pPr algn="ctr" indent="0" marL="0">
              <a:buNone/>
            </a:pPr>
            <a:r>
              <a:rPr lang="en-US" sz="550" b="1" dirty="0">
                <a:solidFill>
                  <a:srgbClr val="0A1B3D"/>
                </a:solidFill>
                <a:latin typeface="Calibri" pitchFamily="34" charset="0"/>
                <a:ea typeface="Calibri" pitchFamily="34" charset="-122"/>
                <a:cs typeface="Calibri" pitchFamily="34" charset="-120"/>
              </a:rPr>
              <a:t>REBOOK ME</a:t>
            </a:r>
            <a:endParaRPr lang="en-US" sz="550" dirty="0"/>
          </a:p>
        </p:txBody>
      </p:sp>
      <p:sp>
        <p:nvSpPr>
          <p:cNvPr id="15" name="Text 12"/>
          <p:cNvSpPr/>
          <p:nvPr/>
        </p:nvSpPr>
        <p:spPr>
          <a:xfrm>
            <a:off x="640080" y="4078224"/>
            <a:ext cx="1975104" cy="1591056"/>
          </a:xfrm>
          <a:prstGeom prst="rect">
            <a:avLst/>
          </a:prstGeom>
          <a:noFill/>
          <a:ln/>
        </p:spPr>
        <p:txBody>
          <a:bodyPr wrap="square" lIns="0" tIns="0" rIns="0" bIns="0" rtlCol="0" anchor="ctr"/>
          <a:lstStyle/>
          <a:p>
            <a:pPr marL="342900" indent="-342900">
              <a:lnSpc>
                <a:spcPts val="1100"/>
              </a:lnSpc>
              <a:spcAft>
                <a:spcPts val="500"/>
              </a:spcAft>
              <a:buSzPct val="100000"/>
              <a:buChar char="•"/>
            </a:pPr>
            <a:r>
              <a:rPr lang="en-US" sz="850" dirty="0">
                <a:solidFill>
                  <a:srgbClr val="A9BEDC"/>
                </a:solidFill>
                <a:latin typeface="Calibri" pitchFamily="34" charset="0"/>
                <a:ea typeface="Calibri" pitchFamily="34" charset="-122"/>
                <a:cs typeface="Calibri" pitchFamily="34" charset="-120"/>
              </a:rPr>
              <a:t>FCM data message — the app renders the payload, not a generic banner</a:t>
            </a:r>
            <a:endParaRPr lang="en-US" sz="850" dirty="0"/>
          </a:p>
          <a:p>
            <a:pPr marL="342900" indent="-342900">
              <a:lnSpc>
                <a:spcPts val="1100"/>
              </a:lnSpc>
              <a:spcAft>
                <a:spcPts val="500"/>
              </a:spcAft>
              <a:buSzPct val="100000"/>
              <a:buChar char="•"/>
            </a:pPr>
            <a:r>
              <a:rPr lang="en-US" sz="850" dirty="0">
                <a:solidFill>
                  <a:srgbClr val="A9BEDC"/>
                </a:solidFill>
                <a:latin typeface="Calibri" pitchFamily="34" charset="0"/>
                <a:ea typeface="Calibri" pitchFamily="34" charset="-122"/>
                <a:cs typeface="Calibri" pitchFamily="34" charset="-120"/>
              </a:rPr>
              <a:t>One line of state, one line of action, one control</a:t>
            </a:r>
            <a:endParaRPr lang="en-US" sz="850" dirty="0"/>
          </a:p>
        </p:txBody>
      </p:sp>
      <p:sp>
        <p:nvSpPr>
          <p:cNvPr id="16" name="Shape 13"/>
          <p:cNvSpPr/>
          <p:nvPr/>
        </p:nvSpPr>
        <p:spPr>
          <a:xfrm>
            <a:off x="2944368" y="1152144"/>
            <a:ext cx="2322576" cy="4645152"/>
          </a:xfrm>
          <a:prstGeom prst="roundRect">
            <a:avLst>
              <a:gd name="adj" fmla="val 2362"/>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pic>
        <p:nvPicPr>
          <p:cNvPr id="17" name="Image 1" descr="preencoded.png">    </p:cNvPr>
          <p:cNvPicPr>
            <a:picLocks noChangeAspect="1"/>
          </p:cNvPicPr>
          <p:nvPr/>
        </p:nvPicPr>
        <p:blipFill>
          <a:blip r:embed="rId2"/>
          <a:stretch>
            <a:fillRect/>
          </a:stretch>
        </p:blipFill>
        <p:spPr>
          <a:xfrm>
            <a:off x="3127248" y="1261872"/>
            <a:ext cx="237744" cy="237744"/>
          </a:xfrm>
          <a:prstGeom prst="rect">
            <a:avLst/>
          </a:prstGeom>
        </p:spPr>
      </p:pic>
      <p:sp>
        <p:nvSpPr>
          <p:cNvPr id="18" name="Text 14"/>
          <p:cNvSpPr/>
          <p:nvPr/>
        </p:nvSpPr>
        <p:spPr>
          <a:xfrm>
            <a:off x="3438144" y="1261872"/>
            <a:ext cx="1691640" cy="237744"/>
          </a:xfrm>
          <a:prstGeom prst="rect">
            <a:avLst/>
          </a:prstGeom>
          <a:noFill/>
          <a:ln/>
        </p:spPr>
        <p:txBody>
          <a:bodyPr wrap="square" lIns="0" tIns="0" rIns="0" bIns="0" rtlCol="0" anchor="ctr"/>
          <a:lstStyle/>
          <a:p>
            <a:pPr indent="0" marL="0">
              <a:buNone/>
            </a:pPr>
            <a:r>
              <a:rPr lang="en-US" sz="950" b="1" spc="110" kern="0" dirty="0">
                <a:solidFill>
                  <a:srgbClr val="2ECC9A"/>
                </a:solidFill>
                <a:latin typeface="Calibri" pitchFamily="34" charset="0"/>
                <a:ea typeface="Calibri" pitchFamily="34" charset="-122"/>
                <a:cs typeface="Calibri" pitchFamily="34" charset="-120"/>
              </a:rPr>
              <a:t>2  DASHBOARD</a:t>
            </a:r>
            <a:endParaRPr lang="en-US" sz="950" dirty="0"/>
          </a:p>
        </p:txBody>
      </p:sp>
      <p:sp>
        <p:nvSpPr>
          <p:cNvPr id="19" name="Text 15"/>
          <p:cNvSpPr/>
          <p:nvPr/>
        </p:nvSpPr>
        <p:spPr>
          <a:xfrm>
            <a:off x="3127248" y="1536192"/>
            <a:ext cx="1956816" cy="201168"/>
          </a:xfrm>
          <a:prstGeom prst="rect">
            <a:avLst/>
          </a:prstGeom>
          <a:noFill/>
          <a:ln/>
        </p:spPr>
        <p:txBody>
          <a:bodyPr wrap="square" lIns="0" tIns="0" rIns="0" bIns="0" rtlCol="0" anchor="ctr"/>
          <a:lstStyle/>
          <a:p>
            <a:pPr indent="0" marL="0">
              <a:buNone/>
            </a:pPr>
            <a:r>
              <a:rPr lang="en-US" sz="800" i="1" dirty="0">
                <a:solidFill>
                  <a:srgbClr val="A9BEDC"/>
                </a:solidFill>
                <a:latin typeface="Calibri" pitchFamily="34" charset="0"/>
                <a:ea typeface="Calibri" pitchFamily="34" charset="-122"/>
                <a:cs typeface="Calibri" pitchFamily="34" charset="-120"/>
              </a:rPr>
              <a:t>the proof surface</a:t>
            </a:r>
            <a:endParaRPr lang="en-US" sz="800" dirty="0"/>
          </a:p>
        </p:txBody>
      </p:sp>
      <p:sp>
        <p:nvSpPr>
          <p:cNvPr id="20" name="Shape 16"/>
          <p:cNvSpPr/>
          <p:nvPr/>
        </p:nvSpPr>
        <p:spPr>
          <a:xfrm>
            <a:off x="3493008" y="1810512"/>
            <a:ext cx="1225296" cy="2121408"/>
          </a:xfrm>
          <a:prstGeom prst="roundRect">
            <a:avLst>
              <a:gd name="adj" fmla="val 8955"/>
            </a:avLst>
          </a:prstGeom>
          <a:solidFill>
            <a:srgbClr val="0D2246"/>
          </a:solidFill>
          <a:ln w="12700">
            <a:solidFill>
              <a:srgbClr val="2ECC9A"/>
            </a:solidFill>
            <a:prstDash val="solid"/>
          </a:ln>
        </p:spPr>
        <p:txBody>
          <a:bodyPr/>
          <a:p/>
        </p:txBody>
      </p:sp>
      <p:sp>
        <p:nvSpPr>
          <p:cNvPr id="21" name="Shape 17"/>
          <p:cNvSpPr/>
          <p:nvPr/>
        </p:nvSpPr>
        <p:spPr>
          <a:xfrm>
            <a:off x="3584448" y="1956816"/>
            <a:ext cx="1042416" cy="292608"/>
          </a:xfrm>
          <a:prstGeom prst="roundRect">
            <a:avLst>
              <a:gd name="adj" fmla="val 9375"/>
            </a:avLst>
          </a:prstGeom>
          <a:solidFill>
            <a:srgbClr val="1B3A69"/>
          </a:solidFill>
          <a:ln w="12700">
            <a:solidFill>
              <a:srgbClr val="333333"/>
            </a:solidFill>
            <a:prstDash val="solid"/>
          </a:ln>
        </p:spPr>
        <p:txBody>
          <a:bodyPr/>
          <a:p/>
        </p:txBody>
      </p:sp>
      <p:sp>
        <p:nvSpPr>
          <p:cNvPr id="22" name="Shape 18"/>
          <p:cNvSpPr/>
          <p:nvPr/>
        </p:nvSpPr>
        <p:spPr>
          <a:xfrm>
            <a:off x="3639312" y="2048256"/>
            <a:ext cx="82296" cy="82296"/>
          </a:xfrm>
          <a:prstGeom prst="ellipse">
            <a:avLst/>
          </a:prstGeom>
          <a:solidFill>
            <a:srgbClr val="2ECC9A"/>
          </a:solidFill>
          <a:ln w="12700">
            <a:solidFill>
              <a:srgbClr val="333333"/>
            </a:solidFill>
            <a:prstDash val="solid"/>
          </a:ln>
        </p:spPr>
        <p:txBody>
          <a:bodyPr/>
          <a:p/>
        </p:txBody>
      </p:sp>
      <p:sp>
        <p:nvSpPr>
          <p:cNvPr id="23" name="Text 19"/>
          <p:cNvSpPr/>
          <p:nvPr/>
        </p:nvSpPr>
        <p:spPr>
          <a:xfrm>
            <a:off x="3758184" y="1956816"/>
            <a:ext cx="841248" cy="292608"/>
          </a:xfrm>
          <a:prstGeom prst="rect">
            <a:avLst/>
          </a:prstGeom>
          <a:noFill/>
          <a:ln/>
        </p:spPr>
        <p:txBody>
          <a:bodyPr wrap="square" lIns="0" tIns="0" rIns="0" bIns="0" rtlCol="0" anchor="ctr"/>
          <a:lstStyle/>
          <a:p>
            <a:pPr indent="0" marL="0">
              <a:buNone/>
            </a:pPr>
            <a:r>
              <a:rPr lang="en-US" sz="550" dirty="0">
                <a:solidFill>
                  <a:srgbClr val="E8F0FB"/>
                </a:solidFill>
                <a:latin typeface="Calibri" pitchFamily="34" charset="0"/>
                <a:ea typeface="Calibri" pitchFamily="34" charset="-122"/>
                <a:cs typeface="Calibri" pitchFamily="34" charset="-120"/>
              </a:rPr>
              <a:t>MAA→DEL rebooked</a:t>
            </a:r>
            <a:endParaRPr lang="en-US" sz="550" dirty="0"/>
          </a:p>
        </p:txBody>
      </p:sp>
      <p:sp>
        <p:nvSpPr>
          <p:cNvPr id="24" name="Shape 20"/>
          <p:cNvSpPr/>
          <p:nvPr/>
        </p:nvSpPr>
        <p:spPr>
          <a:xfrm>
            <a:off x="3584448" y="2340864"/>
            <a:ext cx="1042416" cy="292608"/>
          </a:xfrm>
          <a:prstGeom prst="roundRect">
            <a:avLst>
              <a:gd name="adj" fmla="val 9375"/>
            </a:avLst>
          </a:prstGeom>
          <a:solidFill>
            <a:srgbClr val="1B3A69"/>
          </a:solidFill>
          <a:ln w="12700">
            <a:solidFill>
              <a:srgbClr val="333333"/>
            </a:solidFill>
            <a:prstDash val="solid"/>
          </a:ln>
        </p:spPr>
        <p:txBody>
          <a:bodyPr/>
          <a:p/>
        </p:txBody>
      </p:sp>
      <p:sp>
        <p:nvSpPr>
          <p:cNvPr id="25" name="Shape 21"/>
          <p:cNvSpPr/>
          <p:nvPr/>
        </p:nvSpPr>
        <p:spPr>
          <a:xfrm>
            <a:off x="3639312" y="2432304"/>
            <a:ext cx="82296" cy="82296"/>
          </a:xfrm>
          <a:prstGeom prst="ellipse">
            <a:avLst/>
          </a:prstGeom>
          <a:solidFill>
            <a:srgbClr val="2ECC9A"/>
          </a:solidFill>
          <a:ln w="12700">
            <a:solidFill>
              <a:srgbClr val="333333"/>
            </a:solidFill>
            <a:prstDash val="solid"/>
          </a:ln>
        </p:spPr>
        <p:txBody>
          <a:bodyPr/>
          <a:p/>
        </p:txBody>
      </p:sp>
      <p:sp>
        <p:nvSpPr>
          <p:cNvPr id="26" name="Text 22"/>
          <p:cNvSpPr/>
          <p:nvPr/>
        </p:nvSpPr>
        <p:spPr>
          <a:xfrm>
            <a:off x="3758184" y="2340864"/>
            <a:ext cx="841248" cy="292608"/>
          </a:xfrm>
          <a:prstGeom prst="rect">
            <a:avLst/>
          </a:prstGeom>
          <a:noFill/>
          <a:ln/>
        </p:spPr>
        <p:txBody>
          <a:bodyPr wrap="square" lIns="0" tIns="0" rIns="0" bIns="0" rtlCol="0" anchor="ctr"/>
          <a:lstStyle/>
          <a:p>
            <a:pPr indent="0" marL="0">
              <a:buNone/>
            </a:pPr>
            <a:r>
              <a:rPr lang="en-US" sz="550" dirty="0">
                <a:solidFill>
                  <a:srgbClr val="E8F0FB"/>
                </a:solidFill>
                <a:latin typeface="Calibri" pitchFamily="34" charset="0"/>
                <a:ea typeface="Calibri" pitchFamily="34" charset="-122"/>
                <a:cs typeface="Calibri" pitchFamily="34" charset="-120"/>
              </a:rPr>
              <a:t>Hotel rebooked</a:t>
            </a:r>
            <a:endParaRPr lang="en-US" sz="550" dirty="0"/>
          </a:p>
        </p:txBody>
      </p:sp>
      <p:sp>
        <p:nvSpPr>
          <p:cNvPr id="27" name="Shape 23"/>
          <p:cNvSpPr/>
          <p:nvPr/>
        </p:nvSpPr>
        <p:spPr>
          <a:xfrm>
            <a:off x="3584448" y="2724912"/>
            <a:ext cx="1042416" cy="292608"/>
          </a:xfrm>
          <a:prstGeom prst="roundRect">
            <a:avLst>
              <a:gd name="adj" fmla="val 9375"/>
            </a:avLst>
          </a:prstGeom>
          <a:solidFill>
            <a:srgbClr val="1B3A69"/>
          </a:solidFill>
          <a:ln w="12700">
            <a:solidFill>
              <a:srgbClr val="333333"/>
            </a:solidFill>
            <a:prstDash val="solid"/>
          </a:ln>
        </p:spPr>
        <p:txBody>
          <a:bodyPr/>
          <a:p/>
        </p:txBody>
      </p:sp>
      <p:sp>
        <p:nvSpPr>
          <p:cNvPr id="28" name="Shape 24"/>
          <p:cNvSpPr/>
          <p:nvPr/>
        </p:nvSpPr>
        <p:spPr>
          <a:xfrm>
            <a:off x="3639312" y="2816352"/>
            <a:ext cx="82296" cy="82296"/>
          </a:xfrm>
          <a:prstGeom prst="ellipse">
            <a:avLst/>
          </a:prstGeom>
          <a:solidFill>
            <a:srgbClr val="2ECC9A"/>
          </a:solidFill>
          <a:ln w="12700">
            <a:solidFill>
              <a:srgbClr val="333333"/>
            </a:solidFill>
            <a:prstDash val="solid"/>
          </a:ln>
        </p:spPr>
        <p:txBody>
          <a:bodyPr/>
          <a:p/>
        </p:txBody>
      </p:sp>
      <p:sp>
        <p:nvSpPr>
          <p:cNvPr id="29" name="Text 25"/>
          <p:cNvSpPr/>
          <p:nvPr/>
        </p:nvSpPr>
        <p:spPr>
          <a:xfrm>
            <a:off x="3758184" y="2724912"/>
            <a:ext cx="841248" cy="292608"/>
          </a:xfrm>
          <a:prstGeom prst="rect">
            <a:avLst/>
          </a:prstGeom>
          <a:noFill/>
          <a:ln/>
        </p:spPr>
        <p:txBody>
          <a:bodyPr wrap="square" lIns="0" tIns="0" rIns="0" bIns="0" rtlCol="0" anchor="ctr"/>
          <a:lstStyle/>
          <a:p>
            <a:pPr indent="0" marL="0">
              <a:buNone/>
            </a:pPr>
            <a:r>
              <a:rPr lang="en-US" sz="550" dirty="0">
                <a:solidFill>
                  <a:srgbClr val="E8F0FB"/>
                </a:solidFill>
                <a:latin typeface="Calibri" pitchFamily="34" charset="0"/>
                <a:ea typeface="Calibri" pitchFamily="34" charset="-122"/>
                <a:cs typeface="Calibri" pitchFamily="34" charset="-120"/>
              </a:rPr>
              <a:t>Transfer reset</a:t>
            </a:r>
            <a:endParaRPr lang="en-US" sz="550" dirty="0"/>
          </a:p>
        </p:txBody>
      </p:sp>
      <p:sp>
        <p:nvSpPr>
          <p:cNvPr id="30" name="Shape 26"/>
          <p:cNvSpPr/>
          <p:nvPr/>
        </p:nvSpPr>
        <p:spPr>
          <a:xfrm>
            <a:off x="3584448" y="3108960"/>
            <a:ext cx="1042416" cy="292608"/>
          </a:xfrm>
          <a:prstGeom prst="roundRect">
            <a:avLst>
              <a:gd name="adj" fmla="val 9375"/>
            </a:avLst>
          </a:prstGeom>
          <a:solidFill>
            <a:srgbClr val="1B3A69"/>
          </a:solidFill>
          <a:ln w="12700">
            <a:solidFill>
              <a:srgbClr val="333333"/>
            </a:solidFill>
            <a:prstDash val="solid"/>
          </a:ln>
        </p:spPr>
        <p:txBody>
          <a:bodyPr/>
          <a:p/>
        </p:txBody>
      </p:sp>
      <p:sp>
        <p:nvSpPr>
          <p:cNvPr id="31" name="Shape 27"/>
          <p:cNvSpPr/>
          <p:nvPr/>
        </p:nvSpPr>
        <p:spPr>
          <a:xfrm>
            <a:off x="3639312" y="3200400"/>
            <a:ext cx="82296" cy="82296"/>
          </a:xfrm>
          <a:prstGeom prst="ellipse">
            <a:avLst/>
          </a:prstGeom>
          <a:solidFill>
            <a:srgbClr val="2ECC9A"/>
          </a:solidFill>
          <a:ln w="12700">
            <a:solidFill>
              <a:srgbClr val="333333"/>
            </a:solidFill>
            <a:prstDash val="solid"/>
          </a:ln>
        </p:spPr>
        <p:txBody>
          <a:bodyPr/>
          <a:p/>
        </p:txBody>
      </p:sp>
      <p:sp>
        <p:nvSpPr>
          <p:cNvPr id="32" name="Text 28"/>
          <p:cNvSpPr/>
          <p:nvPr/>
        </p:nvSpPr>
        <p:spPr>
          <a:xfrm>
            <a:off x="3758184" y="3108960"/>
            <a:ext cx="841248" cy="292608"/>
          </a:xfrm>
          <a:prstGeom prst="rect">
            <a:avLst/>
          </a:prstGeom>
          <a:noFill/>
          <a:ln/>
        </p:spPr>
        <p:txBody>
          <a:bodyPr wrap="square" lIns="0" tIns="0" rIns="0" bIns="0" rtlCol="0" anchor="ctr"/>
          <a:lstStyle/>
          <a:p>
            <a:pPr indent="0" marL="0">
              <a:buNone/>
            </a:pPr>
            <a:r>
              <a:rPr lang="en-US" sz="550" dirty="0">
                <a:solidFill>
                  <a:srgbClr val="E8F0FB"/>
                </a:solidFill>
                <a:latin typeface="Calibri" pitchFamily="34" charset="0"/>
                <a:ea typeface="Calibri" pitchFamily="34" charset="-122"/>
                <a:cs typeface="Calibri" pitchFamily="34" charset="-120"/>
              </a:rPr>
              <a:t>Duty of care claimed</a:t>
            </a:r>
            <a:endParaRPr lang="en-US" sz="550" dirty="0"/>
          </a:p>
        </p:txBody>
      </p:sp>
      <p:sp>
        <p:nvSpPr>
          <p:cNvPr id="33" name="Text 29"/>
          <p:cNvSpPr/>
          <p:nvPr/>
        </p:nvSpPr>
        <p:spPr>
          <a:xfrm>
            <a:off x="3127248" y="4078224"/>
            <a:ext cx="1975104" cy="1591056"/>
          </a:xfrm>
          <a:prstGeom prst="rect">
            <a:avLst/>
          </a:prstGeom>
          <a:noFill/>
          <a:ln/>
        </p:spPr>
        <p:txBody>
          <a:bodyPr wrap="square" lIns="0" tIns="0" rIns="0" bIns="0" rtlCol="0" anchor="ctr"/>
          <a:lstStyle/>
          <a:p>
            <a:pPr marL="342900" indent="-342900">
              <a:lnSpc>
                <a:spcPts val="1100"/>
              </a:lnSpc>
              <a:spcAft>
                <a:spcPts val="500"/>
              </a:spcAft>
              <a:buSzPct val="100000"/>
              <a:buChar char="•"/>
            </a:pPr>
            <a:r>
              <a:rPr lang="en-US" sz="850" dirty="0">
                <a:solidFill>
                  <a:srgbClr val="A9BEDC"/>
                </a:solidFill>
                <a:latin typeface="Calibri" pitchFamily="34" charset="0"/>
                <a:ea typeface="Calibri" pitchFamily="34" charset="-122"/>
                <a:cs typeface="Calibri" pitchFamily="34" charset="-120"/>
              </a:rPr>
              <a:t>Recovered trip timeline with per-leg status and cost</a:t>
            </a:r>
            <a:endParaRPr lang="en-US" sz="850" dirty="0"/>
          </a:p>
          <a:p>
            <a:pPr marL="342900" indent="-342900">
              <a:lnSpc>
                <a:spcPts val="1100"/>
              </a:lnSpc>
              <a:spcAft>
                <a:spcPts val="500"/>
              </a:spcAft>
              <a:buSzPct val="100000"/>
              <a:buChar char="•"/>
            </a:pPr>
            <a:r>
              <a:rPr lang="en-US" sz="850" dirty="0">
                <a:solidFill>
                  <a:srgbClr val="A9BEDC"/>
                </a:solidFill>
                <a:latin typeface="Calibri" pitchFamily="34" charset="0"/>
                <a:ea typeface="Calibri" pitchFamily="34" charset="-122"/>
                <a:cs typeface="Calibri" pitchFamily="34" charset="-120"/>
              </a:rPr>
              <a:t>Every decision carries a 'why' chip → its policy rule ID</a:t>
            </a:r>
            <a:endParaRPr lang="en-US" sz="850" dirty="0"/>
          </a:p>
        </p:txBody>
      </p:sp>
      <p:sp>
        <p:nvSpPr>
          <p:cNvPr id="34" name="Shape 30"/>
          <p:cNvSpPr/>
          <p:nvPr/>
        </p:nvSpPr>
        <p:spPr>
          <a:xfrm>
            <a:off x="5431536" y="1152144"/>
            <a:ext cx="2322576" cy="4645152"/>
          </a:xfrm>
          <a:prstGeom prst="roundRect">
            <a:avLst>
              <a:gd name="adj" fmla="val 2362"/>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txBody>
          <a:bodyPr/>
          <a:p/>
        </p:txBody>
      </p:sp>
      <p:pic>
        <p:nvPicPr>
          <p:cNvPr id="35" name="Image 2" descr="preencoded.png">    </p:cNvPr>
          <p:cNvPicPr>
            <a:picLocks noChangeAspect="1"/>
          </p:cNvPicPr>
          <p:nvPr/>
        </p:nvPicPr>
        <p:blipFill>
          <a:blip r:embed="rId3"/>
          <a:stretch>
            <a:fillRect/>
          </a:stretch>
        </p:blipFill>
        <p:spPr>
          <a:xfrm>
            <a:off x="5614416" y="1261872"/>
            <a:ext cx="237744" cy="237744"/>
          </a:xfrm>
          <a:prstGeom prst="rect">
            <a:avLst/>
          </a:prstGeom>
        </p:spPr>
      </p:pic>
      <p:sp>
        <p:nvSpPr>
          <p:cNvPr id="36" name="Text 31"/>
          <p:cNvSpPr/>
          <p:nvPr/>
        </p:nvSpPr>
        <p:spPr>
          <a:xfrm>
            <a:off x="5925312" y="1261872"/>
            <a:ext cx="1691640" cy="237744"/>
          </a:xfrm>
          <a:prstGeom prst="rect">
            <a:avLst/>
          </a:prstGeom>
          <a:noFill/>
          <a:ln/>
        </p:spPr>
        <p:txBody>
          <a:bodyPr wrap="square" lIns="0" tIns="0" rIns="0" bIns="0" rtlCol="0" anchor="ctr"/>
          <a:lstStyle/>
          <a:p>
            <a:pPr indent="0" marL="0">
              <a:buNone/>
            </a:pPr>
            <a:r>
              <a:rPr lang="en-US" sz="950" b="1" spc="110" kern="0" dirty="0">
                <a:solidFill>
                  <a:srgbClr val="FFB020"/>
                </a:solidFill>
                <a:latin typeface="Calibri" pitchFamily="34" charset="0"/>
                <a:ea typeface="Calibri" pitchFamily="34" charset="-122"/>
                <a:cs typeface="Calibri" pitchFamily="34" charset="-120"/>
              </a:rPr>
              <a:t>3  CHAT</a:t>
            </a:r>
            <a:endParaRPr lang="en-US" sz="950" dirty="0"/>
          </a:p>
        </p:txBody>
      </p:sp>
      <p:sp>
        <p:nvSpPr>
          <p:cNvPr id="37" name="Text 32"/>
          <p:cNvSpPr/>
          <p:nvPr/>
        </p:nvSpPr>
        <p:spPr>
          <a:xfrm>
            <a:off x="5614416" y="1536192"/>
            <a:ext cx="1956816" cy="201168"/>
          </a:xfrm>
          <a:prstGeom prst="rect">
            <a:avLst/>
          </a:prstGeom>
          <a:noFill/>
          <a:ln/>
        </p:spPr>
        <p:txBody>
          <a:bodyPr wrap="square" lIns="0" tIns="0" rIns="0" bIns="0" rtlCol="0" anchor="ctr"/>
          <a:lstStyle/>
          <a:p>
            <a:pPr indent="0" marL="0">
              <a:buNone/>
            </a:pPr>
            <a:r>
              <a:rPr lang="en-US" sz="800" i="1" dirty="0">
                <a:solidFill>
                  <a:srgbClr val="A9BEDC"/>
                </a:solidFill>
                <a:latin typeface="Calibri" pitchFamily="34" charset="0"/>
                <a:ea typeface="Calibri" pitchFamily="34" charset="-122"/>
                <a:cs typeface="Calibri" pitchFamily="34" charset="-120"/>
              </a:rPr>
              <a:t>the bounded fallback</a:t>
            </a:r>
            <a:endParaRPr lang="en-US" sz="800" dirty="0"/>
          </a:p>
        </p:txBody>
      </p:sp>
      <p:sp>
        <p:nvSpPr>
          <p:cNvPr id="38" name="Shape 33"/>
          <p:cNvSpPr/>
          <p:nvPr/>
        </p:nvSpPr>
        <p:spPr>
          <a:xfrm>
            <a:off x="5980176" y="1810512"/>
            <a:ext cx="1225296" cy="2121408"/>
          </a:xfrm>
          <a:prstGeom prst="roundRect">
            <a:avLst>
              <a:gd name="adj" fmla="val 8955"/>
            </a:avLst>
          </a:prstGeom>
          <a:solidFill>
            <a:srgbClr val="0D2246"/>
          </a:solidFill>
          <a:ln w="12700">
            <a:solidFill>
              <a:srgbClr val="FFB020"/>
            </a:solidFill>
            <a:prstDash val="solid"/>
          </a:ln>
        </p:spPr>
        <p:txBody>
          <a:bodyPr/>
          <a:p/>
        </p:txBody>
      </p:sp>
      <p:sp>
        <p:nvSpPr>
          <p:cNvPr id="39" name="Shape 34"/>
          <p:cNvSpPr/>
          <p:nvPr/>
        </p:nvSpPr>
        <p:spPr>
          <a:xfrm>
            <a:off x="6071616" y="2048256"/>
            <a:ext cx="932688" cy="402336"/>
          </a:xfrm>
          <a:prstGeom prst="roundRect">
            <a:avLst>
              <a:gd name="adj" fmla="val 11364"/>
            </a:avLst>
          </a:prstGeom>
          <a:solidFill>
            <a:srgbClr val="1B3A69"/>
          </a:solidFill>
          <a:ln w="12700">
            <a:solidFill>
              <a:srgbClr val="333333"/>
            </a:solidFill>
            <a:prstDash val="solid"/>
          </a:ln>
        </p:spPr>
        <p:txBody>
          <a:bodyPr/>
          <a:p/>
        </p:txBody>
      </p:sp>
      <p:sp>
        <p:nvSpPr>
          <p:cNvPr id="40" name="Text 35"/>
          <p:cNvSpPr/>
          <p:nvPr/>
        </p:nvSpPr>
        <p:spPr>
          <a:xfrm>
            <a:off x="6117336" y="2048256"/>
            <a:ext cx="841248" cy="402336"/>
          </a:xfrm>
          <a:prstGeom prst="rect">
            <a:avLst/>
          </a:prstGeom>
          <a:noFill/>
          <a:ln/>
        </p:spPr>
        <p:txBody>
          <a:bodyPr wrap="square" lIns="0" tIns="0" rIns="0" bIns="0" rtlCol="0" anchor="ctr"/>
          <a:lstStyle/>
          <a:p>
            <a:pPr indent="0" marL="0">
              <a:lnSpc>
                <a:spcPts val="750"/>
              </a:lnSpc>
              <a:buNone/>
            </a:pPr>
            <a:r>
              <a:rPr lang="en-US" sz="550" dirty="0">
                <a:solidFill>
                  <a:srgbClr val="E8F0FB"/>
                </a:solidFill>
                <a:latin typeface="Calibri" pitchFamily="34" charset="0"/>
                <a:ea typeface="Calibri" pitchFamily="34" charset="-122"/>
                <a:cs typeface="Calibri" pitchFamily="34" charset="-120"/>
              </a:rPr>
              <a:t>Why this routing?</a:t>
            </a:r>
            <a:endParaRPr lang="en-US" sz="550" dirty="0"/>
          </a:p>
        </p:txBody>
      </p:sp>
      <p:sp>
        <p:nvSpPr>
          <p:cNvPr id="41" name="Shape 36"/>
          <p:cNvSpPr/>
          <p:nvPr/>
        </p:nvSpPr>
        <p:spPr>
          <a:xfrm>
            <a:off x="6217920" y="2578608"/>
            <a:ext cx="932688" cy="402336"/>
          </a:xfrm>
          <a:prstGeom prst="roundRect">
            <a:avLst>
              <a:gd name="adj" fmla="val 11364"/>
            </a:avLst>
          </a:prstGeom>
          <a:solidFill>
            <a:srgbClr val="FFB020"/>
          </a:solidFill>
          <a:ln w="12700">
            <a:solidFill>
              <a:srgbClr val="333333"/>
            </a:solidFill>
            <a:prstDash val="solid"/>
          </a:ln>
        </p:spPr>
        <p:txBody>
          <a:bodyPr/>
          <a:p/>
        </p:txBody>
      </p:sp>
      <p:sp>
        <p:nvSpPr>
          <p:cNvPr id="42" name="Text 37"/>
          <p:cNvSpPr/>
          <p:nvPr/>
        </p:nvSpPr>
        <p:spPr>
          <a:xfrm>
            <a:off x="6263640" y="2578608"/>
            <a:ext cx="841248" cy="402336"/>
          </a:xfrm>
          <a:prstGeom prst="rect">
            <a:avLst/>
          </a:prstGeom>
          <a:noFill/>
          <a:ln/>
        </p:spPr>
        <p:txBody>
          <a:bodyPr wrap="square" lIns="0" tIns="0" rIns="0" bIns="0" rtlCol="0" anchor="ctr"/>
          <a:lstStyle/>
          <a:p>
            <a:pPr indent="0" marL="0">
              <a:lnSpc>
                <a:spcPts val="750"/>
              </a:lnSpc>
              <a:buNone/>
            </a:pPr>
            <a:r>
              <a:rPr lang="en-US" sz="550" dirty="0">
                <a:solidFill>
                  <a:srgbClr val="0A1B3D"/>
                </a:solidFill>
                <a:latin typeface="Calibri" pitchFamily="34" charset="0"/>
                <a:ea typeface="Calibri" pitchFamily="34" charset="-122"/>
                <a:cs typeface="Calibri" pitchFamily="34" charset="-120"/>
              </a:rPr>
              <a:t>Only fare in policy</a:t>
            </a:r>
            <a:endParaRPr lang="en-US" sz="550" dirty="0"/>
          </a:p>
          <a:p>
            <a:pPr indent="0" marL="0">
              <a:lnSpc>
                <a:spcPts val="750"/>
              </a:lnSpc>
              <a:buNone/>
            </a:pPr>
            <a:r>
              <a:rPr lang="en-US" sz="550" dirty="0">
                <a:solidFill>
                  <a:srgbClr val="0A1B3D"/>
                </a:solidFill>
                <a:latin typeface="Calibri" pitchFamily="34" charset="0"/>
                <a:ea typeface="Calibri" pitchFamily="34" charset="-122"/>
                <a:cs typeface="Calibri" pitchFamily="34" charset="-120"/>
              </a:rPr>
              <a:t>with a live offer.</a:t>
            </a:r>
            <a:endParaRPr lang="en-US" sz="550" dirty="0"/>
          </a:p>
        </p:txBody>
      </p:sp>
      <p:sp>
        <p:nvSpPr>
          <p:cNvPr id="43" name="Shape 38"/>
          <p:cNvSpPr/>
          <p:nvPr/>
        </p:nvSpPr>
        <p:spPr>
          <a:xfrm>
            <a:off x="6071616" y="3108960"/>
            <a:ext cx="932688" cy="402336"/>
          </a:xfrm>
          <a:prstGeom prst="roundRect">
            <a:avLst>
              <a:gd name="adj" fmla="val 11364"/>
            </a:avLst>
          </a:prstGeom>
          <a:solidFill>
            <a:srgbClr val="1B3A69"/>
          </a:solidFill>
          <a:ln w="12700">
            <a:solidFill>
              <a:srgbClr val="333333"/>
            </a:solidFill>
            <a:prstDash val="solid"/>
          </a:ln>
        </p:spPr>
        <p:txBody>
          <a:bodyPr/>
          <a:p/>
        </p:txBody>
      </p:sp>
      <p:sp>
        <p:nvSpPr>
          <p:cNvPr id="44" name="Text 39"/>
          <p:cNvSpPr/>
          <p:nvPr/>
        </p:nvSpPr>
        <p:spPr>
          <a:xfrm>
            <a:off x="6117336" y="3108960"/>
            <a:ext cx="841248" cy="402336"/>
          </a:xfrm>
          <a:prstGeom prst="rect">
            <a:avLst/>
          </a:prstGeom>
          <a:noFill/>
          <a:ln/>
        </p:spPr>
        <p:txBody>
          <a:bodyPr wrap="square" lIns="0" tIns="0" rIns="0" bIns="0" rtlCol="0" anchor="ctr"/>
          <a:lstStyle/>
          <a:p>
            <a:pPr indent="0" marL="0">
              <a:lnSpc>
                <a:spcPts val="750"/>
              </a:lnSpc>
              <a:buNone/>
            </a:pPr>
            <a:r>
              <a:rPr lang="en-US" sz="550" dirty="0">
                <a:solidFill>
                  <a:srgbClr val="E8F0FB"/>
                </a:solidFill>
                <a:latin typeface="Calibri" pitchFamily="34" charset="0"/>
                <a:ea typeface="Calibri" pitchFamily="34" charset="-122"/>
                <a:cs typeface="Calibri" pitchFamily="34" charset="-120"/>
              </a:rPr>
              <a:t>Talk to a person</a:t>
            </a:r>
            <a:endParaRPr lang="en-US" sz="550" dirty="0"/>
          </a:p>
        </p:txBody>
      </p:sp>
      <p:sp>
        <p:nvSpPr>
          <p:cNvPr id="45" name="Text 40"/>
          <p:cNvSpPr/>
          <p:nvPr/>
        </p:nvSpPr>
        <p:spPr>
          <a:xfrm>
            <a:off x="5614416" y="4078224"/>
            <a:ext cx="1975104" cy="1591056"/>
          </a:xfrm>
          <a:prstGeom prst="rect">
            <a:avLst/>
          </a:prstGeom>
          <a:noFill/>
          <a:ln/>
        </p:spPr>
        <p:txBody>
          <a:bodyPr wrap="square" lIns="0" tIns="0" rIns="0" bIns="0" rtlCol="0" anchor="ctr"/>
          <a:lstStyle/>
          <a:p>
            <a:pPr marL="342900" indent="-342900">
              <a:lnSpc>
                <a:spcPts val="1100"/>
              </a:lnSpc>
              <a:spcAft>
                <a:spcPts val="500"/>
              </a:spcAft>
              <a:buSzPct val="100000"/>
              <a:buChar char="•"/>
            </a:pPr>
            <a:r>
              <a:rPr lang="en-US" sz="850" dirty="0">
                <a:solidFill>
                  <a:srgbClr val="A9BEDC"/>
                </a:solidFill>
                <a:latin typeface="Calibri" pitchFamily="34" charset="0"/>
                <a:ea typeface="Calibri" pitchFamily="34" charset="-122"/>
                <a:cs typeface="Calibri" pitchFamily="34" charset="-120"/>
              </a:rPr>
              <a:t>Opens pre-loaded — the traveller never re-explains</a:t>
            </a:r>
            <a:endParaRPr lang="en-US" sz="850" dirty="0"/>
          </a:p>
          <a:p>
            <a:pPr marL="342900" indent="-342900">
              <a:lnSpc>
                <a:spcPts val="1100"/>
              </a:lnSpc>
              <a:spcAft>
                <a:spcPts val="500"/>
              </a:spcAft>
              <a:buSzPct val="100000"/>
              <a:buChar char="•"/>
            </a:pPr>
            <a:r>
              <a:rPr lang="en-US" sz="850" dirty="0">
                <a:solidFill>
                  <a:srgbClr val="A9BEDC"/>
                </a:solidFill>
                <a:latin typeface="Calibri" pitchFamily="34" charset="0"/>
                <a:ea typeface="Calibri" pitchFamily="34" charset="-122"/>
                <a:cs typeface="Calibri" pitchFamily="34" charset="-120"/>
              </a:rPr>
              <a:t>One tap to a human, who inherits the full handoff object</a:t>
            </a:r>
            <a:endParaRPr lang="en-US" sz="850" dirty="0"/>
          </a:p>
        </p:txBody>
      </p:sp>
      <p:sp>
        <p:nvSpPr>
          <p:cNvPr id="46" name="Shape 41"/>
          <p:cNvSpPr/>
          <p:nvPr/>
        </p:nvSpPr>
        <p:spPr>
          <a:xfrm>
            <a:off x="7918704" y="1152144"/>
            <a:ext cx="3813048" cy="4645152"/>
          </a:xfrm>
          <a:prstGeom prst="roundRect">
            <a:avLst>
              <a:gd name="adj" fmla="val 1439"/>
            </a:avLst>
          </a:prstGeom>
          <a:solidFill>
            <a:srgbClr val="1B3A69"/>
          </a:solidFill>
          <a:ln w="6350">
            <a:solidFill>
              <a:srgbClr val="1B3A69"/>
            </a:solidFill>
            <a:prstDash val="solid"/>
          </a:ln>
          <a:effectLst>
            <a:outerShdw sx="100000" sy="100000" kx="0" ky="0" algn="bl" rotWithShape="0" blurRad="114300" dist="25400" dir="5400000">
              <a:srgbClr val="000000">
                <a:alpha val="34000"/>
              </a:srgbClr>
            </a:outerShdw>
          </a:effectLst>
        </p:spPr>
        <p:txBody>
          <a:bodyPr/>
          <a:p/>
        </p:txBody>
      </p:sp>
      <p:pic>
        <p:nvPicPr>
          <p:cNvPr id="47" name="Image 3" descr="preencoded.png">    </p:cNvPr>
          <p:cNvPicPr>
            <a:picLocks noChangeAspect="1"/>
          </p:cNvPicPr>
          <p:nvPr/>
        </p:nvPicPr>
        <p:blipFill>
          <a:blip r:embed="rId4"/>
          <a:stretch>
            <a:fillRect/>
          </a:stretch>
        </p:blipFill>
        <p:spPr>
          <a:xfrm>
            <a:off x="8119872" y="1261872"/>
            <a:ext cx="237744" cy="237744"/>
          </a:xfrm>
          <a:prstGeom prst="rect">
            <a:avLst/>
          </a:prstGeom>
        </p:spPr>
      </p:pic>
      <p:sp>
        <p:nvSpPr>
          <p:cNvPr id="48" name="Text 42"/>
          <p:cNvSpPr/>
          <p:nvPr/>
        </p:nvSpPr>
        <p:spPr>
          <a:xfrm>
            <a:off x="8430768" y="1225296"/>
            <a:ext cx="3108960" cy="310896"/>
          </a:xfrm>
          <a:prstGeom prst="rect">
            <a:avLst/>
          </a:prstGeom>
          <a:noFill/>
          <a:ln/>
        </p:spPr>
        <p:txBody>
          <a:bodyPr wrap="square" lIns="0" tIns="0" rIns="0" bIns="0" rtlCol="0" anchor="ctr"/>
          <a:lstStyle/>
          <a:p>
            <a:pPr indent="0" marL="0">
              <a:lnSpc>
                <a:spcPts val="1000"/>
              </a:lnSpc>
              <a:buNone/>
            </a:pPr>
            <a:r>
              <a:rPr lang="en-US" sz="850" b="1" spc="120" kern="0" dirty="0">
                <a:solidFill>
                  <a:srgbClr val="FFB020"/>
                </a:solidFill>
                <a:latin typeface="Calibri" pitchFamily="34" charset="0"/>
                <a:ea typeface="Calibri" pitchFamily="34" charset="-122"/>
                <a:cs typeface="Calibri" pitchFamily="34" charset="-120"/>
              </a:rPr>
              <a:t>DELIVERY, ON THE PUBLISHED CALENDAR</a:t>
            </a:r>
            <a:endParaRPr lang="en-US" sz="850" dirty="0"/>
          </a:p>
        </p:txBody>
      </p:sp>
      <p:sp>
        <p:nvSpPr>
          <p:cNvPr id="49" name="Shape 43"/>
          <p:cNvSpPr/>
          <p:nvPr/>
        </p:nvSpPr>
        <p:spPr>
          <a:xfrm>
            <a:off x="8138160" y="1655064"/>
            <a:ext cx="118872" cy="118872"/>
          </a:xfrm>
          <a:prstGeom prst="ellipse">
            <a:avLst/>
          </a:prstGeom>
          <a:solidFill>
            <a:srgbClr val="3D9CFF"/>
          </a:solidFill>
          <a:ln w="12700">
            <a:solidFill>
              <a:srgbClr val="333333"/>
            </a:solidFill>
            <a:prstDash val="solid"/>
          </a:ln>
        </p:spPr>
        <p:txBody>
          <a:bodyPr/>
          <a:p/>
        </p:txBody>
      </p:sp>
      <p:sp>
        <p:nvSpPr>
          <p:cNvPr id="50" name="Text 44"/>
          <p:cNvSpPr/>
          <p:nvPr/>
        </p:nvSpPr>
        <p:spPr>
          <a:xfrm>
            <a:off x="8339328" y="1609344"/>
            <a:ext cx="1755648" cy="201168"/>
          </a:xfrm>
          <a:prstGeom prst="rect">
            <a:avLst/>
          </a:prstGeom>
          <a:noFill/>
          <a:ln/>
        </p:spPr>
        <p:txBody>
          <a:bodyPr wrap="square" lIns="0" tIns="0" rIns="0" bIns="0" rtlCol="0" anchor="ctr"/>
          <a:lstStyle/>
          <a:p>
            <a:pPr indent="0" marL="0">
              <a:buNone/>
            </a:pPr>
            <a:r>
              <a:rPr lang="en-US" sz="750" b="1" spc="110" kern="0" dirty="0">
                <a:solidFill>
                  <a:srgbClr val="3D9CFF"/>
                </a:solidFill>
                <a:latin typeface="Calibri" pitchFamily="34" charset="0"/>
                <a:ea typeface="Calibri" pitchFamily="34" charset="-122"/>
                <a:cs typeface="Calibri" pitchFamily="34" charset="-120"/>
              </a:rPr>
              <a:t>PHASE 1 · VIRTUAL</a:t>
            </a:r>
            <a:endParaRPr lang="en-US" sz="750" dirty="0"/>
          </a:p>
        </p:txBody>
      </p:sp>
      <p:sp>
        <p:nvSpPr>
          <p:cNvPr id="51" name="Text 45"/>
          <p:cNvSpPr/>
          <p:nvPr/>
        </p:nvSpPr>
        <p:spPr>
          <a:xfrm>
            <a:off x="10094976" y="1609344"/>
            <a:ext cx="1444752" cy="20116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13–27 Jul</a:t>
            </a:r>
            <a:endParaRPr lang="en-US" sz="900" dirty="0"/>
          </a:p>
        </p:txBody>
      </p:sp>
      <p:sp>
        <p:nvSpPr>
          <p:cNvPr id="52" name="Shape 46"/>
          <p:cNvSpPr/>
          <p:nvPr/>
        </p:nvSpPr>
        <p:spPr>
          <a:xfrm>
            <a:off x="8339328" y="1828800"/>
            <a:ext cx="402336" cy="164592"/>
          </a:xfrm>
          <a:prstGeom prst="roundRect">
            <a:avLst>
              <a:gd name="adj" fmla="val 16667"/>
            </a:avLst>
          </a:prstGeom>
          <a:solidFill>
            <a:srgbClr val="3D9CFF"/>
          </a:solidFill>
          <a:ln w="12700">
            <a:solidFill>
              <a:srgbClr val="333333"/>
            </a:solidFill>
            <a:prstDash val="solid"/>
          </a:ln>
        </p:spPr>
        <p:txBody>
          <a:bodyPr/>
          <a:p/>
        </p:txBody>
      </p:sp>
      <p:sp>
        <p:nvSpPr>
          <p:cNvPr id="53" name="Text 47"/>
          <p:cNvSpPr/>
          <p:nvPr/>
        </p:nvSpPr>
        <p:spPr>
          <a:xfrm>
            <a:off x="8339328" y="1828800"/>
            <a:ext cx="402336" cy="164592"/>
          </a:xfrm>
          <a:prstGeom prst="rect">
            <a:avLst/>
          </a:prstGeom>
          <a:noFill/>
          <a:ln/>
        </p:spPr>
        <p:txBody>
          <a:bodyPr wrap="square" lIns="0" tIns="0" rIns="0" bIns="0" rtlCol="0" anchor="ctr"/>
          <a:lstStyle/>
          <a:p>
            <a:pPr algn="ctr" indent="0" marL="0">
              <a:buNone/>
            </a:pPr>
            <a:r>
              <a:rPr lang="en-US" sz="600" b="1" dirty="0">
                <a:solidFill>
                  <a:srgbClr val="0A1B3D"/>
                </a:solidFill>
                <a:latin typeface="Calibri" pitchFamily="34" charset="0"/>
                <a:ea typeface="Calibri" pitchFamily="34" charset="-122"/>
                <a:cs typeface="Calibri" pitchFamily="34" charset="-120"/>
              </a:rPr>
              <a:t>NOW</a:t>
            </a:r>
            <a:endParaRPr lang="en-US" sz="600" dirty="0"/>
          </a:p>
        </p:txBody>
      </p:sp>
      <p:sp>
        <p:nvSpPr>
          <p:cNvPr id="54" name="Text 48"/>
          <p:cNvSpPr/>
          <p:nvPr/>
        </p:nvSpPr>
        <p:spPr>
          <a:xfrm>
            <a:off x="8814816" y="1828800"/>
            <a:ext cx="2706624" cy="365760"/>
          </a:xfrm>
          <a:prstGeom prst="rect">
            <a:avLst/>
          </a:prstGeom>
          <a:noFill/>
          <a:ln/>
        </p:spPr>
        <p:txBody>
          <a:bodyPr wrap="square" lIns="0" tIns="0" rIns="0" bIns="0" rtlCol="0" anchor="ctr"/>
          <a:lstStyle/>
          <a:p>
            <a:pPr indent="0" marL="0">
              <a:lnSpc>
                <a:spcPts val="980"/>
              </a:lnSpc>
              <a:buNone/>
            </a:pPr>
            <a:r>
              <a:rPr lang="en-US" sz="800" dirty="0">
                <a:solidFill>
                  <a:srgbClr val="A9BEDC"/>
                </a:solidFill>
                <a:latin typeface="Calibri" pitchFamily="34" charset="0"/>
                <a:ea typeface="Calibri" pitchFamily="34" charset="-122"/>
                <a:cs typeface="Calibri" pitchFamily="34" charset="-120"/>
              </a:rPr>
              <a:t>This deck · architecture · Rego bundles · saga · AND a working prototype</a:t>
            </a:r>
            <a:endParaRPr lang="en-US" sz="800" dirty="0"/>
          </a:p>
        </p:txBody>
      </p:sp>
      <p:sp>
        <p:nvSpPr>
          <p:cNvPr id="55" name="Text 49"/>
          <p:cNvSpPr/>
          <p:nvPr/>
        </p:nvSpPr>
        <p:spPr>
          <a:xfrm>
            <a:off x="8339328" y="2212848"/>
            <a:ext cx="3182112" cy="329184"/>
          </a:xfrm>
          <a:prstGeom prst="rect">
            <a:avLst/>
          </a:prstGeom>
          <a:noFill/>
          <a:ln/>
        </p:spPr>
        <p:txBody>
          <a:bodyPr wrap="square" lIns="0" tIns="0" rIns="0" bIns="0" rtlCol="0" anchor="ctr"/>
          <a:lstStyle/>
          <a:p>
            <a:pPr indent="0" marL="0">
              <a:lnSpc>
                <a:spcPts val="980"/>
              </a:lnSpc>
              <a:buNone/>
            </a:pPr>
            <a:r>
              <a:rPr lang="en-US" sz="800" i="1" dirty="0">
                <a:solidFill>
                  <a:srgbClr val="3D9CFF"/>
                </a:solidFill>
                <a:latin typeface="Calibri" pitchFamily="34" charset="0"/>
                <a:ea typeface="Calibri" pitchFamily="34" charset="-122"/>
                <a:cs typeface="Calibri" pitchFamily="34" charset="-120"/>
              </a:rPr>
              <a:t>Exit: submitted before 27 Jul, 23:59 IST.</a:t>
            </a:r>
            <a:endParaRPr lang="en-US" sz="800" dirty="0"/>
          </a:p>
        </p:txBody>
      </p:sp>
      <p:sp>
        <p:nvSpPr>
          <p:cNvPr id="56" name="Shape 50"/>
          <p:cNvSpPr/>
          <p:nvPr/>
        </p:nvSpPr>
        <p:spPr>
          <a:xfrm>
            <a:off x="8138160" y="2624328"/>
            <a:ext cx="118872" cy="118872"/>
          </a:xfrm>
          <a:prstGeom prst="ellipse">
            <a:avLst/>
          </a:prstGeom>
          <a:solidFill>
            <a:srgbClr val="7B94BA"/>
          </a:solidFill>
          <a:ln w="12700">
            <a:solidFill>
              <a:srgbClr val="333333"/>
            </a:solidFill>
            <a:prstDash val="solid"/>
          </a:ln>
        </p:spPr>
        <p:txBody>
          <a:bodyPr/>
          <a:p/>
        </p:txBody>
      </p:sp>
      <p:sp>
        <p:nvSpPr>
          <p:cNvPr id="57" name="Text 51"/>
          <p:cNvSpPr/>
          <p:nvPr/>
        </p:nvSpPr>
        <p:spPr>
          <a:xfrm>
            <a:off x="8339328" y="2578608"/>
            <a:ext cx="1755648" cy="201168"/>
          </a:xfrm>
          <a:prstGeom prst="rect">
            <a:avLst/>
          </a:prstGeom>
          <a:noFill/>
          <a:ln/>
        </p:spPr>
        <p:txBody>
          <a:bodyPr wrap="square" lIns="0" tIns="0" rIns="0" bIns="0" rtlCol="0" anchor="ctr"/>
          <a:lstStyle/>
          <a:p>
            <a:pPr indent="0" marL="0">
              <a:buNone/>
            </a:pPr>
            <a:r>
              <a:rPr lang="en-US" sz="750" b="1" spc="110" kern="0" dirty="0">
                <a:solidFill>
                  <a:srgbClr val="7B94BA"/>
                </a:solidFill>
                <a:latin typeface="Calibri" pitchFamily="34" charset="0"/>
                <a:ea typeface="Calibri" pitchFamily="34" charset="-122"/>
                <a:cs typeface="Calibri" pitchFamily="34" charset="-120"/>
              </a:rPr>
              <a:t>FINALISTS ANNOUNCED</a:t>
            </a:r>
            <a:endParaRPr lang="en-US" sz="750" dirty="0"/>
          </a:p>
        </p:txBody>
      </p:sp>
      <p:sp>
        <p:nvSpPr>
          <p:cNvPr id="58" name="Text 52"/>
          <p:cNvSpPr/>
          <p:nvPr/>
        </p:nvSpPr>
        <p:spPr>
          <a:xfrm>
            <a:off x="10094976" y="2578608"/>
            <a:ext cx="1444752" cy="20116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7 Aug</a:t>
            </a:r>
            <a:endParaRPr lang="en-US" sz="900" dirty="0"/>
          </a:p>
        </p:txBody>
      </p:sp>
      <p:sp>
        <p:nvSpPr>
          <p:cNvPr id="59" name="Text 53"/>
          <p:cNvSpPr/>
          <p:nvPr/>
        </p:nvSpPr>
        <p:spPr>
          <a:xfrm>
            <a:off x="8339328" y="2798064"/>
            <a:ext cx="3182112" cy="237744"/>
          </a:xfrm>
          <a:prstGeom prst="rect">
            <a:avLst/>
          </a:prstGeom>
          <a:noFill/>
          <a:ln/>
        </p:spPr>
        <p:txBody>
          <a:bodyPr wrap="square" lIns="0" tIns="0" rIns="0" bIns="0" rtlCol="0" anchor="ctr"/>
          <a:lstStyle/>
          <a:p>
            <a:pPr indent="0" marL="0">
              <a:lnSpc>
                <a:spcPts val="980"/>
              </a:lnSpc>
              <a:buNone/>
            </a:pPr>
            <a:r>
              <a:rPr lang="en-US" sz="800" dirty="0">
                <a:solidFill>
                  <a:srgbClr val="A9BEDC"/>
                </a:solidFill>
                <a:latin typeface="Calibri" pitchFamily="34" charset="0"/>
                <a:ea typeface="Calibri" pitchFamily="34" charset="-122"/>
                <a:cs typeface="Calibri" pitchFamily="34" charset="-120"/>
              </a:rPr>
              <a:t>Top 6 teams named</a:t>
            </a:r>
            <a:endParaRPr lang="en-US" sz="800" dirty="0"/>
          </a:p>
        </p:txBody>
      </p:sp>
      <p:sp>
        <p:nvSpPr>
          <p:cNvPr id="60" name="Shape 54"/>
          <p:cNvSpPr/>
          <p:nvPr/>
        </p:nvSpPr>
        <p:spPr>
          <a:xfrm>
            <a:off x="8138160" y="3136392"/>
            <a:ext cx="118872" cy="118872"/>
          </a:xfrm>
          <a:prstGeom prst="ellipse">
            <a:avLst/>
          </a:prstGeom>
          <a:solidFill>
            <a:srgbClr val="9B8CFF"/>
          </a:solidFill>
          <a:ln w="12700">
            <a:solidFill>
              <a:srgbClr val="333333"/>
            </a:solidFill>
            <a:prstDash val="solid"/>
          </a:ln>
        </p:spPr>
        <p:txBody>
          <a:bodyPr/>
          <a:p/>
        </p:txBody>
      </p:sp>
      <p:sp>
        <p:nvSpPr>
          <p:cNvPr id="61" name="Text 55"/>
          <p:cNvSpPr/>
          <p:nvPr/>
        </p:nvSpPr>
        <p:spPr>
          <a:xfrm>
            <a:off x="8339328" y="3090672"/>
            <a:ext cx="1755648" cy="201168"/>
          </a:xfrm>
          <a:prstGeom prst="rect">
            <a:avLst/>
          </a:prstGeom>
          <a:noFill/>
          <a:ln/>
        </p:spPr>
        <p:txBody>
          <a:bodyPr wrap="square" lIns="0" tIns="0" rIns="0" bIns="0" rtlCol="0" anchor="ctr"/>
          <a:lstStyle/>
          <a:p>
            <a:pPr indent="0" marL="0">
              <a:buNone/>
            </a:pPr>
            <a:r>
              <a:rPr lang="en-US" sz="750" b="1" spc="110" kern="0" dirty="0">
                <a:solidFill>
                  <a:srgbClr val="9B8CFF"/>
                </a:solidFill>
                <a:latin typeface="Calibri" pitchFamily="34" charset="0"/>
                <a:ea typeface="Calibri" pitchFamily="34" charset="-122"/>
                <a:cs typeface="Calibri" pitchFamily="34" charset="-120"/>
              </a:rPr>
              <a:t>MENTORING + PROTOTYPE</a:t>
            </a:r>
            <a:endParaRPr lang="en-US" sz="750" dirty="0"/>
          </a:p>
        </p:txBody>
      </p:sp>
      <p:sp>
        <p:nvSpPr>
          <p:cNvPr id="62" name="Text 56"/>
          <p:cNvSpPr/>
          <p:nvPr/>
        </p:nvSpPr>
        <p:spPr>
          <a:xfrm>
            <a:off x="10094976" y="3090672"/>
            <a:ext cx="1444752" cy="20116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7–21 Aug</a:t>
            </a:r>
            <a:endParaRPr lang="en-US" sz="900" dirty="0"/>
          </a:p>
        </p:txBody>
      </p:sp>
      <p:sp>
        <p:nvSpPr>
          <p:cNvPr id="63" name="Text 57"/>
          <p:cNvSpPr/>
          <p:nvPr/>
        </p:nvSpPr>
        <p:spPr>
          <a:xfrm>
            <a:off x="8339328" y="3310128"/>
            <a:ext cx="3182112" cy="365760"/>
          </a:xfrm>
          <a:prstGeom prst="rect">
            <a:avLst/>
          </a:prstGeom>
          <a:noFill/>
          <a:ln/>
        </p:spPr>
        <p:txBody>
          <a:bodyPr wrap="square" lIns="0" tIns="0" rIns="0" bIns="0" rtlCol="0" anchor="ctr"/>
          <a:lstStyle/>
          <a:p>
            <a:pPr indent="0" marL="0">
              <a:lnSpc>
                <a:spcPts val="980"/>
              </a:lnSpc>
              <a:buNone/>
            </a:pPr>
            <a:r>
              <a:rPr lang="en-US" sz="800" dirty="0">
                <a:solidFill>
                  <a:srgbClr val="A9BEDC"/>
                </a:solidFill>
                <a:latin typeface="Calibri" pitchFamily="34" charset="0"/>
                <a:ea typeface="Calibri" pitchFamily="34" charset="-122"/>
                <a:cs typeface="Calibri" pitchFamily="34" charset="-120"/>
              </a:rPr>
              <a:t>DONE EARLY — web app (8 routes) and an installable Android build, both driving the same engine. Links on the next slide.</a:t>
            </a:r>
            <a:endParaRPr lang="en-US" sz="800" dirty="0"/>
          </a:p>
        </p:txBody>
      </p:sp>
      <p:sp>
        <p:nvSpPr>
          <p:cNvPr id="64" name="Text 58"/>
          <p:cNvSpPr/>
          <p:nvPr/>
        </p:nvSpPr>
        <p:spPr>
          <a:xfrm>
            <a:off x="8339328" y="3822192"/>
            <a:ext cx="3182112" cy="329184"/>
          </a:xfrm>
          <a:prstGeom prst="rect">
            <a:avLst/>
          </a:prstGeom>
          <a:noFill/>
          <a:ln/>
        </p:spPr>
        <p:txBody>
          <a:bodyPr wrap="square" lIns="0" tIns="0" rIns="0" bIns="0" rtlCol="0" anchor="ctr"/>
          <a:lstStyle/>
          <a:p>
            <a:pPr indent="0" marL="0">
              <a:lnSpc>
                <a:spcPts val="980"/>
              </a:lnSpc>
              <a:buNone/>
            </a:pPr>
            <a:r>
              <a:rPr lang="en-US" sz="800" i="1" dirty="0">
                <a:solidFill>
                  <a:srgbClr val="9B8CFF"/>
                </a:solidFill>
                <a:latin typeface="Calibri" pitchFamily="34" charset="0"/>
                <a:ea typeface="Calibri" pitchFamily="34" charset="-122"/>
                <a:cs typeface="Calibri" pitchFamily="34" charset="-120"/>
              </a:rPr>
              <a:t>Exit met: live rebooking, policy denials, LIFO rollback.</a:t>
            </a:r>
            <a:endParaRPr lang="en-US" sz="800" dirty="0"/>
          </a:p>
        </p:txBody>
      </p:sp>
      <p:sp>
        <p:nvSpPr>
          <p:cNvPr id="65" name="Shape 59"/>
          <p:cNvSpPr/>
          <p:nvPr/>
        </p:nvSpPr>
        <p:spPr>
          <a:xfrm>
            <a:off x="8138160" y="4233672"/>
            <a:ext cx="118872" cy="118872"/>
          </a:xfrm>
          <a:prstGeom prst="ellipse">
            <a:avLst/>
          </a:prstGeom>
          <a:solidFill>
            <a:srgbClr val="2ECC9A"/>
          </a:solidFill>
          <a:ln w="12700">
            <a:solidFill>
              <a:srgbClr val="333333"/>
            </a:solidFill>
            <a:prstDash val="solid"/>
          </a:ln>
        </p:spPr>
      </p:sp>
      <p:sp>
        <p:nvSpPr>
          <p:cNvPr id="66" name="Text 60"/>
          <p:cNvSpPr/>
          <p:nvPr/>
        </p:nvSpPr>
        <p:spPr>
          <a:xfrm>
            <a:off x="8339328" y="4187952"/>
            <a:ext cx="1755648" cy="201168"/>
          </a:xfrm>
          <a:prstGeom prst="rect">
            <a:avLst/>
          </a:prstGeom>
          <a:noFill/>
          <a:ln/>
        </p:spPr>
        <p:txBody>
          <a:bodyPr wrap="square" lIns="0" tIns="0" rIns="0" bIns="0" rtlCol="0" anchor="ctr"/>
          <a:lstStyle/>
          <a:p>
            <a:pPr indent="0" marL="0">
              <a:buNone/>
            </a:pPr>
            <a:r>
              <a:rPr lang="en-US" sz="750" b="1" spc="110" kern="0" dirty="0">
                <a:solidFill>
                  <a:srgbClr val="2ECC9A"/>
                </a:solidFill>
                <a:latin typeface="Calibri" pitchFamily="34" charset="0"/>
                <a:ea typeface="Calibri" pitchFamily="34" charset="-122"/>
                <a:cs typeface="Calibri" pitchFamily="34" charset="-120"/>
              </a:rPr>
              <a:t>IN-PERSON FINALE</a:t>
            </a:r>
            <a:endParaRPr lang="en-US" sz="750" dirty="0"/>
          </a:p>
        </p:txBody>
      </p:sp>
      <p:sp>
        <p:nvSpPr>
          <p:cNvPr id="67" name="Text 61"/>
          <p:cNvSpPr/>
          <p:nvPr/>
        </p:nvSpPr>
        <p:spPr>
          <a:xfrm>
            <a:off x="10094976" y="4187952"/>
            <a:ext cx="1444752" cy="20116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25 Aug · Chennai</a:t>
            </a:r>
            <a:endParaRPr lang="en-US" sz="900" dirty="0"/>
          </a:p>
        </p:txBody>
      </p:sp>
      <p:sp>
        <p:nvSpPr>
          <p:cNvPr id="68" name="Text 62"/>
          <p:cNvSpPr/>
          <p:nvPr/>
        </p:nvSpPr>
        <p:spPr>
          <a:xfrm>
            <a:off x="8339328" y="4407408"/>
            <a:ext cx="3182112" cy="365760"/>
          </a:xfrm>
          <a:prstGeom prst="rect">
            <a:avLst/>
          </a:prstGeom>
          <a:noFill/>
          <a:ln/>
        </p:spPr>
        <p:txBody>
          <a:bodyPr wrap="square" lIns="0" tIns="0" rIns="0" bIns="0" rtlCol="0" anchor="ctr"/>
          <a:lstStyle/>
          <a:p>
            <a:pPr indent="0" marL="0">
              <a:lnSpc>
                <a:spcPts val="980"/>
              </a:lnSpc>
              <a:buNone/>
            </a:pPr>
            <a:r>
              <a:rPr lang="en-US" sz="800" dirty="0">
                <a:solidFill>
                  <a:srgbClr val="A9BEDC"/>
                </a:solidFill>
                <a:latin typeface="Calibri" pitchFamily="34" charset="0"/>
                <a:ea typeface="Calibri" pitchFamily="34" charset="-122"/>
                <a:cs typeface="Calibri" pitchFamily="34" charset="-120"/>
              </a:rPr>
              <a:t>Live demo of P1 + P4, with a recording as the fallback</a:t>
            </a:r>
            <a:endParaRPr lang="en-US" sz="800" dirty="0"/>
          </a:p>
        </p:txBody>
      </p:sp>
      <p:sp>
        <p:nvSpPr>
          <p:cNvPr id="69" name="Text 63"/>
          <p:cNvSpPr/>
          <p:nvPr/>
        </p:nvSpPr>
        <p:spPr>
          <a:xfrm>
            <a:off x="8339328" y="4754880"/>
            <a:ext cx="3182112" cy="329184"/>
          </a:xfrm>
          <a:prstGeom prst="rect">
            <a:avLst/>
          </a:prstGeom>
          <a:noFill/>
          <a:ln/>
        </p:spPr>
        <p:txBody>
          <a:bodyPr wrap="square" lIns="0" tIns="0" rIns="0" bIns="0" rtlCol="0" anchor="ctr"/>
          <a:lstStyle/>
          <a:p>
            <a:pPr indent="0" marL="0">
              <a:lnSpc>
                <a:spcPts val="980"/>
              </a:lnSpc>
              <a:buNone/>
            </a:pPr>
            <a:r>
              <a:rPr lang="en-US" sz="800" i="1" dirty="0">
                <a:solidFill>
                  <a:srgbClr val="2ECC9A"/>
                </a:solidFill>
                <a:latin typeface="Calibri" pitchFamily="34" charset="0"/>
                <a:ea typeface="Calibri" pitchFamily="34" charset="-122"/>
                <a:cs typeface="Calibri" pitchFamily="34" charset="-120"/>
              </a:rPr>
              <a:t>Exit: prototype completion, business value, innovation, presentation.</a:t>
            </a:r>
            <a:endParaRPr lang="en-US" sz="800" dirty="0"/>
          </a:p>
        </p:txBody>
      </p:sp>
      <p:sp>
        <p:nvSpPr>
          <p:cNvPr id="70" name="Shape 64"/>
          <p:cNvSpPr/>
          <p:nvPr/>
        </p:nvSpPr>
        <p:spPr>
          <a:xfrm>
            <a:off x="8119872" y="5358384"/>
            <a:ext cx="3419856" cy="365760"/>
          </a:xfrm>
          <a:prstGeom prst="roundRect">
            <a:avLst>
              <a:gd name="adj" fmla="val 15000"/>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71" name="Text 65"/>
          <p:cNvSpPr/>
          <p:nvPr/>
        </p:nvSpPr>
        <p:spPr>
          <a:xfrm>
            <a:off x="8247888" y="5358384"/>
            <a:ext cx="3182112" cy="365760"/>
          </a:xfrm>
          <a:prstGeom prst="rect">
            <a:avLst/>
          </a:prstGeom>
          <a:noFill/>
          <a:ln/>
        </p:spPr>
        <p:txBody>
          <a:bodyPr wrap="square" lIns="0" tIns="0" rIns="0" bIns="0" rtlCol="0" anchor="ctr"/>
          <a:lstStyle/>
          <a:p>
            <a:pPr indent="0" marL="0">
              <a:lnSpc>
                <a:spcPts val="950"/>
              </a:lnSpc>
              <a:buNone/>
            </a:pPr>
            <a:r>
              <a:rPr lang="en-US" sz="750" b="1" dirty="0">
                <a:solidFill>
                  <a:srgbClr val="FFB020"/>
                </a:solidFill>
                <a:latin typeface="Calibri" pitchFamily="34" charset="0"/>
                <a:ea typeface="Calibri" pitchFamily="34" charset="-122"/>
                <a:cs typeface="Calibri" pitchFamily="34" charset="-120"/>
              </a:rPr>
              <a:t>BEYOND 25 AUG  ·  Sabre onboarding · Lumo back-test · vPayment sandbox · one card product, India first</a:t>
            </a:r>
            <a:endParaRPr lang="en-US" sz="750" dirty="0"/>
          </a:p>
        </p:txBody>
      </p:sp>
      <p:sp>
        <p:nvSpPr>
          <p:cNvPr id="72" name="Text 66"/>
          <p:cNvSpPr/>
          <p:nvPr/>
        </p:nvSpPr>
        <p:spPr>
          <a:xfrm>
            <a:off x="8119872" y="5852160"/>
            <a:ext cx="3474720" cy="457200"/>
          </a:xfrm>
          <a:prstGeom prst="rect">
            <a:avLst/>
          </a:prstGeom>
          <a:noFill/>
          <a:ln/>
        </p:spPr>
        <p:txBody>
          <a:bodyPr wrap="square" lIns="0" tIns="0" rIns="0" bIns="0" rtlCol="0" anchor="ctr"/>
          <a:lstStyle/>
          <a:p>
            <a:pPr indent="0" marL="0">
              <a:lnSpc>
                <a:spcPts val="960"/>
              </a:lnSpc>
              <a:buNone/>
            </a:pPr>
            <a:r>
              <a:rPr lang="en-US" sz="800" i="1" dirty="0">
                <a:solidFill>
                  <a:srgbClr val="E8F0FB"/>
                </a:solidFill>
                <a:latin typeface="Calibri" pitchFamily="34" charset="0"/>
                <a:ea typeface="Calibri" pitchFamily="34" charset="-122"/>
                <a:cs typeface="Calibri" pitchFamily="34" charset="-120"/>
              </a:rPr>
              <a:t>Kill criterion: if the Aug 7–21 build cannot produce a clean rollback on demand, the durability claim is unproven and we say so — rather than hide it.</a:t>
            </a:r>
            <a:endParaRPr lang="en-US" sz="800" dirty="0"/>
          </a:p>
        </p:txBody>
      </p:sp>
      <p:sp>
        <p:nvSpPr>
          <p:cNvPr id="73" name="Text 67"/>
          <p:cNvSpPr/>
          <p:nvPr/>
        </p:nvSpPr>
        <p:spPr>
          <a:xfrm>
            <a:off x="457200" y="6382512"/>
            <a:ext cx="11274552" cy="310896"/>
          </a:xfrm>
          <a:prstGeom prst="rect">
            <a:avLst/>
          </a:prstGeom>
          <a:noFill/>
          <a:ln/>
        </p:spPr>
        <p:txBody>
          <a:bodyPr wrap="square" lIns="0" tIns="0" rIns="0" bIns="0" rtlCol="0" anchor="t"/>
          <a:lstStyle/>
          <a:p>
            <a:pPr indent="0" marL="0">
              <a:buNone/>
            </a:pPr>
            <a:r>
              <a:rPr lang="en-US" sz="750" b="1" spc="120" kern="0" dirty="0">
                <a:solidFill>
                  <a:srgbClr val="7B94BA"/>
                </a:solidFill>
                <a:latin typeface="Calibri" pitchFamily="34" charset="0"/>
                <a:ea typeface="Calibri" pitchFamily="34" charset="-122"/>
                <a:cs typeface="Calibri" pitchFamily="34" charset="-120"/>
              </a:rPr>
              <a:t>SOURCES  </a:t>
            </a:r>
            <a:pPr indent="0" marL="0">
              <a:buNone/>
            </a:pPr>
            <a:r>
              <a:rPr lang="en-US" sz="750" dirty="0">
                <a:solidFill>
                  <a:srgbClr val="7B94BA"/>
                </a:solidFill>
                <a:latin typeface="Calibri" pitchFamily="34" charset="0"/>
                <a:ea typeface="Calibri" pitchFamily="34" charset="-122"/>
                <a:cs typeface="Calibri" pitchFamily="34" charset="-120"/>
              </a:rPr>
              <a:t>FCM data-message behaviour per Firebase message-type documentation (4,096-byte ceiling). Interaction design and delivery plan original to this submission; timeline per the published Codestreet 2026 schedule.</a:t>
            </a:r>
            <a:endParaRPr lang="en-US" sz="75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B3D"/>
        </a:solidFill>
        <a:effectLst/>
      </p:bgPr>
    </p:bg>
    <p:spTree>
      <p:nvGrpSpPr>
        <p:cNvPr id="1" name=""/>
        <p:cNvGrpSpPr/>
        <p:nvPr/>
      </p:nvGrpSpPr>
      <p:grpSpPr/>
      <p:sp>
        <p:nvSpPr>
          <p:cNvPr id="2" name="TextBox 1"/>
          <p:cNvSpPr txBox="1"/>
          <p:nvPr/>
        </p:nvSpPr>
        <p:spPr>
          <a:xfrm>
            <a:off x="457200" y="146304"/>
            <a:ext cx="8229600" cy="201168"/>
          </a:xfrm>
          <a:prstGeom prst="rect">
            <a:avLst/>
          </a:prstGeom>
          <a:noFill/>
        </p:spPr>
        <p:txBody>
          <a:bodyPr wrap="square" lIns="0" rIns="0" tIns="0" bIns="0">
            <a:spAutoFit/>
          </a:bodyPr>
          <a:lstStyle/>
          <a:p>
            <a:pPr algn="l">
              <a:lnSpc>
                <a:spcPct val="100000"/>
              </a:lnSpc>
            </a:pPr>
            <a:r>
              <a:rPr sz="850" b="1">
                <a:solidFill>
                  <a:srgbClr val="3D9CFF"/>
                </a:solidFill>
                <a:latin typeface="Calibri"/>
              </a:rPr>
              <a:t>11 · WHAT WE BUILT</a:t>
            </a:r>
          </a:p>
        </p:txBody>
      </p:sp>
      <p:sp>
        <p:nvSpPr>
          <p:cNvPr id="3" name="TextBox 2"/>
          <p:cNvSpPr txBox="1"/>
          <p:nvPr/>
        </p:nvSpPr>
        <p:spPr>
          <a:xfrm>
            <a:off x="11155680" y="146304"/>
            <a:ext cx="576072" cy="201168"/>
          </a:xfrm>
          <a:prstGeom prst="rect">
            <a:avLst/>
          </a:prstGeom>
          <a:noFill/>
        </p:spPr>
        <p:txBody>
          <a:bodyPr wrap="square" lIns="0" rIns="0" tIns="0" bIns="0">
            <a:spAutoFit/>
          </a:bodyPr>
          <a:lstStyle/>
          <a:p>
            <a:pPr algn="r">
              <a:lnSpc>
                <a:spcPct val="100000"/>
              </a:lnSpc>
            </a:pPr>
            <a:r>
              <a:rPr sz="850" b="0">
                <a:solidFill>
                  <a:srgbClr val="7B94BA"/>
                </a:solidFill>
                <a:latin typeface="Calibri"/>
              </a:rPr>
              <a:t>12</a:t>
            </a:r>
          </a:p>
        </p:txBody>
      </p:sp>
      <p:sp>
        <p:nvSpPr>
          <p:cNvPr id="4" name="TextBox 3"/>
          <p:cNvSpPr txBox="1"/>
          <p:nvPr/>
        </p:nvSpPr>
        <p:spPr>
          <a:xfrm>
            <a:off x="457200" y="365760"/>
            <a:ext cx="11274552" cy="420624"/>
          </a:xfrm>
          <a:prstGeom prst="rect">
            <a:avLst/>
          </a:prstGeom>
          <a:noFill/>
        </p:spPr>
        <p:txBody>
          <a:bodyPr wrap="square" lIns="0" rIns="0" tIns="0" bIns="0">
            <a:spAutoFit/>
          </a:bodyPr>
          <a:lstStyle/>
          <a:p>
            <a:pPr algn="l">
              <a:lnSpc>
                <a:spcPct val="100000"/>
              </a:lnSpc>
            </a:pPr>
            <a:r>
              <a:rPr sz="2500" b="1">
                <a:solidFill>
                  <a:srgbClr val="FFFFFF"/>
                </a:solidFill>
                <a:latin typeface="Cambria"/>
              </a:rPr>
              <a:t>It is not a mock-up. It runs.</a:t>
            </a:r>
          </a:p>
        </p:txBody>
      </p:sp>
      <p:sp>
        <p:nvSpPr>
          <p:cNvPr id="5" name="TextBox 4"/>
          <p:cNvSpPr txBox="1"/>
          <p:nvPr/>
        </p:nvSpPr>
        <p:spPr>
          <a:xfrm>
            <a:off x="457200" y="804672"/>
            <a:ext cx="11274552" cy="310896"/>
          </a:xfrm>
          <a:prstGeom prst="rect">
            <a:avLst/>
          </a:prstGeom>
          <a:noFill/>
        </p:spPr>
        <p:txBody>
          <a:bodyPr wrap="square" lIns="0" rIns="0" tIns="0" bIns="0">
            <a:spAutoFit/>
          </a:bodyPr>
          <a:lstStyle/>
          <a:p>
            <a:pPr algn="l">
              <a:lnSpc>
                <a:spcPct val="100000"/>
              </a:lnSpc>
            </a:pPr>
            <a:r>
              <a:rPr sz="1150" b="0">
                <a:solidFill>
                  <a:srgbClr val="A9BEDC"/>
                </a:solidFill>
                <a:latin typeface="Calibri"/>
              </a:rPr>
              <a:t>A web application and an installable Android build, both driving the same engine — generated inventory, a real policy gate, and a saga that rolls back.</a:t>
            </a:r>
          </a:p>
        </p:txBody>
      </p:sp>
      <p:sp>
        <p:nvSpPr>
          <p:cNvPr id="6" name="Rounded Rectangle 5"/>
          <p:cNvSpPr/>
          <p:nvPr/>
        </p:nvSpPr>
        <p:spPr>
          <a:xfrm>
            <a:off x="457200" y="1188720"/>
            <a:ext cx="2724912" cy="1481328"/>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21792" y="1335024"/>
            <a:ext cx="2377440" cy="201168"/>
          </a:xfrm>
          <a:prstGeom prst="rect">
            <a:avLst/>
          </a:prstGeom>
          <a:noFill/>
        </p:spPr>
        <p:txBody>
          <a:bodyPr wrap="square" lIns="0" rIns="0" tIns="0" bIns="0">
            <a:spAutoFit/>
          </a:bodyPr>
          <a:lstStyle/>
          <a:p>
            <a:pPr algn="l">
              <a:lnSpc>
                <a:spcPct val="100000"/>
              </a:lnSpc>
            </a:pPr>
            <a:r>
              <a:rPr sz="850" b="1">
                <a:solidFill>
                  <a:srgbClr val="3D9CFF"/>
                </a:solidFill>
                <a:latin typeface="Courier New"/>
              </a:rPr>
              <a:t>WEB APP</a:t>
            </a:r>
          </a:p>
        </p:txBody>
      </p:sp>
      <p:sp>
        <p:nvSpPr>
          <p:cNvPr id="8" name="TextBox 7"/>
          <p:cNvSpPr txBox="1"/>
          <p:nvPr/>
        </p:nvSpPr>
        <p:spPr>
          <a:xfrm>
            <a:off x="621792" y="1572768"/>
            <a:ext cx="2377440" cy="237744"/>
          </a:xfrm>
          <a:prstGeom prst="rect">
            <a:avLst/>
          </a:prstGeom>
          <a:noFill/>
        </p:spPr>
        <p:txBody>
          <a:bodyPr wrap="square" lIns="0" rIns="0" tIns="0" bIns="0">
            <a:spAutoFit/>
          </a:bodyPr>
          <a:lstStyle/>
          <a:p>
            <a:pPr algn="l">
              <a:lnSpc>
                <a:spcPct val="100000"/>
              </a:lnSpc>
            </a:pPr>
            <a:r>
              <a:rPr sz="1200" b="1">
                <a:solidFill>
                  <a:srgbClr val="FFFFFF"/>
                </a:solidFill>
                <a:latin typeface="Cambria"/>
              </a:rPr>
              <a:t>8 routes</a:t>
            </a:r>
          </a:p>
        </p:txBody>
      </p:sp>
      <p:sp>
        <p:nvSpPr>
          <p:cNvPr id="9" name="TextBox 8"/>
          <p:cNvSpPr txBox="1"/>
          <p:nvPr/>
        </p:nvSpPr>
        <p:spPr>
          <a:xfrm>
            <a:off x="621792" y="1883664"/>
            <a:ext cx="2377440" cy="731520"/>
          </a:xfrm>
          <a:prstGeom prst="rect">
            <a:avLst/>
          </a:prstGeom>
          <a:noFill/>
        </p:spPr>
        <p:txBody>
          <a:bodyPr wrap="square" lIns="0" rIns="0" tIns="0" bIns="0">
            <a:spAutoFit/>
          </a:bodyPr>
          <a:lstStyle/>
          <a:p>
            <a:pPr algn="l">
              <a:lnSpc>
                <a:spcPct val="100000"/>
              </a:lnSpc>
            </a:pPr>
            <a:r>
              <a:rPr sz="750" b="0">
                <a:solidFill>
                  <a:srgbClr val="A9BEDC"/>
                </a:solidFill>
                <a:latin typeface="Calibri"/>
              </a:rPr>
              <a:t>Flights · risk detail · the 80% early ask · live recovery · profile · permissions · history · how it works</a:t>
            </a:r>
          </a:p>
        </p:txBody>
      </p:sp>
      <p:sp>
        <p:nvSpPr>
          <p:cNvPr id="10" name="Rounded Rectangle 9"/>
          <p:cNvSpPr/>
          <p:nvPr/>
        </p:nvSpPr>
        <p:spPr>
          <a:xfrm>
            <a:off x="3273552" y="1188720"/>
            <a:ext cx="2724912" cy="1481328"/>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438144" y="1335024"/>
            <a:ext cx="2377440" cy="201168"/>
          </a:xfrm>
          <a:prstGeom prst="rect">
            <a:avLst/>
          </a:prstGeom>
          <a:noFill/>
        </p:spPr>
        <p:txBody>
          <a:bodyPr wrap="square" lIns="0" rIns="0" tIns="0" bIns="0">
            <a:spAutoFit/>
          </a:bodyPr>
          <a:lstStyle/>
          <a:p>
            <a:pPr algn="l">
              <a:lnSpc>
                <a:spcPct val="100000"/>
              </a:lnSpc>
            </a:pPr>
            <a:r>
              <a:rPr sz="850" b="1">
                <a:solidFill>
                  <a:srgbClr val="2ECC9A"/>
                </a:solidFill>
                <a:latin typeface="Courier New"/>
              </a:rPr>
              <a:t>ANDROID</a:t>
            </a:r>
          </a:p>
        </p:txBody>
      </p:sp>
      <p:sp>
        <p:nvSpPr>
          <p:cNvPr id="12" name="TextBox 11"/>
          <p:cNvSpPr txBox="1"/>
          <p:nvPr/>
        </p:nvSpPr>
        <p:spPr>
          <a:xfrm>
            <a:off x="3438144" y="1572768"/>
            <a:ext cx="2377440" cy="237744"/>
          </a:xfrm>
          <a:prstGeom prst="rect">
            <a:avLst/>
          </a:prstGeom>
          <a:noFill/>
        </p:spPr>
        <p:txBody>
          <a:bodyPr wrap="square" lIns="0" rIns="0" tIns="0" bIns="0">
            <a:spAutoFit/>
          </a:bodyPr>
          <a:lstStyle/>
          <a:p>
            <a:pPr algn="l">
              <a:lnSpc>
                <a:spcPct val="100000"/>
              </a:lnSpc>
            </a:pPr>
            <a:r>
              <a:rPr sz="1200" b="1">
                <a:solidFill>
                  <a:srgbClr val="FFFFFF"/>
                </a:solidFill>
                <a:latin typeface="Cambria"/>
              </a:rPr>
              <a:t>installable APK</a:t>
            </a:r>
          </a:p>
        </p:txBody>
      </p:sp>
      <p:sp>
        <p:nvSpPr>
          <p:cNvPr id="13" name="TextBox 12"/>
          <p:cNvSpPr txBox="1"/>
          <p:nvPr/>
        </p:nvSpPr>
        <p:spPr>
          <a:xfrm>
            <a:off x="3438144" y="1883664"/>
            <a:ext cx="2377440" cy="731520"/>
          </a:xfrm>
          <a:prstGeom prst="rect">
            <a:avLst/>
          </a:prstGeom>
          <a:noFill/>
        </p:spPr>
        <p:txBody>
          <a:bodyPr wrap="square" lIns="0" rIns="0" tIns="0" bIns="0">
            <a:spAutoFit/>
          </a:bodyPr>
          <a:lstStyle/>
          <a:p>
            <a:pPr algn="l">
              <a:lnSpc>
                <a:spcPct val="100000"/>
              </a:lnSpc>
            </a:pPr>
            <a:r>
              <a:rPr sz="750" b="0">
                <a:solidFill>
                  <a:srgbClr val="A9BEDC"/>
                </a:solidFill>
                <a:latin typeface="Calibri"/>
              </a:rPr>
              <a:t>Release build, JS bundled — no dev server. MAX-importance notification channel with three action buttons</a:t>
            </a:r>
          </a:p>
        </p:txBody>
      </p:sp>
      <p:sp>
        <p:nvSpPr>
          <p:cNvPr id="14" name="Rounded Rectangle 13"/>
          <p:cNvSpPr/>
          <p:nvPr/>
        </p:nvSpPr>
        <p:spPr>
          <a:xfrm>
            <a:off x="6089904" y="1188720"/>
            <a:ext cx="2724912" cy="1481328"/>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54496" y="1335024"/>
            <a:ext cx="2377440" cy="201168"/>
          </a:xfrm>
          <a:prstGeom prst="rect">
            <a:avLst/>
          </a:prstGeom>
          <a:noFill/>
        </p:spPr>
        <p:txBody>
          <a:bodyPr wrap="square" lIns="0" rIns="0" tIns="0" bIns="0">
            <a:spAutoFit/>
          </a:bodyPr>
          <a:lstStyle/>
          <a:p>
            <a:pPr algn="l">
              <a:lnSpc>
                <a:spcPct val="100000"/>
              </a:lnSpc>
            </a:pPr>
            <a:r>
              <a:rPr sz="850" b="1">
                <a:solidFill>
                  <a:srgbClr val="9B8CFF"/>
                </a:solidFill>
                <a:latin typeface="Courier New"/>
              </a:rPr>
              <a:t>THE ENGINE</a:t>
            </a:r>
          </a:p>
        </p:txBody>
      </p:sp>
      <p:sp>
        <p:nvSpPr>
          <p:cNvPr id="16" name="TextBox 15"/>
          <p:cNvSpPr txBox="1"/>
          <p:nvPr/>
        </p:nvSpPr>
        <p:spPr>
          <a:xfrm>
            <a:off x="6254496" y="1572768"/>
            <a:ext cx="2377440" cy="237744"/>
          </a:xfrm>
          <a:prstGeom prst="rect">
            <a:avLst/>
          </a:prstGeom>
          <a:noFill/>
        </p:spPr>
        <p:txBody>
          <a:bodyPr wrap="square" lIns="0" rIns="0" tIns="0" bIns="0">
            <a:spAutoFit/>
          </a:bodyPr>
          <a:lstStyle/>
          <a:p>
            <a:pPr algn="l">
              <a:lnSpc>
                <a:spcPct val="100000"/>
              </a:lnSpc>
            </a:pPr>
            <a:r>
              <a:rPr sz="1200" b="1">
                <a:solidFill>
                  <a:srgbClr val="FFFFFF"/>
                </a:solidFill>
                <a:latin typeface="Cambria"/>
              </a:rPr>
              <a:t>computed, not scripted</a:t>
            </a:r>
          </a:p>
        </p:txBody>
      </p:sp>
      <p:sp>
        <p:nvSpPr>
          <p:cNvPr id="17" name="TextBox 16"/>
          <p:cNvSpPr txBox="1"/>
          <p:nvPr/>
        </p:nvSpPr>
        <p:spPr>
          <a:xfrm>
            <a:off x="6254496" y="1883664"/>
            <a:ext cx="2377440" cy="731520"/>
          </a:xfrm>
          <a:prstGeom prst="rect">
            <a:avLst/>
          </a:prstGeom>
          <a:noFill/>
        </p:spPr>
        <p:txBody>
          <a:bodyPr wrap="square" lIns="0" rIns="0" tIns="0" bIns="0">
            <a:spAutoFit/>
          </a:bodyPr>
          <a:lstStyle/>
          <a:p>
            <a:pPr algn="l">
              <a:lnSpc>
                <a:spcPct val="100000"/>
              </a:lnSpc>
            </a:pPr>
            <a:r>
              <a:rPr sz="750" b="0">
                <a:solidFill>
                  <a:srgbClr val="A9BEDC"/>
                </a:solidFill>
                <a:latin typeface="Calibri"/>
              </a:rPr>
              <a:t>Inventory generated from route physics · default-deny policy · min-cost allocation · LIFO saga</a:t>
            </a:r>
          </a:p>
        </p:txBody>
      </p:sp>
      <p:sp>
        <p:nvSpPr>
          <p:cNvPr id="18" name="Rounded Rectangle 17"/>
          <p:cNvSpPr/>
          <p:nvPr/>
        </p:nvSpPr>
        <p:spPr>
          <a:xfrm>
            <a:off x="8906256" y="1188720"/>
            <a:ext cx="2724912" cy="1481328"/>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070848" y="1335024"/>
            <a:ext cx="2377440" cy="201168"/>
          </a:xfrm>
          <a:prstGeom prst="rect">
            <a:avLst/>
          </a:prstGeom>
          <a:noFill/>
        </p:spPr>
        <p:txBody>
          <a:bodyPr wrap="square" lIns="0" rIns="0" tIns="0" bIns="0">
            <a:spAutoFit/>
          </a:bodyPr>
          <a:lstStyle/>
          <a:p>
            <a:pPr algn="l">
              <a:lnSpc>
                <a:spcPct val="100000"/>
              </a:lnSpc>
            </a:pPr>
            <a:r>
              <a:rPr sz="850" b="1">
                <a:solidFill>
                  <a:srgbClr val="FFB020"/>
                </a:solidFill>
                <a:latin typeface="Courier New"/>
              </a:rPr>
              <a:t>THE MODEL</a:t>
            </a:r>
          </a:p>
        </p:txBody>
      </p:sp>
      <p:sp>
        <p:nvSpPr>
          <p:cNvPr id="20" name="TextBox 19"/>
          <p:cNvSpPr txBox="1"/>
          <p:nvPr/>
        </p:nvSpPr>
        <p:spPr>
          <a:xfrm>
            <a:off x="9070848" y="1572768"/>
            <a:ext cx="2377440" cy="237744"/>
          </a:xfrm>
          <a:prstGeom prst="rect">
            <a:avLst/>
          </a:prstGeom>
          <a:noFill/>
        </p:spPr>
        <p:txBody>
          <a:bodyPr wrap="square" lIns="0" rIns="0" tIns="0" bIns="0">
            <a:spAutoFit/>
          </a:bodyPr>
          <a:lstStyle/>
          <a:p>
            <a:pPr algn="l">
              <a:lnSpc>
                <a:spcPct val="100000"/>
              </a:lnSpc>
            </a:pPr>
            <a:r>
              <a:rPr sz="1200" b="1">
                <a:solidFill>
                  <a:srgbClr val="FFFFFF"/>
                </a:solidFill>
                <a:latin typeface="Cambria"/>
              </a:rPr>
              <a:t>250,000 cases</a:t>
            </a:r>
          </a:p>
        </p:txBody>
      </p:sp>
      <p:sp>
        <p:nvSpPr>
          <p:cNvPr id="21" name="TextBox 20"/>
          <p:cNvSpPr txBox="1"/>
          <p:nvPr/>
        </p:nvSpPr>
        <p:spPr>
          <a:xfrm>
            <a:off x="9070848" y="1883664"/>
            <a:ext cx="2377440" cy="731520"/>
          </a:xfrm>
          <a:prstGeom prst="rect">
            <a:avLst/>
          </a:prstGeom>
          <a:noFill/>
        </p:spPr>
        <p:txBody>
          <a:bodyPr wrap="square" lIns="0" rIns="0" tIns="0" bIns="0">
            <a:spAutoFit/>
          </a:bodyPr>
          <a:lstStyle/>
          <a:p>
            <a:pPr algn="l">
              <a:lnSpc>
                <a:spcPct val="100000"/>
              </a:lnSpc>
            </a:pPr>
            <a:r>
              <a:rPr sz="750" b="0">
                <a:solidFill>
                  <a:srgbClr val="A9BEDC"/>
                </a:solidFill>
                <a:latin typeface="Calibri"/>
              </a:rPr>
              <a:t>Monte Carlo at a fixed seed behind every sim-tier number — python3 iropssim.py reproduces it exactly</a:t>
            </a:r>
          </a:p>
        </p:txBody>
      </p:sp>
      <p:sp>
        <p:nvSpPr>
          <p:cNvPr id="22" name="TextBox 21"/>
          <p:cNvSpPr txBox="1"/>
          <p:nvPr/>
        </p:nvSpPr>
        <p:spPr>
          <a:xfrm>
            <a:off x="457200" y="2852928"/>
            <a:ext cx="11274552" cy="201168"/>
          </a:xfrm>
          <a:prstGeom prst="rect">
            <a:avLst/>
          </a:prstGeom>
          <a:noFill/>
        </p:spPr>
        <p:txBody>
          <a:bodyPr wrap="square" lIns="0" rIns="0" tIns="0" bIns="0">
            <a:spAutoFit/>
          </a:bodyPr>
          <a:lstStyle/>
          <a:p>
            <a:pPr algn="l">
              <a:lnSpc>
                <a:spcPct val="100000"/>
              </a:lnSpc>
            </a:pPr>
            <a:r>
              <a:rPr sz="850" b="1">
                <a:solidFill>
                  <a:srgbClr val="3D9CFF"/>
                </a:solidFill>
                <a:latin typeface="Calibri"/>
              </a:rPr>
              <a:t>SEE IT YOURSELF</a:t>
            </a:r>
          </a:p>
        </p:txBody>
      </p:sp>
      <p:sp>
        <p:nvSpPr>
          <p:cNvPr id="23" name="Rounded Rectangle 22"/>
          <p:cNvSpPr/>
          <p:nvPr/>
        </p:nvSpPr>
        <p:spPr>
          <a:xfrm>
            <a:off x="457200" y="3108960"/>
            <a:ext cx="11274552" cy="530352"/>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8368" y="3264408"/>
            <a:ext cx="2651760" cy="219456"/>
          </a:xfrm>
          <a:prstGeom prst="rect">
            <a:avLst/>
          </a:prstGeom>
          <a:noFill/>
        </p:spPr>
        <p:txBody>
          <a:bodyPr wrap="square" lIns="0" rIns="0" tIns="0" bIns="0">
            <a:spAutoFit/>
          </a:bodyPr>
          <a:lstStyle/>
          <a:p>
            <a:pPr algn="l">
              <a:lnSpc>
                <a:spcPct val="100000"/>
              </a:lnSpc>
            </a:pPr>
            <a:r>
              <a:rPr sz="1050" b="1">
                <a:solidFill>
                  <a:srgbClr val="FFFFFF"/>
                </a:solidFill>
                <a:latin typeface="Cambria"/>
              </a:rPr>
              <a:t>Prototype  ·  UI</a:t>
            </a:r>
          </a:p>
        </p:txBody>
      </p:sp>
      <p:sp>
        <p:nvSpPr>
          <p:cNvPr id="25" name="TextBox 24"/>
          <p:cNvSpPr txBox="1"/>
          <p:nvPr/>
        </p:nvSpPr>
        <p:spPr>
          <a:xfrm>
            <a:off x="3429000" y="3282696"/>
            <a:ext cx="3108960" cy="201168"/>
          </a:xfrm>
          <a:prstGeom prst="rect">
            <a:avLst/>
          </a:prstGeom>
          <a:noFill/>
        </p:spPr>
        <p:txBody>
          <a:bodyPr wrap="square" lIns="0" rIns="0" tIns="0" bIns="0">
            <a:spAutoFit/>
          </a:bodyPr>
          <a:lstStyle/>
          <a:p>
            <a:pPr algn="l">
              <a:lnSpc>
                <a:spcPct val="100000"/>
              </a:lnSpc>
            </a:pPr>
            <a:r>
              <a:rPr sz="800" b="0">
                <a:solidFill>
                  <a:srgbClr val="A9BEDC"/>
                </a:solidFill>
                <a:latin typeface="Calibri"/>
              </a:rPr>
              <a:t>the web application</a:t>
            </a:r>
          </a:p>
        </p:txBody>
      </p:sp>
      <p:sp>
        <p:nvSpPr>
          <p:cNvPr id="26" name="TextBox 25"/>
          <p:cNvSpPr txBox="1"/>
          <p:nvPr/>
        </p:nvSpPr>
        <p:spPr>
          <a:xfrm>
            <a:off x="6720840" y="3255264"/>
            <a:ext cx="4846320" cy="256032"/>
          </a:xfrm>
          <a:prstGeom prst="rect">
            <a:avLst/>
          </a:prstGeom>
          <a:noFill/>
        </p:spPr>
        <p:txBody>
          <a:bodyPr wrap="square" lIns="0" rIns="0" tIns="0" bIns="0">
            <a:spAutoFit/>
          </a:bodyPr>
          <a:lstStyle/>
          <a:p>
            <a:pPr algn="l">
              <a:lnSpc>
                <a:spcPct val="100000"/>
              </a:lnSpc>
            </a:pPr>
            <a:r>
              <a:rPr sz="950" b="1">
                <a:solidFill>
                  <a:srgbClr val="7B94BA"/>
                </a:solidFill>
                <a:latin typeface="Courier New"/>
              </a:rPr>
              <a:t>[  link to be added  ]</a:t>
            </a:r>
          </a:p>
        </p:txBody>
      </p:sp>
      <p:sp>
        <p:nvSpPr>
          <p:cNvPr id="27" name="Rounded Rectangle 26"/>
          <p:cNvSpPr/>
          <p:nvPr/>
        </p:nvSpPr>
        <p:spPr>
          <a:xfrm>
            <a:off x="457200" y="3712463"/>
            <a:ext cx="11274552" cy="530352"/>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58368" y="3867911"/>
            <a:ext cx="2651760" cy="219456"/>
          </a:xfrm>
          <a:prstGeom prst="rect">
            <a:avLst/>
          </a:prstGeom>
          <a:noFill/>
        </p:spPr>
        <p:txBody>
          <a:bodyPr wrap="square" lIns="0" rIns="0" tIns="0" bIns="0">
            <a:spAutoFit/>
          </a:bodyPr>
          <a:lstStyle/>
          <a:p>
            <a:pPr algn="l">
              <a:lnSpc>
                <a:spcPct val="100000"/>
              </a:lnSpc>
            </a:pPr>
            <a:r>
              <a:rPr sz="1050" b="1">
                <a:solidFill>
                  <a:srgbClr val="FFFFFF"/>
                </a:solidFill>
                <a:latin typeface="Cambria"/>
              </a:rPr>
              <a:t>Prototype  ·  APK</a:t>
            </a:r>
          </a:p>
        </p:txBody>
      </p:sp>
      <p:sp>
        <p:nvSpPr>
          <p:cNvPr id="29" name="TextBox 28"/>
          <p:cNvSpPr txBox="1"/>
          <p:nvPr/>
        </p:nvSpPr>
        <p:spPr>
          <a:xfrm>
            <a:off x="3429000" y="3886200"/>
            <a:ext cx="3108960" cy="201168"/>
          </a:xfrm>
          <a:prstGeom prst="rect">
            <a:avLst/>
          </a:prstGeom>
          <a:noFill/>
        </p:spPr>
        <p:txBody>
          <a:bodyPr wrap="square" lIns="0" rIns="0" tIns="0" bIns="0">
            <a:spAutoFit/>
          </a:bodyPr>
          <a:lstStyle/>
          <a:p>
            <a:pPr algn="l">
              <a:lnSpc>
                <a:spcPct val="100000"/>
              </a:lnSpc>
            </a:pPr>
            <a:r>
              <a:rPr sz="800" b="0">
                <a:solidFill>
                  <a:srgbClr val="A9BEDC"/>
                </a:solidFill>
                <a:latin typeface="Calibri"/>
              </a:rPr>
              <a:t>installable Android build</a:t>
            </a:r>
          </a:p>
        </p:txBody>
      </p:sp>
      <p:sp>
        <p:nvSpPr>
          <p:cNvPr id="30" name="TextBox 29"/>
          <p:cNvSpPr txBox="1"/>
          <p:nvPr/>
        </p:nvSpPr>
        <p:spPr>
          <a:xfrm>
            <a:off x="6720840" y="3858768"/>
            <a:ext cx="4846320" cy="256032"/>
          </a:xfrm>
          <a:prstGeom prst="rect">
            <a:avLst/>
          </a:prstGeom>
          <a:noFill/>
        </p:spPr>
        <p:txBody>
          <a:bodyPr wrap="square" lIns="0" rIns="0" tIns="0" bIns="0">
            <a:spAutoFit/>
          </a:bodyPr>
          <a:lstStyle/>
          <a:p>
            <a:pPr algn="l">
              <a:lnSpc>
                <a:spcPct val="100000"/>
              </a:lnSpc>
            </a:pPr>
            <a:r>
              <a:rPr sz="950" b="1">
                <a:solidFill>
                  <a:srgbClr val="7B94BA"/>
                </a:solidFill>
                <a:latin typeface="Courier New"/>
              </a:rPr>
              <a:t>[  link to be added  ]</a:t>
            </a:r>
          </a:p>
        </p:txBody>
      </p:sp>
      <p:sp>
        <p:nvSpPr>
          <p:cNvPr id="31" name="Rounded Rectangle 30"/>
          <p:cNvSpPr/>
          <p:nvPr/>
        </p:nvSpPr>
        <p:spPr>
          <a:xfrm>
            <a:off x="457200" y="4315968"/>
            <a:ext cx="11274552" cy="530352"/>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58368" y="4471416"/>
            <a:ext cx="2651760" cy="219456"/>
          </a:xfrm>
          <a:prstGeom prst="rect">
            <a:avLst/>
          </a:prstGeom>
          <a:noFill/>
        </p:spPr>
        <p:txBody>
          <a:bodyPr wrap="square" lIns="0" rIns="0" tIns="0" bIns="0">
            <a:spAutoFit/>
          </a:bodyPr>
          <a:lstStyle/>
          <a:p>
            <a:pPr algn="l">
              <a:lnSpc>
                <a:spcPct val="100000"/>
              </a:lnSpc>
            </a:pPr>
            <a:r>
              <a:rPr sz="1050" b="1">
                <a:solidFill>
                  <a:srgbClr val="FFFFFF"/>
                </a:solidFill>
                <a:latin typeface="Cambria"/>
              </a:rPr>
              <a:t>Personas</a:t>
            </a:r>
          </a:p>
        </p:txBody>
      </p:sp>
      <p:sp>
        <p:nvSpPr>
          <p:cNvPr id="33" name="TextBox 32"/>
          <p:cNvSpPr txBox="1"/>
          <p:nvPr/>
        </p:nvSpPr>
        <p:spPr>
          <a:xfrm>
            <a:off x="3429000" y="4489704"/>
            <a:ext cx="3108960" cy="201168"/>
          </a:xfrm>
          <a:prstGeom prst="rect">
            <a:avLst/>
          </a:prstGeom>
          <a:noFill/>
        </p:spPr>
        <p:txBody>
          <a:bodyPr wrap="square" lIns="0" rIns="0" tIns="0" bIns="0">
            <a:spAutoFit/>
          </a:bodyPr>
          <a:lstStyle/>
          <a:p>
            <a:pPr algn="l">
              <a:lnSpc>
                <a:spcPct val="100000"/>
              </a:lnSpc>
            </a:pPr>
            <a:r>
              <a:rPr sz="800" b="0">
                <a:solidFill>
                  <a:srgbClr val="A9BEDC"/>
                </a:solidFill>
                <a:latin typeface="Calibri"/>
              </a:rPr>
              <a:t>four recovery scenarios</a:t>
            </a:r>
          </a:p>
        </p:txBody>
      </p:sp>
      <p:sp>
        <p:nvSpPr>
          <p:cNvPr id="34" name="TextBox 33"/>
          <p:cNvSpPr txBox="1"/>
          <p:nvPr/>
        </p:nvSpPr>
        <p:spPr>
          <a:xfrm>
            <a:off x="6720840" y="4462272"/>
            <a:ext cx="4846320" cy="256032"/>
          </a:xfrm>
          <a:prstGeom prst="rect">
            <a:avLst/>
          </a:prstGeom>
          <a:noFill/>
        </p:spPr>
        <p:txBody>
          <a:bodyPr wrap="square" lIns="0" rIns="0" tIns="0" bIns="0">
            <a:spAutoFit/>
          </a:bodyPr>
          <a:lstStyle/>
          <a:p>
            <a:pPr algn="l">
              <a:lnSpc>
                <a:spcPct val="100000"/>
              </a:lnSpc>
            </a:pPr>
            <a:r>
              <a:rPr sz="950" b="1">
                <a:solidFill>
                  <a:srgbClr val="7B94BA"/>
                </a:solidFill>
                <a:latin typeface="Courier New"/>
              </a:rPr>
              <a:t>[  link to be added  ]</a:t>
            </a:r>
          </a:p>
        </p:txBody>
      </p:sp>
      <p:sp>
        <p:nvSpPr>
          <p:cNvPr id="35" name="Rounded Rectangle 34"/>
          <p:cNvSpPr/>
          <p:nvPr/>
        </p:nvSpPr>
        <p:spPr>
          <a:xfrm>
            <a:off x="457200" y="4919472"/>
            <a:ext cx="11274552" cy="530352"/>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58368" y="5074920"/>
            <a:ext cx="2651760" cy="219456"/>
          </a:xfrm>
          <a:prstGeom prst="rect">
            <a:avLst/>
          </a:prstGeom>
          <a:noFill/>
        </p:spPr>
        <p:txBody>
          <a:bodyPr wrap="square" lIns="0" rIns="0" tIns="0" bIns="0">
            <a:spAutoFit/>
          </a:bodyPr>
          <a:lstStyle/>
          <a:p>
            <a:pPr algn="l">
              <a:lnSpc>
                <a:spcPct val="100000"/>
              </a:lnSpc>
            </a:pPr>
            <a:r>
              <a:rPr sz="1050" b="1">
                <a:solidFill>
                  <a:srgbClr val="FFFFFF"/>
                </a:solidFill>
                <a:latin typeface="Cambria"/>
              </a:rPr>
              <a:t>System design</a:t>
            </a:r>
          </a:p>
        </p:txBody>
      </p:sp>
      <p:sp>
        <p:nvSpPr>
          <p:cNvPr id="37" name="TextBox 36"/>
          <p:cNvSpPr txBox="1"/>
          <p:nvPr/>
        </p:nvSpPr>
        <p:spPr>
          <a:xfrm>
            <a:off x="3429000" y="5093208"/>
            <a:ext cx="3108960" cy="201168"/>
          </a:xfrm>
          <a:prstGeom prst="rect">
            <a:avLst/>
          </a:prstGeom>
          <a:noFill/>
        </p:spPr>
        <p:txBody>
          <a:bodyPr wrap="square" lIns="0" rIns="0" tIns="0" bIns="0">
            <a:spAutoFit/>
          </a:bodyPr>
          <a:lstStyle/>
          <a:p>
            <a:pPr algn="l">
              <a:lnSpc>
                <a:spcPct val="100000"/>
              </a:lnSpc>
            </a:pPr>
            <a:r>
              <a:rPr sz="800" b="0">
                <a:solidFill>
                  <a:srgbClr val="A9BEDC"/>
                </a:solidFill>
                <a:latin typeface="Calibri"/>
              </a:rPr>
              <a:t>architecture, scalability, feasibility</a:t>
            </a:r>
          </a:p>
        </p:txBody>
      </p:sp>
      <p:sp>
        <p:nvSpPr>
          <p:cNvPr id="38" name="TextBox 37"/>
          <p:cNvSpPr txBox="1"/>
          <p:nvPr/>
        </p:nvSpPr>
        <p:spPr>
          <a:xfrm>
            <a:off x="6720840" y="5065776"/>
            <a:ext cx="4846320" cy="256032"/>
          </a:xfrm>
          <a:prstGeom prst="rect">
            <a:avLst/>
          </a:prstGeom>
          <a:noFill/>
        </p:spPr>
        <p:txBody>
          <a:bodyPr wrap="square" lIns="0" rIns="0" tIns="0" bIns="0">
            <a:spAutoFit/>
          </a:bodyPr>
          <a:lstStyle/>
          <a:p>
            <a:pPr algn="l">
              <a:lnSpc>
                <a:spcPct val="100000"/>
              </a:lnSpc>
            </a:pPr>
            <a:r>
              <a:rPr sz="950" b="1">
                <a:solidFill>
                  <a:srgbClr val="7B94BA"/>
                </a:solidFill>
                <a:latin typeface="Courier New"/>
              </a:rPr>
              <a:t>[  link to be added  ]</a:t>
            </a:r>
          </a:p>
        </p:txBody>
      </p:sp>
      <p:sp>
        <p:nvSpPr>
          <p:cNvPr id="39" name="Rounded Rectangle 38"/>
          <p:cNvSpPr/>
          <p:nvPr/>
        </p:nvSpPr>
        <p:spPr>
          <a:xfrm>
            <a:off x="457200" y="5522976"/>
            <a:ext cx="11274552" cy="530352"/>
          </a:xfrm>
          <a:prstGeom prst="roundRect">
            <a:avLst>
              <a:gd name="adj" fmla="val 6000"/>
            </a:avLst>
          </a:prstGeom>
          <a:solidFill>
            <a:srgbClr val="102751"/>
          </a:solidFill>
          <a:ln w="9525">
            <a:solidFill>
              <a:srgbClr val="1E3A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58368" y="5678424"/>
            <a:ext cx="2651760" cy="219456"/>
          </a:xfrm>
          <a:prstGeom prst="rect">
            <a:avLst/>
          </a:prstGeom>
          <a:noFill/>
        </p:spPr>
        <p:txBody>
          <a:bodyPr wrap="square" lIns="0" rIns="0" tIns="0" bIns="0">
            <a:spAutoFit/>
          </a:bodyPr>
          <a:lstStyle/>
          <a:p>
            <a:pPr algn="l">
              <a:lnSpc>
                <a:spcPct val="100000"/>
              </a:lnSpc>
            </a:pPr>
            <a:r>
              <a:rPr sz="1050" b="1">
                <a:solidFill>
                  <a:srgbClr val="FFFFFF"/>
                </a:solidFill>
                <a:latin typeface="Cambria"/>
              </a:rPr>
              <a:t>Success metrics</a:t>
            </a:r>
          </a:p>
        </p:txBody>
      </p:sp>
      <p:sp>
        <p:nvSpPr>
          <p:cNvPr id="41" name="TextBox 40"/>
          <p:cNvSpPr txBox="1"/>
          <p:nvPr/>
        </p:nvSpPr>
        <p:spPr>
          <a:xfrm>
            <a:off x="3429000" y="5696712"/>
            <a:ext cx="3108960" cy="201168"/>
          </a:xfrm>
          <a:prstGeom prst="rect">
            <a:avLst/>
          </a:prstGeom>
          <a:noFill/>
        </p:spPr>
        <p:txBody>
          <a:bodyPr wrap="square" lIns="0" rIns="0" tIns="0" bIns="0">
            <a:spAutoFit/>
          </a:bodyPr>
          <a:lstStyle/>
          <a:p>
            <a:pPr algn="l">
              <a:lnSpc>
                <a:spcPct val="100000"/>
              </a:lnSpc>
            </a:pPr>
            <a:r>
              <a:rPr sz="800" b="0">
                <a:solidFill>
                  <a:srgbClr val="A9BEDC"/>
                </a:solidFill>
                <a:latin typeface="Calibri"/>
              </a:rPr>
              <a:t>the 250,000-case model and its sources</a:t>
            </a:r>
          </a:p>
        </p:txBody>
      </p:sp>
      <p:sp>
        <p:nvSpPr>
          <p:cNvPr id="42" name="TextBox 41"/>
          <p:cNvSpPr txBox="1"/>
          <p:nvPr/>
        </p:nvSpPr>
        <p:spPr>
          <a:xfrm>
            <a:off x="6720840" y="5669280"/>
            <a:ext cx="4846320" cy="256032"/>
          </a:xfrm>
          <a:prstGeom prst="rect">
            <a:avLst/>
          </a:prstGeom>
          <a:noFill/>
        </p:spPr>
        <p:txBody>
          <a:bodyPr wrap="square" lIns="0" rIns="0" tIns="0" bIns="0">
            <a:spAutoFit/>
          </a:bodyPr>
          <a:lstStyle/>
          <a:p>
            <a:pPr algn="l">
              <a:lnSpc>
                <a:spcPct val="100000"/>
              </a:lnSpc>
            </a:pPr>
            <a:r>
              <a:rPr sz="950" b="1">
                <a:solidFill>
                  <a:srgbClr val="7B94BA"/>
                </a:solidFill>
                <a:latin typeface="Courier New"/>
              </a:rPr>
              <a:t>[  link to be added  ]</a:t>
            </a:r>
          </a:p>
        </p:txBody>
      </p:sp>
      <p:sp>
        <p:nvSpPr>
          <p:cNvPr id="43" name="TextBox 42"/>
          <p:cNvSpPr txBox="1"/>
          <p:nvPr/>
        </p:nvSpPr>
        <p:spPr>
          <a:xfrm>
            <a:off x="457200" y="6199632"/>
            <a:ext cx="11274552" cy="201168"/>
          </a:xfrm>
          <a:prstGeom prst="rect">
            <a:avLst/>
          </a:prstGeom>
          <a:noFill/>
        </p:spPr>
        <p:txBody>
          <a:bodyPr wrap="square" lIns="0" rIns="0" tIns="0" bIns="0">
            <a:spAutoFit/>
          </a:bodyPr>
          <a:lstStyle/>
          <a:p>
            <a:pPr algn="l">
              <a:lnSpc>
                <a:spcPct val="100000"/>
              </a:lnSpc>
            </a:pPr>
            <a:r>
              <a:rPr sz="800" b="0">
                <a:solidFill>
                  <a:srgbClr val="A9BEDC"/>
                </a:solidFill>
                <a:latin typeface="Calibri"/>
              </a:rPr>
              <a:t>Known limits, stated up front: no trained model yet · no live supplier integration · payment mocked · API failure not modelled · the Android build is a subset of the web app.</a:t>
            </a:r>
          </a:p>
        </p:txBody>
      </p:sp>
      <p:sp>
        <p:nvSpPr>
          <p:cNvPr id="44" name="TextBox 43"/>
          <p:cNvSpPr txBox="1"/>
          <p:nvPr/>
        </p:nvSpPr>
        <p:spPr>
          <a:xfrm>
            <a:off x="457200" y="6382512"/>
            <a:ext cx="11274552" cy="310896"/>
          </a:xfrm>
          <a:prstGeom prst="rect">
            <a:avLst/>
          </a:prstGeom>
          <a:noFill/>
        </p:spPr>
        <p:txBody>
          <a:bodyPr wrap="square" lIns="0" rIns="0" tIns="0" bIns="0">
            <a:spAutoFit/>
          </a:bodyPr>
          <a:lstStyle/>
          <a:p>
            <a:pPr algn="l">
              <a:lnSpc>
                <a:spcPct val="100000"/>
              </a:lnSpc>
            </a:pPr>
            <a:r>
              <a:rPr sz="750" b="1">
                <a:solidFill>
                  <a:srgbClr val="7B94BA"/>
                </a:solidFill>
                <a:latin typeface="Calibri"/>
              </a:rPr>
              <a:t>SOURCES  |  Prototype and Android build original to this submission. Duty-of-care thresholds carry evidence tier 'deck' — the primary DGCA CAR text has not been re-retrieved for this build and must be reconciled before production.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8778240" y="2926080"/>
            <a:ext cx="5669280" cy="5669280"/>
          </a:xfrm>
          <a:prstGeom prst="ellipse">
            <a:avLst/>
          </a:prstGeom>
          <a:solidFill>
            <a:srgbClr val="0E2450"/>
          </a:solidFill>
          <a:ln w="12700">
            <a:solidFill>
              <a:srgbClr val="333333"/>
            </a:solidFill>
            <a:prstDash val="solid"/>
          </a:ln>
        </p:spPr>
      </p:sp>
      <p:sp>
        <p:nvSpPr>
          <p:cNvPr id="3" name="Shape 1"/>
          <p:cNvSpPr/>
          <p:nvPr/>
        </p:nvSpPr>
        <p:spPr>
          <a:xfrm rot="720000">
            <a:off x="-2194560" y="4206240"/>
            <a:ext cx="6583680" cy="6583680"/>
          </a:xfrm>
          <a:prstGeom prst="roundRect">
            <a:avLst>
              <a:gd name="adj" fmla="val 6944"/>
            </a:avLst>
          </a:prstGeom>
          <a:solidFill>
            <a:srgbClr val="10275A"/>
          </a:solidFill>
          <a:ln w="12700">
            <a:solidFill>
              <a:srgbClr val="333333"/>
            </a:solidFill>
            <a:prstDash val="solid"/>
          </a:ln>
        </p:spPr>
      </p:sp>
      <p:sp>
        <p:nvSpPr>
          <p:cNvPr id="4" name="Text 2"/>
          <p:cNvSpPr/>
          <p:nvPr/>
        </p:nvSpPr>
        <p:spPr>
          <a:xfrm>
            <a:off x="457200" y="841248"/>
            <a:ext cx="5486400" cy="256032"/>
          </a:xfrm>
          <a:prstGeom prst="rect">
            <a:avLst/>
          </a:prstGeom>
          <a:noFill/>
          <a:ln/>
        </p:spPr>
        <p:txBody>
          <a:bodyPr wrap="square" lIns="0" tIns="0" rIns="0" bIns="0" rtlCol="0" anchor="ctr"/>
          <a:lstStyle/>
          <a:p>
            <a:pPr indent="0" marL="0">
              <a:buNone/>
            </a:pPr>
            <a:r>
              <a:rPr lang="en-US" sz="1050" b="1" spc="240" kern="0" dirty="0">
                <a:solidFill>
                  <a:srgbClr val="3D9CFF"/>
                </a:solidFill>
                <a:latin typeface="Calibri" pitchFamily="34" charset="0"/>
                <a:ea typeface="Calibri" pitchFamily="34" charset="-122"/>
                <a:cs typeface="Calibri" pitchFamily="34" charset="-120"/>
              </a:rPr>
              <a:t>THE ASK</a:t>
            </a:r>
            <a:endParaRPr lang="en-US" sz="1050" dirty="0"/>
          </a:p>
        </p:txBody>
      </p:sp>
      <p:sp>
        <p:nvSpPr>
          <p:cNvPr id="5" name="Text 3"/>
          <p:cNvSpPr/>
          <p:nvPr/>
        </p:nvSpPr>
        <p:spPr>
          <a:xfrm>
            <a:off x="457200" y="1170432"/>
            <a:ext cx="8138160" cy="1298448"/>
          </a:xfrm>
          <a:prstGeom prst="rect">
            <a:avLst/>
          </a:prstGeom>
          <a:noFill/>
          <a:ln/>
        </p:spPr>
        <p:txBody>
          <a:bodyPr wrap="square" lIns="0" tIns="0" rIns="0" bIns="0" rtlCol="0" anchor="ctr"/>
          <a:lstStyle/>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Give the agent authority.</a:t>
            </a:r>
            <a:endParaRPr lang="en-US" sz="3000" dirty="0"/>
          </a:p>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Keep the authority governed.</a:t>
            </a:r>
            <a:endParaRPr lang="en-US" sz="3000" dirty="0"/>
          </a:p>
        </p:txBody>
      </p:sp>
      <p:sp>
        <p:nvSpPr>
          <p:cNvPr id="6" name="Text 4"/>
          <p:cNvSpPr/>
          <p:nvPr/>
        </p:nvSpPr>
        <p:spPr>
          <a:xfrm>
            <a:off x="457200" y="2578608"/>
            <a:ext cx="7223760" cy="877824"/>
          </a:xfrm>
          <a:prstGeom prst="rect">
            <a:avLst/>
          </a:prstGeom>
          <a:noFill/>
          <a:ln/>
        </p:spPr>
        <p:txBody>
          <a:bodyPr wrap="square" lIns="0" tIns="0" rIns="0" bIns="0" rtlCol="0" anchor="ctr"/>
          <a:lstStyle/>
          <a:p>
            <a:pPr indent="0" marL="0">
              <a:lnSpc>
                <a:spcPts val="1700"/>
              </a:lnSpc>
              <a:buNone/>
            </a:pPr>
            <a:r>
              <a:rPr lang="en-US" sz="1200" dirty="0">
                <a:solidFill>
                  <a:srgbClr val="A9BEDC"/>
                </a:solidFill>
                <a:latin typeface="Calibri" pitchFamily="34" charset="0"/>
                <a:ea typeface="Calibri" pitchFamily="34" charset="-122"/>
                <a:cs typeface="Calibri" pitchFamily="34" charset="-120"/>
              </a:rPr>
              <a:t>Disruption has been treated as a notification problem for a decade — which is why every product in the category stops at telling you what went wrong. We treat it as an execution problem. Execution needs spend authority, spend authority needs consent, and consent needs governance. That is the whole submission.</a:t>
            </a:r>
            <a:endParaRPr lang="en-US" sz="1200" dirty="0"/>
          </a:p>
        </p:txBody>
      </p:sp>
      <p:pic>
        <p:nvPicPr>
          <p:cNvPr id="7" name="Image 0" descr="preencoded.png">    </p:cNvPr>
          <p:cNvPicPr>
            <a:picLocks noChangeAspect="1"/>
          </p:cNvPicPr>
          <p:nvPr/>
        </p:nvPicPr>
        <p:blipFill>
          <a:blip r:embed="rId1"/>
          <a:stretch>
            <a:fillRect/>
          </a:stretch>
        </p:blipFill>
        <p:spPr>
          <a:xfrm>
            <a:off x="457200" y="3584448"/>
            <a:ext cx="237744" cy="237744"/>
          </a:xfrm>
          <a:prstGeom prst="rect">
            <a:avLst/>
          </a:prstGeom>
        </p:spPr>
      </p:pic>
      <p:sp>
        <p:nvSpPr>
          <p:cNvPr id="8" name="Text 5"/>
          <p:cNvSpPr/>
          <p:nvPr/>
        </p:nvSpPr>
        <p:spPr>
          <a:xfrm>
            <a:off x="822960" y="3584448"/>
            <a:ext cx="352044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Sabre developer onboarding</a:t>
            </a:r>
            <a:endParaRPr lang="en-US" sz="1150" dirty="0"/>
          </a:p>
        </p:txBody>
      </p:sp>
      <p:sp>
        <p:nvSpPr>
          <p:cNvPr id="9" name="Text 6"/>
          <p:cNvSpPr/>
          <p:nvPr/>
        </p:nvSpPr>
        <p:spPr>
          <a:xfrm>
            <a:off x="4407408" y="3584448"/>
            <a:ext cx="3950208" cy="256032"/>
          </a:xfrm>
          <a:prstGeom prst="rect">
            <a:avLst/>
          </a:prstGeom>
          <a:noFill/>
          <a:ln/>
        </p:spPr>
        <p:txBody>
          <a:bodyPr wrap="square" lIns="0" tIns="0" rIns="0" bIns="0" rtlCol="0" anchor="ctr"/>
          <a:lstStyle/>
          <a:p>
            <a:pPr indent="0" marL="0">
              <a:buNone/>
            </a:pPr>
            <a:r>
              <a:rPr lang="en-US" sz="1000" dirty="0">
                <a:solidFill>
                  <a:srgbClr val="A9BEDC"/>
                </a:solidFill>
                <a:latin typeface="Calibri" pitchFamily="34" charset="0"/>
                <a:ea typeface="Calibri" pitchFamily="34" charset="-122"/>
                <a:cs typeface="Calibri" pitchFamily="34" charset="-120"/>
              </a:rPr>
              <a:t>unblocks Pipeline 1 against live inventory</a:t>
            </a:r>
            <a:endParaRPr lang="en-US" sz="1000" dirty="0"/>
          </a:p>
        </p:txBody>
      </p:sp>
      <p:pic>
        <p:nvPicPr>
          <p:cNvPr id="10" name="Image 1" descr="preencoded.png">    </p:cNvPr>
          <p:cNvPicPr>
            <a:picLocks noChangeAspect="1"/>
          </p:cNvPicPr>
          <p:nvPr/>
        </p:nvPicPr>
        <p:blipFill>
          <a:blip r:embed="rId2"/>
          <a:stretch>
            <a:fillRect/>
          </a:stretch>
        </p:blipFill>
        <p:spPr>
          <a:xfrm>
            <a:off x="457200" y="4023360"/>
            <a:ext cx="237744" cy="237744"/>
          </a:xfrm>
          <a:prstGeom prst="rect">
            <a:avLst/>
          </a:prstGeom>
        </p:spPr>
      </p:pic>
      <p:sp>
        <p:nvSpPr>
          <p:cNvPr id="11" name="Text 7"/>
          <p:cNvSpPr/>
          <p:nvPr/>
        </p:nvSpPr>
        <p:spPr>
          <a:xfrm>
            <a:off x="822960" y="4023360"/>
            <a:ext cx="352044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ACE Developer Kit access</a:t>
            </a:r>
            <a:endParaRPr lang="en-US" sz="1150" dirty="0"/>
          </a:p>
        </p:txBody>
      </p:sp>
      <p:sp>
        <p:nvSpPr>
          <p:cNvPr id="12" name="Text 8"/>
          <p:cNvSpPr/>
          <p:nvPr/>
        </p:nvSpPr>
        <p:spPr>
          <a:xfrm>
            <a:off x="4407408" y="4023360"/>
            <a:ext cx="3950208" cy="256032"/>
          </a:xfrm>
          <a:prstGeom prst="rect">
            <a:avLst/>
          </a:prstGeom>
          <a:noFill/>
          <a:ln/>
        </p:spPr>
        <p:txBody>
          <a:bodyPr wrap="square" lIns="0" tIns="0" rIns="0" bIns="0" rtlCol="0" anchor="ctr"/>
          <a:lstStyle/>
          <a:p>
            <a:pPr indent="0" marL="0">
              <a:buNone/>
            </a:pPr>
            <a:r>
              <a:rPr lang="en-US" sz="1000" dirty="0">
                <a:solidFill>
                  <a:srgbClr val="A9BEDC"/>
                </a:solidFill>
                <a:latin typeface="Calibri" pitchFamily="34" charset="0"/>
                <a:ea typeface="Calibri" pitchFamily="34" charset="-122"/>
                <a:cs typeface="Calibri" pitchFamily="34" charset="-120"/>
              </a:rPr>
              <a:t>replaces the payment mock with the real credential path</a:t>
            </a:r>
            <a:endParaRPr lang="en-US" sz="1000" dirty="0"/>
          </a:p>
        </p:txBody>
      </p:sp>
      <p:pic>
        <p:nvPicPr>
          <p:cNvPr id="13" name="Image 2" descr="preencoded.png">    </p:cNvPr>
          <p:cNvPicPr>
            <a:picLocks noChangeAspect="1"/>
          </p:cNvPicPr>
          <p:nvPr/>
        </p:nvPicPr>
        <p:blipFill>
          <a:blip r:embed="rId3"/>
          <a:stretch>
            <a:fillRect/>
          </a:stretch>
        </p:blipFill>
        <p:spPr>
          <a:xfrm>
            <a:off x="457200" y="4462272"/>
            <a:ext cx="237744" cy="237744"/>
          </a:xfrm>
          <a:prstGeom prst="rect">
            <a:avLst/>
          </a:prstGeom>
        </p:spPr>
      </p:pic>
      <p:sp>
        <p:nvSpPr>
          <p:cNvPr id="14" name="Text 9"/>
          <p:cNvSpPr/>
          <p:nvPr/>
        </p:nvSpPr>
        <p:spPr>
          <a:xfrm>
            <a:off x="822960" y="4462272"/>
            <a:ext cx="352044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One card product, India first</a:t>
            </a:r>
            <a:endParaRPr lang="en-US" sz="1150" dirty="0"/>
          </a:p>
        </p:txBody>
      </p:sp>
      <p:sp>
        <p:nvSpPr>
          <p:cNvPr id="15" name="Text 10"/>
          <p:cNvSpPr/>
          <p:nvPr/>
        </p:nvSpPr>
        <p:spPr>
          <a:xfrm>
            <a:off x="4407408" y="4462272"/>
            <a:ext cx="3950208" cy="256032"/>
          </a:xfrm>
          <a:prstGeom prst="rect">
            <a:avLst/>
          </a:prstGeom>
          <a:noFill/>
          <a:ln/>
        </p:spPr>
        <p:txBody>
          <a:bodyPr wrap="square" lIns="0" tIns="0" rIns="0" bIns="0" rtlCol="0" anchor="ctr"/>
          <a:lstStyle/>
          <a:p>
            <a:pPr indent="0" marL="0">
              <a:buNone/>
            </a:pPr>
            <a:r>
              <a:rPr lang="en-US" sz="1000" dirty="0">
                <a:solidFill>
                  <a:srgbClr val="A9BEDC"/>
                </a:solidFill>
                <a:latin typeface="Calibri" pitchFamily="34" charset="0"/>
                <a:ea typeface="Calibri" pitchFamily="34" charset="-122"/>
                <a:cs typeface="Calibri" pitchFamily="34" charset="-120"/>
              </a:rPr>
              <a:t>a pilot large enough to re-base the model on Amex India telemetry</a:t>
            </a:r>
            <a:endParaRPr lang="en-US" sz="1000" dirty="0"/>
          </a:p>
        </p:txBody>
      </p:sp>
      <p:sp>
        <p:nvSpPr>
          <p:cNvPr id="16" name="Shape 11"/>
          <p:cNvSpPr/>
          <p:nvPr/>
        </p:nvSpPr>
        <p:spPr>
          <a:xfrm>
            <a:off x="8732520" y="3511296"/>
            <a:ext cx="2999232" cy="1444752"/>
          </a:xfrm>
          <a:prstGeom prst="roundRect">
            <a:avLst>
              <a:gd name="adj" fmla="val 3797"/>
            </a:avLst>
          </a:prstGeom>
          <a:solidFill>
            <a:srgbClr val="132C52"/>
          </a:solidFill>
          <a:ln w="6350">
            <a:solidFill>
              <a:srgbClr val="132C52"/>
            </a:solidFill>
            <a:prstDash val="solid"/>
          </a:ln>
          <a:effectLst>
            <a:outerShdw sx="100000" sy="100000" kx="0" ky="0" algn="bl" rotWithShape="0" blurRad="114300" dist="25400" dir="5400000">
              <a:srgbClr val="000000">
                <a:alpha val="34000"/>
              </a:srgbClr>
            </a:outerShdw>
          </a:effectLst>
        </p:spPr>
      </p:sp>
      <p:sp>
        <p:nvSpPr>
          <p:cNvPr id="17" name="Text 12"/>
          <p:cNvSpPr/>
          <p:nvPr/>
        </p:nvSpPr>
        <p:spPr>
          <a:xfrm>
            <a:off x="8961120" y="3602736"/>
            <a:ext cx="2560320" cy="438912"/>
          </a:xfrm>
          <a:prstGeom prst="rect">
            <a:avLst/>
          </a:prstGeom>
          <a:noFill/>
          <a:ln/>
        </p:spPr>
        <p:txBody>
          <a:bodyPr wrap="square" lIns="0" tIns="0" rIns="0" bIns="0" rtlCol="0" anchor="ctr"/>
          <a:lstStyle/>
          <a:p>
            <a:pPr indent="0" marL="0">
              <a:buNone/>
            </a:pPr>
            <a:r>
              <a:rPr lang="en-US" sz="2600" b="1" dirty="0">
                <a:solidFill>
                  <a:srgbClr val="3D9CFF"/>
                </a:solidFill>
                <a:latin typeface="Cambria" pitchFamily="34" charset="0"/>
                <a:ea typeface="Cambria" pitchFamily="34" charset="-122"/>
                <a:cs typeface="Cambria" pitchFamily="34" charset="-120"/>
              </a:rPr>
              <a:t>&lt;15 min</a:t>
            </a:r>
            <a:endParaRPr lang="en-US" sz="2600" dirty="0"/>
          </a:p>
        </p:txBody>
      </p:sp>
      <p:sp>
        <p:nvSpPr>
          <p:cNvPr id="18" name="Text 13"/>
          <p:cNvSpPr/>
          <p:nvPr/>
        </p:nvSpPr>
        <p:spPr>
          <a:xfrm>
            <a:off x="8961120" y="4059936"/>
            <a:ext cx="2560320" cy="804672"/>
          </a:xfrm>
          <a:prstGeom prst="rect">
            <a:avLst/>
          </a:prstGeom>
          <a:noFill/>
          <a:ln/>
        </p:spPr>
        <p:txBody>
          <a:bodyPr wrap="square" lIns="0" tIns="0" rIns="0" bIns="0" rtlCol="0" anchor="ctr"/>
          <a:lstStyle/>
          <a:p>
            <a:pPr indent="0" marL="0">
              <a:lnSpc>
                <a:spcPts val="1200"/>
              </a:lnSpc>
              <a:buNone/>
            </a:pPr>
            <a:r>
              <a:rPr lang="en-US" sz="950" dirty="0">
                <a:solidFill>
                  <a:srgbClr val="A9BEDC"/>
                </a:solidFill>
                <a:latin typeface="Calibri" pitchFamily="34" charset="0"/>
                <a:ea typeface="Calibri" pitchFamily="34" charset="-122"/>
                <a:cs typeface="Calibri" pitchFamily="34" charset="-120"/>
              </a:rPr>
              <a:t>from cancellation to a confirmed, paid-for, policy-compliant trip — with every duty of care already claimed.</a:t>
            </a:r>
            <a:endParaRPr lang="en-US" sz="950" dirty="0"/>
          </a:p>
        </p:txBody>
      </p:sp>
      <p:sp>
        <p:nvSpPr>
          <p:cNvPr id="19" name="Text 14"/>
          <p:cNvSpPr/>
          <p:nvPr/>
        </p:nvSpPr>
        <p:spPr>
          <a:xfrm>
            <a:off x="7708392" y="5504688"/>
            <a:ext cx="4023360" cy="438912"/>
          </a:xfrm>
          <a:prstGeom prst="rect">
            <a:avLst/>
          </a:prstGeom>
          <a:noFill/>
          <a:ln/>
        </p:spPr>
        <p:txBody>
          <a:bodyPr wrap="square" lIns="0" tIns="0" rIns="0" bIns="0" rtlCol="0" anchor="ctr"/>
          <a:lstStyle/>
          <a:p>
            <a:pPr algn="r" indent="0" marL="0">
              <a:buNone/>
            </a:pPr>
            <a:r>
              <a:rPr lang="en-US" sz="2100" b="1" dirty="0">
                <a:solidFill>
                  <a:srgbClr val="3D9CFF"/>
                </a:solidFill>
                <a:latin typeface="Cambria" pitchFamily="34" charset="0"/>
                <a:ea typeface="Cambria" pitchFamily="34" charset="-122"/>
                <a:cs typeface="Cambria" pitchFamily="34" charset="-120"/>
              </a:rPr>
              <a:t>Thank you.</a:t>
            </a:r>
            <a:endParaRPr lang="en-US" sz="2100" dirty="0"/>
          </a:p>
        </p:txBody>
      </p:sp>
      <p:sp>
        <p:nvSpPr>
          <p:cNvPr id="20" name="Text 15"/>
          <p:cNvSpPr/>
          <p:nvPr/>
        </p:nvSpPr>
        <p:spPr>
          <a:xfrm>
            <a:off x="457200" y="6217920"/>
            <a:ext cx="10881360" cy="274320"/>
          </a:xfrm>
          <a:prstGeom prst="rect">
            <a:avLst/>
          </a:prstGeom>
          <a:noFill/>
          <a:ln/>
        </p:spPr>
        <p:txBody>
          <a:bodyPr wrap="square" lIns="0" tIns="0" rIns="0" bIns="0" rtlCol="0" anchor="ctr"/>
          <a:lstStyle/>
          <a:p>
            <a:pPr indent="0" marL="0">
              <a:buNone/>
            </a:pPr>
            <a:r>
              <a:rPr lang="en-US" sz="900" dirty="0">
                <a:solidFill>
                  <a:srgbClr val="7B94BA"/>
                </a:solidFill>
                <a:latin typeface="Calibri" pitchFamily="34" charset="0"/>
                <a:ea typeface="Calibri" pitchFamily="34" charset="-122"/>
                <a:cs typeface="Calibri" pitchFamily="34" charset="-120"/>
              </a:rPr>
              <a:t>Autonomous Travel-Disruption Concierge  ·  Team ZKD, IIT Madras  ·  Codestreet 2026, Round 1  ·  Every external claim in this deck is sourced in the footnotes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Travel-Disruption Concierge — Team ZKD — Codestreet 2026</dc:title>
  <dc:subject>PptxGenJS Presentation</dc:subject>
  <dc:creator>Team ZKD, IIT Madras</dc:creator>
  <cp:lastModifiedBy>Team ZKD, IIT Madras</cp:lastModifiedBy>
  <cp:revision>1</cp:revision>
  <dcterms:created xsi:type="dcterms:W3CDTF">2026-07-25T03:43:05Z</dcterms:created>
  <dcterms:modified xsi:type="dcterms:W3CDTF">2026-07-25T03:43:05Z</dcterms:modified>
</cp:coreProperties>
</file>