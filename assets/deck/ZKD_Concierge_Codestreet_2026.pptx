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720000">
            <a:off x="-2926080" y="-2377440"/>
            <a:ext cx="7680960" cy="7680960"/>
          </a:xfrm>
          <a:prstGeom prst="roundRect">
            <a:avLst>
              <a:gd name="adj" fmla="val 50000"/>
            </a:avLst>
          </a:prstGeom>
          <a:solidFill>
            <a:srgbClr val="0E2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120000">
            <a:off x="8321040" y="-173736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02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1200000">
            <a:off x="9509760" y="-548640"/>
            <a:ext cx="3566160" cy="3566160"/>
          </a:xfrm>
          <a:prstGeom prst="roundRect">
            <a:avLst>
              <a:gd name="adj" fmla="val 50000"/>
            </a:avLst>
          </a:prstGeom>
          <a:solidFill>
            <a:srgbClr val="163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100584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300" b="1">
                <a:solidFill>
                  <a:srgbClr val="3D9CFF"/>
                </a:solidFill>
                <a:latin typeface="Calibri"/>
              </a:defRPr>
            </a:pPr>
            <a:r>
              <a:t>CODESTREET 2026  ·  AMERICAN EXPRESS</a:t>
            </a:r>
          </a:p>
          <a:p>
            <a:pPr>
              <a:spcAft>
                <a:spcPts val="1000"/>
              </a:spcAft>
              <a:defRPr sz="5000" b="1">
                <a:solidFill>
                  <a:srgbClr val="FFFFFF"/>
                </a:solidFill>
                <a:latin typeface="Cambria"/>
              </a:defRPr>
            </a:pPr>
            <a:r>
              <a:t>ZKD Concierge</a:t>
            </a:r>
          </a:p>
          <a:p>
            <a:pPr>
              <a:spcAft>
                <a:spcPts val="400"/>
              </a:spcAft>
              <a:defRPr sz="1900">
                <a:solidFill>
                  <a:srgbClr val="A9BEDC"/>
                </a:solidFill>
                <a:latin typeface="Calibri"/>
              </a:defRPr>
            </a:pPr>
            <a:r>
              <a:t>An autonomous travel-disruption concierge for Indian domestic aviation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2432304" cy="1234440"/>
          </a:xfrm>
          <a:prstGeom prst="roundRect">
            <a:avLst>
              <a:gd name="adj" fmla="val 6000"/>
            </a:avLst>
          </a:prstGeom>
          <a:solidFill>
            <a:srgbClr val="0D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ctr">
              <a:spcAft>
                <a:spcPts val="200"/>
              </a:spcAft>
              <a:defRPr sz="2500" b="1">
                <a:solidFill>
                  <a:srgbClr val="3D9CFF"/>
                </a:solidFill>
                <a:latin typeface="Cambria"/>
              </a:defRPr>
            </a:pPr>
            <a:r>
              <a:t>~11 s</a:t>
            </a:r>
          </a:p>
          <a:p>
            <a:pPr>
              <a:lnSpc>
                <a:spcPct val="110000"/>
              </a:lnSpc>
              <a:defRPr sz="1050">
                <a:solidFill>
                  <a:srgbClr val="A9BEDC"/>
                </a:solidFill>
                <a:latin typeface="Calibri"/>
              </a:defRPr>
            </a:pPr>
            <a:r>
              <a:t>cancellation to a confirmed, paid-for trip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4617720"/>
            <a:ext cx="2432304" cy="1234440"/>
          </a:xfrm>
          <a:prstGeom prst="roundRect">
            <a:avLst>
              <a:gd name="adj" fmla="val 6000"/>
            </a:avLst>
          </a:prstGeom>
          <a:solidFill>
            <a:srgbClr val="0D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ctr">
              <a:spcAft>
                <a:spcPts val="200"/>
              </a:spcAft>
              <a:defRPr sz="2500" b="1">
                <a:solidFill>
                  <a:srgbClr val="3D9CFF"/>
                </a:solidFill>
                <a:latin typeface="Cambria"/>
              </a:defRPr>
            </a:pPr>
            <a:r>
              <a:t>42 s</a:t>
            </a:r>
          </a:p>
          <a:p>
            <a:pPr>
              <a:lnSpc>
                <a:spcPct val="110000"/>
              </a:lnSpc>
              <a:defRPr sz="1050">
                <a:solidFill>
                  <a:srgbClr val="A9BEDC"/>
                </a:solidFill>
                <a:latin typeface="Calibri"/>
              </a:defRPr>
            </a:pPr>
            <a:r>
              <a:t>of the work already done before it happens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4617720"/>
            <a:ext cx="2432304" cy="1234440"/>
          </a:xfrm>
          <a:prstGeom prst="roundRect">
            <a:avLst>
              <a:gd name="adj" fmla="val 6000"/>
            </a:avLst>
          </a:prstGeom>
          <a:solidFill>
            <a:srgbClr val="0D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ctr">
              <a:spcAft>
                <a:spcPts val="200"/>
              </a:spcAft>
              <a:defRPr sz="2500" b="1">
                <a:solidFill>
                  <a:srgbClr val="3D9CFF"/>
                </a:solidFill>
                <a:latin typeface="Cambria"/>
              </a:defRPr>
            </a:pPr>
            <a:r>
              <a:t>3</a:t>
            </a:r>
          </a:p>
          <a:p>
            <a:pPr>
              <a:lnSpc>
                <a:spcPct val="110000"/>
              </a:lnSpc>
              <a:defRPr sz="1050">
                <a:solidFill>
                  <a:srgbClr val="A9BEDC"/>
                </a:solidFill>
                <a:latin typeface="Calibri"/>
              </a:defRPr>
            </a:pPr>
            <a:r>
              <a:t>consent modes, one default-deny policy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59952" y="4617720"/>
            <a:ext cx="2432304" cy="1234440"/>
          </a:xfrm>
          <a:prstGeom prst="roundRect">
            <a:avLst>
              <a:gd name="adj" fmla="val 6000"/>
            </a:avLst>
          </a:prstGeom>
          <a:solidFill>
            <a:srgbClr val="0D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ctr">
              <a:spcAft>
                <a:spcPts val="200"/>
              </a:spcAft>
              <a:defRPr sz="2500" b="1">
                <a:solidFill>
                  <a:srgbClr val="3D9CFF"/>
                </a:solidFill>
                <a:latin typeface="Cambria"/>
              </a:defRPr>
            </a:pPr>
            <a:r>
              <a:t>100%</a:t>
            </a:r>
          </a:p>
          <a:p>
            <a:pPr>
              <a:lnSpc>
                <a:spcPct val="110000"/>
              </a:lnSpc>
              <a:defRPr sz="1050">
                <a:solidFill>
                  <a:srgbClr val="A9BEDC"/>
                </a:solidFill>
                <a:latin typeface="Calibri"/>
              </a:defRPr>
            </a:pPr>
            <a:r>
              <a:t>agent actions passed through OPA / Rego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B94BA"/>
                </a:solidFill>
                <a:latin typeface="Calibri"/>
              </a:defRPr>
            </a:pPr>
            <a:r>
              <a:t>Team ZKD · IIT Madras   —   Live MVP presentation (20 min pitch + 10 min Q&amp;A)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01 · THE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The passenger reality: from panic to peace of mind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What changes for the member the moment a flight is cancelled.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FF6B6B"/>
                </a:solidFill>
                <a:latin typeface="Calibri"/>
              </a:defRPr>
            </a:pPr>
            <a:r>
              <a:t>TODAY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The reactive IRROPS nightmare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Discovering the cancellation only at the gate or via a delayed SMS.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45+ minute hold times with airline customer care centres.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Scrambling for overpriced alternate flights and airport hotels.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Opaque DGCA duty-of-care claims requiring manual paperwork.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2ECC9A"/>
                </a:solidFill>
                <a:latin typeface="Calibri"/>
              </a:defRPr>
            </a:pPr>
            <a:r>
              <a:t>ZKD CONCIERGE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Proactive and autonomous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Predictive warning ~42s before the formal airline cancellation.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Instant push notification with pre-cached flight, hotel and ground options.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1-tap pre-authorisation, or autopilot protection, with no phone queues.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Automatic compensation claims and zero out-of-pocket stress.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02 ·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Live MVP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The pre-tea-break hero flow, run end to end on the live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3D9CFF"/>
                </a:solidFill>
                <a:latin typeface="Courier New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550" b="1">
                <a:solidFill>
                  <a:srgbClr val="FFFFFF"/>
                </a:solidFill>
                <a:latin typeface="Cambria"/>
              </a:defRPr>
            </a:pPr>
            <a:r>
              <a:t>Operator console (/ops)</a:t>
            </a:r>
          </a:p>
          <a:p>
            <a:pPr>
              <a:lnSpc>
                <a:spcPct val="120000"/>
              </a:lnSpc>
              <a:defRPr sz="1250">
                <a:solidFill>
                  <a:srgbClr val="A9BEDC"/>
                </a:solidFill>
                <a:latin typeface="Calibri"/>
              </a:defRPr>
            </a:pPr>
            <a:r>
              <a:t>Trigger test disruptions locally or hosted; exercises the webhook and poller simulation channels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1417320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9B8CFF"/>
                </a:solidFill>
                <a:latin typeface="Courier New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550" b="1">
                <a:solidFill>
                  <a:srgbClr val="FFFFFF"/>
                </a:solidFill>
                <a:latin typeface="Cambria"/>
              </a:defRPr>
            </a:pPr>
            <a:r>
              <a:t>Risk &amp; LLM explanation</a:t>
            </a:r>
          </a:p>
          <a:p>
            <a:pPr>
              <a:lnSpc>
                <a:spcPct val="120000"/>
              </a:lnSpc>
              <a:defRPr sz="1250">
                <a:solidFill>
                  <a:srgbClr val="A9BEDC"/>
                </a:solidFill>
                <a:latin typeface="Calibri"/>
              </a:defRPr>
            </a:pPr>
            <a:r>
              <a:t>Live risk gauge crossing thresholds, with a plain-language Gemini explanation of the weather/airline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39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2ECC9A"/>
                </a:solidFill>
                <a:latin typeface="Courier New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550" b="1">
                <a:solidFill>
                  <a:srgbClr val="FFFFFF"/>
                </a:solidFill>
                <a:latin typeface="Cambria"/>
              </a:defRPr>
            </a:pPr>
            <a:r>
              <a:t>Edge case: self-cancel</a:t>
            </a:r>
          </a:p>
          <a:p>
            <a:pPr>
              <a:lnSpc>
                <a:spcPct val="120000"/>
              </a:lnSpc>
              <a:defRPr sz="1250">
                <a:solidFill>
                  <a:srgbClr val="A9BEDC"/>
                </a:solidFill>
                <a:latin typeface="Calibri"/>
              </a:defRPr>
            </a:pPr>
            <a:r>
              <a:t>Member-initiated changes, a clean hand-off (handed-over), and zero-friction state sync.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8192" y="3749039"/>
            <a:ext cx="5394960" cy="210312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FFB020"/>
                </a:solidFill>
                <a:latin typeface="Courier New"/>
              </a:defRPr>
            </a:pPr>
            <a:r>
              <a:t>04</a:t>
            </a:r>
          </a:p>
          <a:p>
            <a:pPr>
              <a:spcAft>
                <a:spcPts val="800"/>
              </a:spcAft>
              <a:defRPr sz="1550" b="1">
                <a:solidFill>
                  <a:srgbClr val="FFFFFF"/>
                </a:solidFill>
                <a:latin typeface="Cambria"/>
              </a:defRPr>
            </a:pPr>
            <a:r>
              <a:t>11-second autonomous recovery</a:t>
            </a:r>
          </a:p>
          <a:p>
            <a:pPr>
              <a:lnSpc>
                <a:spcPct val="120000"/>
              </a:lnSpc>
              <a:defRPr sz="1250">
                <a:solidFill>
                  <a:srgbClr val="A9BEDC"/>
                </a:solidFill>
                <a:latin typeface="Calibri"/>
              </a:defRPr>
            </a:pPr>
            <a:r>
              <a:t>Pre-auth consent gate, multi-supplier option ranking, and 1-tap booking confirmation in ~11s.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03 · PREDICTION &amp;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Predictive ML model &amp; personalization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The Spotify analogy: the same curation instinct, applied to a cancelled flight.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D9CFF"/>
                </a:solidFill>
                <a:latin typeface="Calibri"/>
              </a:defRPr>
            </a:pPr>
            <a:r>
              <a:t>RISK MODEL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Self-trained cancellation risk model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Built in zkd-risk-model/: XGBoost trained on real US DOT/BTS and Brazil ANAC historical data.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Extracts weather, route congestion, and airline rolling delays.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Outputs a continuous probability score with adaptive thresholds — not a flat 25/55/80.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Advisory role only: decides when we start preparing, never whether we spend member money.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9B8CFF"/>
                </a:solidFill>
                <a:latin typeface="Calibri"/>
              </a:defRPr>
            </a:pPr>
            <a:r>
              <a:t>PERSONALIZATION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The Spotify / YouTube analogy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Just as Spotify curates Discover Weekly from listening history, ZKD learns cardmember preferences.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Captures seat preference, cabin entitlement, layover tolerance, and companion rules.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Translates free-text member intent (server/preferences/intent.ts) into weighted scoring rules.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Dynamic adaptation: refines options from implicit choices and explicit feedback.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04 ·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The disruption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Prediction buys speed: every phase before consent runs before the airline even confirms.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2615184" cy="44805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219456" bIns="219456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3D9CFF"/>
                </a:solidFill>
                <a:latin typeface="Courier New"/>
              </a:defRPr>
            </a:pPr>
            <a:r>
              <a:t>01</a:t>
            </a:r>
          </a:p>
          <a:p>
            <a:pPr>
              <a:spcAft>
                <a:spcPts val="200"/>
              </a:spcAft>
              <a:defRPr sz="1700" b="1">
                <a:solidFill>
                  <a:srgbClr val="FFFFFF"/>
                </a:solidFill>
                <a:latin typeface="Cambria"/>
              </a:defRPr>
            </a:pPr>
            <a:r>
              <a:t>Predict</a:t>
            </a:r>
          </a:p>
          <a:p>
            <a:pPr>
              <a:spcAft>
                <a:spcPts val="1400"/>
              </a:spcAft>
              <a:defRPr sz="1100" b="1">
                <a:solidFill>
                  <a:srgbClr val="3D9CFF"/>
                </a:solidFill>
                <a:latin typeface="Calibri"/>
              </a:defRPr>
            </a:pPr>
            <a:r>
              <a:t>~42s head start</a:t>
            </a:r>
          </a:p>
          <a:p>
            <a:pPr>
              <a:lnSpc>
                <a:spcPct val="125000"/>
              </a:lnSpc>
              <a:defRPr sz="1150">
                <a:solidFill>
                  <a:srgbClr val="A9BEDC"/>
                </a:solidFill>
                <a:latin typeface="Calibri"/>
              </a:defRPr>
            </a:pPr>
            <a:r>
              <a:t>Model forecasts cancellation probability before the airline files it. Alt flights and hotels are pre-cached warm.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5264" y="1508760"/>
            <a:ext cx="2615184" cy="44805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219456" bIns="219456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9B8CFF"/>
                </a:solidFill>
                <a:latin typeface="Courier New"/>
              </a:defRPr>
            </a:pPr>
            <a:r>
              <a:t>02</a:t>
            </a:r>
          </a:p>
          <a:p>
            <a:pPr>
              <a:spcAft>
                <a:spcPts val="200"/>
              </a:spcAft>
              <a:defRPr sz="1700" b="1">
                <a:solidFill>
                  <a:srgbClr val="FFFFFF"/>
                </a:solidFill>
                <a:latin typeface="Cambria"/>
              </a:defRPr>
            </a:pPr>
            <a:r>
              <a:t>Pre-cache</a:t>
            </a:r>
          </a:p>
          <a:p>
            <a:pPr>
              <a:spcAft>
                <a:spcPts val="1400"/>
              </a:spcAft>
              <a:defRPr sz="1100" b="1">
                <a:solidFill>
                  <a:srgbClr val="9B8CFF"/>
                </a:solidFill>
                <a:latin typeface="Calibri"/>
              </a:defRPr>
            </a:pPr>
            <a:r>
              <a:t>Zero spend, no hold</a:t>
            </a:r>
          </a:p>
          <a:p>
            <a:pPr>
              <a:lnSpc>
                <a:spcPct val="125000"/>
              </a:lnSpc>
              <a:defRPr sz="1150">
                <a:solidFill>
                  <a:srgbClr val="A9BEDC"/>
                </a:solidFill>
                <a:latin typeface="Calibri"/>
              </a:defRPr>
            </a:pPr>
            <a:r>
              <a:t>Options are priced and held warm in memory. No booking, no spend, no financial liability.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3328" y="1508760"/>
            <a:ext cx="2615184" cy="44805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219456" bIns="219456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2ECC9A"/>
                </a:solidFill>
                <a:latin typeface="Courier New"/>
              </a:defRPr>
            </a:pPr>
            <a:r>
              <a:t>03</a:t>
            </a:r>
          </a:p>
          <a:p>
            <a:pPr>
              <a:spcAft>
                <a:spcPts val="200"/>
              </a:spcAft>
              <a:defRPr sz="1700" b="1">
                <a:solidFill>
                  <a:srgbClr val="FFFFFF"/>
                </a:solidFill>
                <a:latin typeface="Cambria"/>
              </a:defRPr>
            </a:pPr>
            <a:r>
              <a:t>Consent gate</a:t>
            </a:r>
          </a:p>
          <a:p>
            <a:pPr>
              <a:spcAft>
                <a:spcPts val="1400"/>
              </a:spcAft>
              <a:defRPr sz="1100" b="1">
                <a:solidFill>
                  <a:srgbClr val="2ECC9A"/>
                </a:solidFill>
                <a:latin typeface="Calibri"/>
              </a:defRPr>
            </a:pPr>
            <a:r>
              <a:t>Member control</a:t>
            </a:r>
          </a:p>
          <a:p>
            <a:pPr>
              <a:lnSpc>
                <a:spcPct val="125000"/>
              </a:lnSpc>
              <a:defRPr sz="1150">
                <a:solidFill>
                  <a:srgbClr val="A9BEDC"/>
                </a:solidFill>
                <a:latin typeface="Calibri"/>
              </a:defRPr>
            </a:pPr>
            <a:r>
              <a:t>A high-risk threshold triggers pre-auth. The member chooses, or approves autopilot in advance.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1392" y="1508760"/>
            <a:ext cx="2615184" cy="44805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219456" bIns="219456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FFB020"/>
                </a:solidFill>
                <a:latin typeface="Courier New"/>
              </a:defRPr>
            </a:pPr>
            <a:r>
              <a:t>04</a:t>
            </a:r>
          </a:p>
          <a:p>
            <a:pPr>
              <a:spcAft>
                <a:spcPts val="200"/>
              </a:spcAft>
              <a:defRPr sz="1700" b="1">
                <a:solidFill>
                  <a:srgbClr val="FFFFFF"/>
                </a:solidFill>
                <a:latin typeface="Cambria"/>
              </a:defRPr>
            </a:pPr>
            <a:r>
              <a:t>Act &amp; settle</a:t>
            </a:r>
          </a:p>
          <a:p>
            <a:pPr>
              <a:spcAft>
                <a:spcPts val="1400"/>
              </a:spcAft>
              <a:defRPr sz="1100" b="1">
                <a:solidFill>
                  <a:srgbClr val="FFB020"/>
                </a:solidFill>
                <a:latin typeface="Calibri"/>
              </a:defRPr>
            </a:pPr>
            <a:r>
              <a:t>~11s recovery</a:t>
            </a:r>
          </a:p>
          <a:p>
            <a:pPr>
              <a:lnSpc>
                <a:spcPct val="125000"/>
              </a:lnSpc>
              <a:defRPr sz="1150">
                <a:solidFill>
                  <a:srgbClr val="A9BEDC"/>
                </a:solidFill>
                <a:latin typeface="Calibri"/>
              </a:defRPr>
            </a:pPr>
            <a:r>
              <a:t>The confirmed booking executes instantly. DGCA duty-of-care claims are filed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05 · POLICY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Policy intelligence via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Multi-regulation compliance, enforced by a default-deny policy gate.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D9CFF"/>
                </a:solidFill>
                <a:latin typeface="Calibri"/>
              </a:defRPr>
            </a:pPr>
            <a:r>
              <a:t>SCOPE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Multi-regulation scope (beyond DGCA)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Not just DGCA (Indian domestic aviation) — international frameworks too: EU261 and UK261.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Carrier-specific contract clauses and operating terms (e.g. British Airways vs Emirates entitlements).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Amex card product benefit terms (server/myca.ts): cabin ceilings, lounge access, per-transaction rules.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Jurisdiction routing automatically detects which regulatory framework governs the PNR.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FFB020"/>
                </a:solidFill>
                <a:latin typeface="Calibri"/>
              </a:defRPr>
            </a:pPr>
            <a:r>
              <a:t>ENGINE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RAG &amp; default-deny policy engine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RAG ingestion automatically vectorizes and indexes aviation regulations, fare rules, and card terms.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Context retrieval dynamically queries relevant clauses when a disruption occurs for a given PNR.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OPA policy gate (server/policy/): default-deny rule engine, evaluated in-process in under 1ms.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Incomplete policy inputs trigger default-deny — nothing executes without an explicit allow.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06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System architecture &amp; multi-device 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A server-authoritative engine, and clients that are honest about holding no state.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D9CFF"/>
                </a:solidFill>
                <a:latin typeface="Calibri"/>
              </a:defRPr>
            </a:pPr>
            <a:r>
              <a:t>ENGINE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Server-authoritative simulation engine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Module-level simulation engine (server/engine/simulation.ts) runs the whole lifecycle.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Real setTimeout/setInterval chains resolve on schedule whether devices watch or not.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Single source of truth: the shared state ledger (server/decisionLedger.ts).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Zero GPU on the critical path — 95% of the time is network wait on supplier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9B8CFF"/>
                </a:solidFill>
                <a:latin typeface="Calibri"/>
              </a:defRPr>
            </a:pPr>
            <a:r>
              <a:t>CLIENTS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Multi-device sync &amp; identity switchers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Stateless clients: the Next.js web app (zkd-app/) and the Expo React Native app (zkd-android/).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Clean polling architecture: GET /api/passengers/[id]/schedule.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Identity switcher (?as=p-priya vs ?as=p-arjun): two tabs side by side prove independent tenant state.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Actions on mobile and web instantly converge via the shared backend.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07 · EXPERIENCE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Customer experience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Strictly no revenue proxies — every metric ties to a measured system evidence source.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7455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44952"/>
                <a:gridCol w="1737360"/>
                <a:gridCol w="4480560"/>
              </a:tblGrid>
              <a:tr h="896112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D9C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L="128016" marT="73152" anchor="ctr">
                    <a:solidFill>
                      <a:srgbClr val="0D22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D9CFF"/>
                          </a:solidFill>
                          <a:latin typeface="Calibri"/>
                        </a:defRPr>
                      </a:pPr>
                      <a:r>
                        <a:t>Metric name</a:t>
                      </a:r>
                    </a:p>
                  </a:txBody>
                  <a:tcPr marL="128016" marT="73152" anchor="ctr">
                    <a:solidFill>
                      <a:srgbClr val="0D22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D9C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128016" marT="73152" anchor="ctr">
                    <a:solidFill>
                      <a:srgbClr val="0D22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D9CFF"/>
                          </a:solidFill>
                          <a:latin typeface="Calibri"/>
                        </a:defRPr>
                      </a:pPr>
                      <a:r>
                        <a:t>System evidence / reality</a:t>
                      </a:r>
                    </a:p>
                  </a:txBody>
                  <a:tcPr marL="128016" marT="73152" anchor="ctr">
                    <a:solidFill>
                      <a:srgbClr val="0D224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Time to Plan Ready (A2)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ECC9A"/>
                          </a:solidFill>
                          <a:latin typeface="Calibri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~11s measured via the pipeline journal (journal.ts).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Member effort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Hand-off Rate (B2)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ECC9A"/>
                          </a:solidFill>
                          <a:latin typeface="Calibri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Tracked via DisruptionResolution.kind === 'handed-over'.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 quality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Plan Acceptance Rate (C1)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ECC9A"/>
                          </a:solidFill>
                          <a:latin typeface="Calibri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Resolved as approved/autopilot over total recoveries.</a:t>
                      </a:r>
                    </a:p>
                  </a:txBody>
                  <a:tcPr marL="128016" anchor="ctr">
                    <a:solidFill>
                      <a:srgbClr val="132C52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Trust &amp; loyalty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Autopilot Opt-in (E2)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ECC9A"/>
                          </a:solidFill>
                          <a:latin typeface="Calibri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A9BEDC"/>
                          </a:solidFill>
                          <a:latin typeface="Calibri"/>
                        </a:defRPr>
                      </a:pPr>
                      <a:r>
                        <a:t>Share of members trusting the system unsupervised.</a:t>
                      </a:r>
                    </a:p>
                  </a:txBody>
                  <a:tcPr marL="128016" anchor="ctr">
                    <a:solidFill>
                      <a:srgbClr val="10275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08 · ENGINEERING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The 11-second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Where the time actually goes, and why prediction — not raw speed — is the real unlock.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D9CFF"/>
                </a:solidFill>
                <a:latin typeface="Calibri"/>
              </a:defRPr>
            </a:pPr>
            <a:r>
              <a:t>BREAKDOWN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Where does the ~11s go?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95% of wall-clock time (~10.4s) is pure network I/O waiting on external supplier APIs (Duffel flight booking, LiteAPI hotel reservation).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Under 0.6s is computational overhead: preference scoring, allocation, 3 negotiation rounds, and OPA policy checks.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Zero GPU on the critical path — rule-based preference matching and heuristic ranking run instantly in-memory.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FFB020"/>
                </a:solidFill>
                <a:latin typeface="Calibri"/>
              </a:defRPr>
            </a:pPr>
            <a:r>
              <a:t>WHY IT MATTERS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Why prediction is the enabler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Prediction buys speed, not safety. A false positive costs one API call; a false negative costs 42 seconds.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Pre-caching alternative itineraries before cancellation means the choice set is already in memory when consent arrives.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A9BEDC"/>
                </a:solidFill>
                <a:latin typeface="Calibri"/>
              </a:defRPr>
            </a:pPr>
            <a:r>
              <a:t>—  Safety rests entirely on consent gates and notification ladders — never on a probability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D9CFF"/>
                </a:solidFill>
                <a:latin typeface="Calibri"/>
              </a:defRPr>
            </a:pPr>
            <a:r>
              <a:t>09 ·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146304"/>
            <a:ext cx="548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50">
                <a:solidFill>
                  <a:srgbClr val="7B94B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mbria"/>
              </a:defRPr>
            </a:pPr>
            <a:r>
              <a:t>Honest limitations, roadmap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BEDC"/>
                </a:solidFill>
                <a:latin typeface="Calibri"/>
              </a:defRPr>
            </a:pPr>
            <a:r>
              <a:t>What is not built yet, and what ships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FF6B6B"/>
                </a:solidFill>
                <a:latin typeface="Calibri"/>
              </a:defRPr>
            </a:pPr>
            <a:r>
              <a:t>LIMITATIONS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Honest limitations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No Indian domestic training data yet: the risk model cold-starts to a population base rate until the retrain loop runs.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Payment is mocked — a vPayment contract test, no live payment gateway.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Pull-only API rate-limit constraints on flight status feeds.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5650992" cy="4709160"/>
          </a:xfrm>
          <a:prstGeom prst="roundRect">
            <a:avLst>
              <a:gd name="adj" fmla="val 6000"/>
            </a:avLst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2ECC9A"/>
                </a:solidFill>
                <a:latin typeface="Calibri"/>
              </a:defRPr>
            </a:pPr>
            <a:r>
              <a:t>ROADMAP</a:t>
            </a:r>
          </a:p>
          <a:p>
            <a:pPr>
              <a:spcAft>
                <a:spcPts val="1000"/>
              </a:spcAft>
              <a:defRPr sz="1650" b="1">
                <a:solidFill>
                  <a:srgbClr val="FFFFFF"/>
                </a:solidFill>
                <a:latin typeface="Cambria"/>
              </a:defRPr>
            </a:pPr>
            <a:r>
              <a:t>Roadmap &amp; closing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Production rollout: live webhook subscriptions and automated event loggers.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Full integration of the default-deny policy engine (server/policy/).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250">
                <a:solidFill>
                  <a:srgbClr val="A9BEDC"/>
                </a:solidFill>
                <a:latin typeface="Calibri"/>
              </a:defRPr>
            </a:pPr>
            <a:r>
              <a:t>—  Elevating American Express cardmember trust through uncompromising proactive service.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