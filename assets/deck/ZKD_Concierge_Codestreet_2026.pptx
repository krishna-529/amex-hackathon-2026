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06FCF"/>
                </a:solidFill>
              </a:defRPr>
            </a:pPr>
            <a:r>
              <a:t>CODESTREET 2026 / AMERICAN EXPRESS</a:t>
            </a:r>
          </a:p>
          <a:p>
            <a:pPr>
              <a:spcAft>
                <a:spcPts val="800"/>
              </a:spcAft>
              <a:defRPr sz="4800" b="1">
                <a:solidFill>
                  <a:srgbClr val="FFFFFF"/>
                </a:solidFill>
              </a:defRPr>
            </a:pPr>
            <a:r>
              <a:t>ZKD Concierge</a:t>
            </a:r>
          </a:p>
          <a:p>
            <a:pPr>
              <a:spcAft>
                <a:spcPts val="2400"/>
              </a:spcAft>
              <a:defRPr sz="2000">
                <a:solidFill>
                  <a:srgbClr val="CBD5E1"/>
                </a:solidFill>
              </a:defRPr>
            </a:pPr>
            <a:r>
              <a:t>Autonomous Travel-Disruption Concierge for Indian Domestic Aviation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Team ZKD · IIT Madras  |  Live MVP Presentation (20 min Pitch + 10 min Q&amp;A)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FCF"/>
                </a:solidFill>
              </a:defRPr>
            </a:pPr>
            <a:r>
              <a:t>ZKD CONCIERGE · AMERICAN EXPRESS / CODESTREET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Passenger Reality: From Panic to Peace of Mind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B91C1C"/>
                </a:solidFill>
              </a:defRPr>
            </a:pPr>
            <a:r>
              <a:t>TODAY: The Reactive IRROPS Nightmare</a:t>
            </a:r>
          </a:p>
          <a:p>
            <a:pPr>
              <a:spcAft>
                <a:spcPts val="800"/>
              </a:spcAft>
              <a:defRPr sz="1300">
                <a:solidFill>
                  <a:srgbClr val="7F1D1D"/>
                </a:solidFill>
              </a:defRPr>
            </a:pPr>
            <a:r>
              <a:t>• Discovering cancellation only at the gate or via delayed SMS.</a:t>
            </a:r>
          </a:p>
          <a:p>
            <a:pPr>
              <a:spcAft>
                <a:spcPts val="800"/>
              </a:spcAft>
              <a:defRPr sz="1300">
                <a:solidFill>
                  <a:srgbClr val="7F1D1D"/>
                </a:solidFill>
              </a:defRPr>
            </a:pPr>
            <a:r>
              <a:t>• 45+ minute hold times with airline customer care centres.</a:t>
            </a:r>
          </a:p>
          <a:p>
            <a:pPr>
              <a:spcAft>
                <a:spcPts val="800"/>
              </a:spcAft>
              <a:defRPr sz="1300">
                <a:solidFill>
                  <a:srgbClr val="7F1D1D"/>
                </a:solidFill>
              </a:defRPr>
            </a:pPr>
            <a:r>
              <a:t>• Scrambling for overpriced alternate flights &amp; airport hotels.</a:t>
            </a:r>
          </a:p>
          <a:p>
            <a:pPr>
              <a:spcAft>
                <a:spcPts val="800"/>
              </a:spcAft>
              <a:defRPr sz="1300">
                <a:solidFill>
                  <a:srgbClr val="7F1D1D"/>
                </a:solidFill>
              </a:defRPr>
            </a:pPr>
            <a:r>
              <a:t>• Opaque DGCA duty-of-care claims requiring manual paperwork.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5803D"/>
                </a:solidFill>
              </a:defRPr>
            </a:pPr>
            <a:r>
              <a:t>ZKD CONCIERGE: Proactive &amp; Autonomous</a:t>
            </a:r>
          </a:p>
          <a:p>
            <a:pPr>
              <a:spcAft>
                <a:spcPts val="800"/>
              </a:spcAft>
              <a:defRPr sz="1300">
                <a:solidFill>
                  <a:srgbClr val="14532D"/>
                </a:solidFill>
              </a:defRPr>
            </a:pPr>
            <a:r>
              <a:t>• Predictive warning 42s before formal airline cancellation.</a:t>
            </a:r>
          </a:p>
          <a:p>
            <a:pPr>
              <a:spcAft>
                <a:spcPts val="800"/>
              </a:spcAft>
              <a:defRPr sz="1300">
                <a:solidFill>
                  <a:srgbClr val="14532D"/>
                </a:solidFill>
              </a:defRPr>
            </a:pPr>
            <a:r>
              <a:t>• Instant push notification with pre-cached flight + hotel + ground options.</a:t>
            </a:r>
          </a:p>
          <a:p>
            <a:pPr>
              <a:spcAft>
                <a:spcPts val="800"/>
              </a:spcAft>
              <a:defRPr sz="1300">
                <a:solidFill>
                  <a:srgbClr val="14532D"/>
                </a:solidFill>
              </a:defRPr>
            </a:pPr>
            <a:r>
              <a:t>• 1-tap pre-authorisation or autopilot protection without phone queues.</a:t>
            </a:r>
          </a:p>
          <a:p>
            <a:pPr>
              <a:spcAft>
                <a:spcPts val="800"/>
              </a:spcAft>
              <a:defRPr sz="1300">
                <a:solidFill>
                  <a:srgbClr val="14532D"/>
                </a:solidFill>
              </a:defRPr>
            </a:pPr>
            <a:r>
              <a:t>• Automatic compensation claims &amp; zero out-of-pocket stress.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FCF"/>
                </a:solidFill>
              </a:defRPr>
            </a:pPr>
            <a:r>
              <a:t>ZKD CONCIERGE · AMERICAN EXPRESS / CODESTREET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Live MVP Demo Walkthrough (Pre-Tea Break Hero Flow)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06FCF"/>
                </a:solidFill>
              </a:defRPr>
            </a:pPr>
            <a:r>
              <a:t>1. Operator Console (/ops)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Trigger test disruptions locally or hosted; tests webhook and poller simulation channels instantly.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06FCF"/>
                </a:solidFill>
              </a:defRPr>
            </a:pPr>
            <a:r>
              <a:t>2. Risk &amp; LLM Explanation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Live risk gauge crossing thresholds with plain-language Gemini LLM explanation of weather/airline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06FCF"/>
                </a:solidFill>
              </a:defRPr>
            </a:pPr>
            <a:r>
              <a:t>3. Edge Case: Self-Cancel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Demonstrates member-initiated changes, clean hand-off (`handed-over`), and zero-friction state sync.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06FCF"/>
                </a:solidFill>
              </a:defRPr>
            </a:pPr>
            <a:r>
              <a:t>4. 11-Sec Autonomous Recovery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Pre-auth consent gate, multi-supplier option ranking, and 1-tap booking confirmation in ~11s.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FCF"/>
                </a:solidFill>
              </a:defRPr>
            </a:pPr>
            <a:r>
              <a:t>ZKD CONCIERGE · AMERICAN EXPRESS / CODESTREET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Predictive ML Model &amp; Personalization (The Spotify Analogy)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Self-Trained Cancellation Risk Model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Built in `zkd-risk-model/`: XGBoost trained on real US DOT/BTS &amp; Brazil ANAC historical data.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Extracts weather, route congestion, and airline rolling delays.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Outputs continuous probability score with adaptive thresholds (not flat 25/55/80).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Advisory role: decides when we start preparing, never whether we spend member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06FCF"/>
                </a:solidFill>
              </a:defRPr>
            </a:pPr>
            <a:r>
              <a:t>Personalization: The Spotify / YouTube Analogy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Just like Spotify curates your discover weekly from listening history, ZKD learns cardmember preferences.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Captures seat preference, cabin entitlement, layover tolerance, and companion rules.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Translates free-text member intent (`zkd-app/server/preferences/intent.ts`) into weighted scoring rules.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Dynamic adaptation: refines options based on implicit choices and explicit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FCF"/>
                </a:solidFill>
              </a:defRPr>
            </a:pPr>
            <a:r>
              <a:t>ZKD CONCIERGE · AMERICAN EXPRESS / CODESTREET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Disruption Lifecycle Workflow (Prediction Buys Speed)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06FCF"/>
                </a:solidFill>
              </a:defRPr>
            </a:pPr>
            <a:r>
              <a:t>1. PREDICT</a:t>
            </a:r>
          </a:p>
          <a:p>
            <a:pPr>
              <a:spcAft>
                <a:spcPts val="1200"/>
              </a:spcAft>
              <a:defRPr sz="1100" b="1">
                <a:solidFill>
                  <a:srgbClr val="D97706"/>
                </a:solidFill>
              </a:defRPr>
            </a:pPr>
            <a:r>
              <a:t>42s Head Start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Model forecasts cancellation probability before airline files it. Pre-caches alt flights &amp; hotels warm.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06FCF"/>
                </a:solidFill>
              </a:defRPr>
            </a:pPr>
            <a:r>
              <a:t>2. PRE-CACHE</a:t>
            </a:r>
          </a:p>
          <a:p>
            <a:pPr>
              <a:spcAft>
                <a:spcPts val="1200"/>
              </a:spcAft>
              <a:defRPr sz="1100" b="1">
                <a:solidFill>
                  <a:srgbClr val="D97706"/>
                </a:solidFill>
              </a:defRPr>
            </a:pPr>
            <a:r>
              <a:t>Zero Spend / No Hold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Options priced and held warm in memory. No booking, no spend, no financial 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82880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06FCF"/>
                </a:solidFill>
              </a:defRPr>
            </a:pPr>
            <a:r>
              <a:t>3. CONSENT GATE</a:t>
            </a:r>
          </a:p>
          <a:p>
            <a:pPr>
              <a:spcAft>
                <a:spcPts val="1200"/>
              </a:spcAft>
              <a:defRPr sz="1100" b="1">
                <a:solidFill>
                  <a:srgbClr val="D97706"/>
                </a:solidFill>
              </a:defRPr>
            </a:pPr>
            <a:r>
              <a:t>Member Control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High-risk threshold triggers pre-auth. Member chooses or approves autopilot in advance.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82880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06FCF"/>
                </a:solidFill>
              </a:defRPr>
            </a:pPr>
            <a:r>
              <a:t>4. ACT &amp; SETTLE</a:t>
            </a:r>
          </a:p>
          <a:p>
            <a:pPr>
              <a:spcAft>
                <a:spcPts val="1200"/>
              </a:spcAft>
              <a:defRPr sz="1100" b="1">
                <a:solidFill>
                  <a:srgbClr val="D97706"/>
                </a:solidFill>
              </a:defRPr>
            </a:pPr>
            <a:r>
              <a:t>~11s Recovery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Confirmed booking executed instantly. DGCA duty-of-care claims filed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FCF"/>
                </a:solidFill>
              </a:defRPr>
            </a:pPr>
            <a:r>
              <a:t>ZKD CONCIERGE · AMERICAN EXPRESS / CODESTREET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Architecture &amp; Multi-Device State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Server-Authoritative Simulation Engine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Module-level simulation engine (`server/engine/simulation.ts`) runs the whole lifecycle.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Real `setTimeout`/`setInterval` chains resolve on schedule whether devices watch or not.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Single source of truth: shared state ledger (`server/decisionLedger.ts`).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Zero GPU on critical path: 95% of time is network wait on supplier APIs.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06FCF"/>
                </a:solidFill>
              </a:defRPr>
            </a:pPr>
            <a:r>
              <a:t>Multi-Device Sync &amp; Identity Switchers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Stateless clients: Next.js web app (`zkd-app/`) &amp; Expo React Native Android app (`zkd-android/`).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Clean polling architecture (`GET /api/passengers/[id]/schedule`).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Identity switcher (`?as=p-priya` vs `?as=p-arjun`): open two tabs side-by-side to prove independent tenant state.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Actions on mobile/web instantly converge via shared backend.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FCF"/>
                </a:solidFill>
              </a:defRPr>
            </a:pPr>
            <a:r>
              <a:t>ZKD CONCIERGE · AMERICAN EXPRESS / CODESTREET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Customer Experience KPIs Matrix (Strictly No Revenue Proxies)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1828800"/>
                <a:gridCol w="393192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Metric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System Evidence / Reality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Time to Plan Ready (A2)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6FCF"/>
                          </a:solidFill>
                        </a:defRPr>
                      </a:pPr>
                      <a:r>
                        <a:t>EXISTS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~11s measured via pipeline journal (`journal.ts`).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Member Effort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Hand-off Rate (B2)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6FCF"/>
                          </a:solidFill>
                        </a:defRPr>
                      </a:pPr>
                      <a:r>
                        <a:t>EXISTS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Tracked via `DisruptionResolution.kind === 'handed-over'`.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Outcome Quality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Plan Acceptance Rate (C1)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6FCF"/>
                          </a:solidFill>
                        </a:defRPr>
                      </a:pPr>
                      <a:r>
                        <a:t>EXISTS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Resolved as approved/autopilot over total recoveries.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Trust &amp; Loyalty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Autopilot Opt-in (E2)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6FCF"/>
                          </a:solidFill>
                        </a:defRPr>
                      </a:pPr>
                      <a:r>
                        <a:t>EXISTS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Share of members trusting system unsupervised.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FCF"/>
                </a:solidFill>
              </a:defRPr>
            </a:pPr>
            <a:r>
              <a:t>ZKD CONCIERGE · AMERICAN EXPRESS / CODESTREET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Engineering Deep Dive: The 11-Second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Where Does the ~11s Go?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• 95% of wall-clock time (~10.4s) is pure network I/O waiting on external supplier APIs (Duffel flight booking, LiteAPI hotel reservation).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• &lt;0.6s is computational overhead: preference scoring, allocation, 3 negotiation rounds, and OPA policy checks.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• Zero GPU on critical path: rule-based preference matching and heuristic ranking run instantly in-memory.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06FCF"/>
                </a:solidFill>
              </a:defRPr>
            </a:pPr>
            <a:r>
              <a:t>Why Prediction is the Enabler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• Prediction buys speed, not safety. False positive = 1 API call; false negative = 42 seconds lost.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• Pre-caching alternative itineraries before cancellation means the choice set is already in memory when consent arrives.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• Safety rests entirely on consent gates and notification ladders—never on a probability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FCF"/>
                </a:solidFill>
              </a:defRPr>
            </a:pPr>
            <a:r>
              <a:t>ZKD CONCIERGE · AMERICAN EXPRESS / CODESTREET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Honest Limitations, Roadmap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B91C1C"/>
                </a:solidFill>
              </a:defRPr>
            </a:pPr>
            <a:r>
              <a:t>Honest Limitations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No Indian domestic training data yet: risk model cold-starts to population base rate until retrain loop runs.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Payment is mocked (vPayment contract test; no live payment gateway).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Pull-only API rate limit constraints on flight status feeds.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06FCF"/>
                </a:solidFill>
              </a:defRPr>
            </a:pPr>
            <a:r>
              <a:t>Roadmap &amp; Closing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Production Rollout: Live webhook subscriptions &amp; automated event loggers.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Full integration of default-deny policy engine (`server/policy/`).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• Elevating American Express cardmember trust through uncompromising proactive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