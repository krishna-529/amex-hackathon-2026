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2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868680"/>
            <a:ext cx="146304" cy="14630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300" b="1">
                <a:solidFill>
                  <a:srgbClr val="D97757"/>
                </a:solidFill>
                <a:latin typeface="Avenir Next"/>
              </a:defRPr>
            </a:pPr>
            <a:r>
              <a:t>CODESTREET 2026  /  AMERICAN EXPRESS</a:t>
            </a:r>
          </a:p>
          <a:p>
            <a:pPr>
              <a:spcAft>
                <a:spcPts val="1000"/>
              </a:spcAft>
              <a:defRPr sz="5200" b="0">
                <a:solidFill>
                  <a:srgbClr val="F7F5F0"/>
                </a:solidFill>
                <a:latin typeface="Georgia"/>
              </a:defRPr>
            </a:pPr>
            <a:r>
              <a:t>ZKD Concierge</a:t>
            </a:r>
          </a:p>
          <a:p>
            <a:pPr>
              <a:spcAft>
                <a:spcPts val="2800"/>
              </a:spcAft>
              <a:defRPr sz="1900">
                <a:solidFill>
                  <a:srgbClr val="C9C3B8"/>
                </a:solidFill>
                <a:latin typeface="Avenir Next"/>
              </a:defRPr>
            </a:pPr>
            <a:r>
              <a:t>An autonomous travel-disruption concierge for Indian domestic aviation</a:t>
            </a:r>
          </a:p>
          <a:p>
            <a:pPr>
              <a:defRPr sz="1250">
                <a:solidFill>
                  <a:srgbClr val="9A948A"/>
                </a:solidFill>
                <a:latin typeface="Avenir Next"/>
              </a:defRPr>
            </a:pPr>
            <a:r>
              <a:t>Team ZKD · IIT Madras   —   Live MVP presentation (20 min pitch + 10 min Q&amp;A)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47088"/>
            <a:ext cx="502920" cy="4445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5C3E"/>
                </a:solidFill>
                <a:latin typeface="Avenir Next"/>
              </a:defRPr>
            </a:pPr>
            <a:r>
              <a:t>ZKD CONCIERGE  ·  AMERICAN EXPRESS  /  CODESTREET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0">
                <a:solidFill>
                  <a:srgbClr val="1F1E1C"/>
                </a:solidFill>
                <a:latin typeface="Georgia"/>
              </a:defRPr>
            </a:pPr>
            <a:r>
              <a:t>The passenger reality: from panic to peace of mind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81328"/>
            <a:ext cx="502920" cy="4445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E5A52"/>
                </a:solidFill>
                <a:latin typeface="Avenir Next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120640" cy="4251960"/>
          </a:xfrm>
          <a:prstGeom prst="roundRect">
            <a:avLst>
              <a:gd name="adj" fmla="val 6000"/>
            </a:avLst>
          </a:prstGeom>
          <a:solidFill>
            <a:srgbClr val="F4E4DF"/>
          </a:solidFill>
          <a:ln w="9525">
            <a:solidFill>
              <a:srgbClr val="E3C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8A3B2E"/>
                </a:solidFill>
                <a:latin typeface="Georgia"/>
              </a:defRPr>
            </a:pPr>
            <a:r>
              <a:t>Today — the reactive IRROPS nightmare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8A3B2E"/>
                </a:solidFill>
                <a:latin typeface="Avenir Next"/>
              </a:defRPr>
            </a:pPr>
            <a:r>
              <a:t>—  Discovering the cancellation only at the gate or via a delayed SMS.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8A3B2E"/>
                </a:solidFill>
                <a:latin typeface="Avenir Next"/>
              </a:defRPr>
            </a:pPr>
            <a:r>
              <a:t>—  45+ minute hold times with airline customer care centres.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8A3B2E"/>
                </a:solidFill>
                <a:latin typeface="Avenir Next"/>
              </a:defRPr>
            </a:pPr>
            <a:r>
              <a:t>—  Scrambling for overpriced alternate flights and airport hotels.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8A3B2E"/>
                </a:solidFill>
                <a:latin typeface="Avenir Next"/>
              </a:defRPr>
            </a:pPr>
            <a:r>
              <a:t>—  Opaque DGCA duty-of-care claims requiring manual paperwork.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166360" cy="4251960"/>
          </a:xfrm>
          <a:prstGeom prst="roundRect">
            <a:avLst>
              <a:gd name="adj" fmla="val 6000"/>
            </a:avLst>
          </a:prstGeom>
          <a:solidFill>
            <a:srgbClr val="E7EEE2"/>
          </a:solidFill>
          <a:ln w="9525">
            <a:solidFill>
              <a:srgbClr val="C9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3F5D3A"/>
                </a:solidFill>
                <a:latin typeface="Georgia"/>
              </a:defRPr>
            </a:pPr>
            <a:r>
              <a:t>ZKD Concierge — proactive and autonomous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3F5D3A"/>
                </a:solidFill>
                <a:latin typeface="Avenir Next"/>
              </a:defRPr>
            </a:pPr>
            <a:r>
              <a:t>—  Predictive warning ~42s before the formal airline cancellation.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3F5D3A"/>
                </a:solidFill>
                <a:latin typeface="Avenir Next"/>
              </a:defRPr>
            </a:pPr>
            <a:r>
              <a:t>—  Instant push notification with pre-cached flight, hotel and ground options.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3F5D3A"/>
                </a:solidFill>
                <a:latin typeface="Avenir Next"/>
              </a:defRPr>
            </a:pPr>
            <a:r>
              <a:t>—  1-tap pre-authorisation, or autopilot protection, with no phone queues.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3F5D3A"/>
                </a:solidFill>
                <a:latin typeface="Avenir Next"/>
              </a:defRPr>
            </a:pPr>
            <a:r>
              <a:t>—  Automatic compensation claims and zero out-of-pocket stress.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5C3E"/>
                </a:solidFill>
                <a:latin typeface="Avenir Next"/>
              </a:defRPr>
            </a:pPr>
            <a:r>
              <a:t>ZKD CONCIERGE  ·  AMERICAN EXPRESS  /  CODESTREET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0">
                <a:solidFill>
                  <a:srgbClr val="1F1E1C"/>
                </a:solidFill>
                <a:latin typeface="Georgia"/>
              </a:defRPr>
            </a:pPr>
            <a:r>
              <a:t>Live MVP demo walkthrough (pre-tea-break hero flow)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81328"/>
            <a:ext cx="502920" cy="4445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E5A52"/>
                </a:solidFill>
                <a:latin typeface="Avenir Next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800"/>
              </a:spcAft>
              <a:defRPr sz="1550" b="1">
                <a:solidFill>
                  <a:srgbClr val="B85C3E"/>
                </a:solidFill>
                <a:latin typeface="Georgia"/>
              </a:defRPr>
            </a:pPr>
            <a:r>
              <a:t>01   Operator console (/ops)</a:t>
            </a:r>
          </a:p>
          <a:p>
            <a:pPr>
              <a:lnSpc>
                <a:spcPct val="120000"/>
              </a:lnSpc>
              <a:defRPr sz="1250">
                <a:solidFill>
                  <a:srgbClr val="5E5A52"/>
                </a:solidFill>
                <a:latin typeface="Avenir Next"/>
              </a:defRPr>
            </a:pPr>
            <a:r>
              <a:t>Trigger test disruptions locally or hosted; exercises the webhook and poller simulation channels instantly.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800"/>
              </a:spcAft>
              <a:defRPr sz="1550" b="1">
                <a:solidFill>
                  <a:srgbClr val="B85C3E"/>
                </a:solidFill>
                <a:latin typeface="Georgia"/>
              </a:defRPr>
            </a:pPr>
            <a:r>
              <a:t>02   Risk &amp; LLM explanation</a:t>
            </a:r>
          </a:p>
          <a:p>
            <a:pPr>
              <a:lnSpc>
                <a:spcPct val="120000"/>
              </a:lnSpc>
              <a:defRPr sz="1250">
                <a:solidFill>
                  <a:srgbClr val="5E5A52"/>
                </a:solidFill>
                <a:latin typeface="Avenir Next"/>
              </a:defRPr>
            </a:pPr>
            <a:r>
              <a:t>Live risk gauge crossing thresholds, with a plain-language Gemini explanation of the weather/airline risk.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95928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800"/>
              </a:spcAft>
              <a:defRPr sz="1550" b="1">
                <a:solidFill>
                  <a:srgbClr val="B85C3E"/>
                </a:solidFill>
                <a:latin typeface="Georgia"/>
              </a:defRPr>
            </a:pPr>
            <a:r>
              <a:t>03   Edge case: self-cancel</a:t>
            </a:r>
          </a:p>
          <a:p>
            <a:pPr>
              <a:lnSpc>
                <a:spcPct val="120000"/>
              </a:lnSpc>
              <a:defRPr sz="1250">
                <a:solidFill>
                  <a:srgbClr val="5E5A52"/>
                </a:solidFill>
                <a:latin typeface="Avenir Next"/>
              </a:defRPr>
            </a:pPr>
            <a:r>
              <a:t>Member-initiated changes, a clean hand-off (`handed-over`), and zero-friction state sync.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95928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800"/>
              </a:spcAft>
              <a:defRPr sz="1550" b="1">
                <a:solidFill>
                  <a:srgbClr val="B85C3E"/>
                </a:solidFill>
                <a:latin typeface="Georgia"/>
              </a:defRPr>
            </a:pPr>
            <a:r>
              <a:t>04   11-second autonomous recovery</a:t>
            </a:r>
          </a:p>
          <a:p>
            <a:pPr>
              <a:lnSpc>
                <a:spcPct val="120000"/>
              </a:lnSpc>
              <a:defRPr sz="1250">
                <a:solidFill>
                  <a:srgbClr val="5E5A52"/>
                </a:solidFill>
                <a:latin typeface="Avenir Next"/>
              </a:defRPr>
            </a:pPr>
            <a:r>
              <a:t>Pre-auth consent gate, multi-supplier option ranking, and 1-tap booking confirmation in ~11s.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5C3E"/>
                </a:solidFill>
                <a:latin typeface="Avenir Next"/>
              </a:defRPr>
            </a:pPr>
            <a:r>
              <a:t>ZKD CONCIERGE  ·  AMERICAN EXPRESS  /  CODESTREET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0">
                <a:solidFill>
                  <a:srgbClr val="1F1E1C"/>
                </a:solidFill>
                <a:latin typeface="Georgia"/>
              </a:defRPr>
            </a:pPr>
            <a:r>
              <a:t>Predictive ML model &amp; personalization — the Spotify analogy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81328"/>
            <a:ext cx="502920" cy="4445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E5A52"/>
                </a:solidFill>
                <a:latin typeface="Avenir Next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120640" cy="425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1F1E1C"/>
                </a:solidFill>
                <a:latin typeface="Georgia"/>
              </a:defRPr>
            </a:pPr>
            <a:r>
              <a:t>Self-trained cancellation risk model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Built in zkd-risk-model/: XGBoost trained on real US DOT/BTS and Brazil ANAC historical data.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Extracts weather, route congestion, and airline rolling delays.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Outputs a continuous probability score with adaptive thresholds — not a flat 25/55/80.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Advisory role only: decides when we start preparing, never whether we spend member money.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166360" cy="4251960"/>
          </a:xfrm>
          <a:prstGeom prst="roundRect">
            <a:avLst>
              <a:gd name="adj" fmla="val 6000"/>
            </a:avLst>
          </a:prstGeom>
          <a:solidFill>
            <a:srgbClr val="F3E3DB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B85C3E"/>
                </a:solidFill>
                <a:latin typeface="Georgia"/>
              </a:defRPr>
            </a:pPr>
            <a:r>
              <a:t>Personalization: the Spotify / YouTube analogy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Just as Spotify curates Discover Weekly from listening history, ZKD learns cardmember preferences.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Captures seat preference, cabin entitlement, layover tolerance, and companion rules.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Translates free-text member intent (server/preferences/intent.ts) into weighted scoring rules.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Dynamic adaptation: refines options from implicit choices and explicit feedback.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5C3E"/>
                </a:solidFill>
                <a:latin typeface="Avenir Next"/>
              </a:defRPr>
            </a:pPr>
            <a:r>
              <a:t>ZKD CONCIERGE  ·  AMERICAN EXPRESS  /  CODESTREET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0">
                <a:solidFill>
                  <a:srgbClr val="1F1E1C"/>
                </a:solidFill>
                <a:latin typeface="Georgia"/>
              </a:defRPr>
            </a:pPr>
            <a:r>
              <a:t>The disruption lifecycle — prediction buys speed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81328"/>
            <a:ext cx="502920" cy="4445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E5A52"/>
                </a:solidFill>
                <a:latin typeface="Avenir Next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2496312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201168" bIns="201168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5E5A52"/>
                </a:solidFill>
                <a:latin typeface="Avenir Next"/>
              </a:defRPr>
            </a:pPr>
            <a:r>
              <a:t>01</a:t>
            </a:r>
          </a:p>
          <a:p>
            <a:pPr>
              <a:spcAft>
                <a:spcPts val="200"/>
              </a:spcAft>
              <a:defRPr sz="1600" b="1">
                <a:solidFill>
                  <a:srgbClr val="1F1E1C"/>
                </a:solidFill>
                <a:latin typeface="Georgia"/>
              </a:defRPr>
            </a:pPr>
            <a:r>
              <a:t>Predict</a:t>
            </a:r>
          </a:p>
          <a:p>
            <a:pPr>
              <a:spcAft>
                <a:spcPts val="1400"/>
              </a:spcAft>
              <a:defRPr sz="1100" b="1">
                <a:solidFill>
                  <a:srgbClr val="B85C3E"/>
                </a:solidFill>
                <a:latin typeface="Avenir Next"/>
              </a:defRPr>
            </a:pPr>
            <a:r>
              <a:t>~42s head start</a:t>
            </a:r>
          </a:p>
          <a:p>
            <a:pPr>
              <a:lnSpc>
                <a:spcPct val="120000"/>
              </a:lnSpc>
              <a:defRPr sz="1150">
                <a:solidFill>
                  <a:srgbClr val="5E5A52"/>
                </a:solidFill>
                <a:latin typeface="Avenir Next"/>
              </a:defRPr>
            </a:pPr>
            <a:r>
              <a:t>Model forecasts cancellation probability before the airline files it. Alt flights and hotels are pre-cached warm.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3794760"/>
            <a:ext cx="38100" cy="128016"/>
          </a:xfrm>
          <a:prstGeom prst="rect">
            <a:avLst/>
          </a:prstGeom>
          <a:solidFill>
            <a:srgbClr val="E4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0712" y="1874519"/>
            <a:ext cx="2496312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201168" bIns="201168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5E5A52"/>
                </a:solidFill>
                <a:latin typeface="Avenir Next"/>
              </a:defRPr>
            </a:pPr>
            <a:r>
              <a:t>02</a:t>
            </a:r>
          </a:p>
          <a:p>
            <a:pPr>
              <a:spcAft>
                <a:spcPts val="200"/>
              </a:spcAft>
              <a:defRPr sz="1600" b="1">
                <a:solidFill>
                  <a:srgbClr val="1F1E1C"/>
                </a:solidFill>
                <a:latin typeface="Georgia"/>
              </a:defRPr>
            </a:pPr>
            <a:r>
              <a:t>Pre-cache</a:t>
            </a:r>
          </a:p>
          <a:p>
            <a:pPr>
              <a:spcAft>
                <a:spcPts val="1400"/>
              </a:spcAft>
              <a:defRPr sz="1100" b="1">
                <a:solidFill>
                  <a:srgbClr val="B85C3E"/>
                </a:solidFill>
                <a:latin typeface="Avenir Next"/>
              </a:defRPr>
            </a:pPr>
            <a:r>
              <a:t>Zero spend, no hold</a:t>
            </a:r>
          </a:p>
          <a:p>
            <a:pPr>
              <a:lnSpc>
                <a:spcPct val="120000"/>
              </a:lnSpc>
              <a:defRPr sz="1150">
                <a:solidFill>
                  <a:srgbClr val="5E5A52"/>
                </a:solidFill>
                <a:latin typeface="Avenir Next"/>
              </a:defRPr>
            </a:pPr>
            <a:r>
              <a:t>Options are priced and held warm in memory. No booking, no spend, no financial liability.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3794760"/>
            <a:ext cx="38100" cy="128016"/>
          </a:xfrm>
          <a:prstGeom prst="rect">
            <a:avLst/>
          </a:prstGeom>
          <a:solidFill>
            <a:srgbClr val="E4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89904" y="1874519"/>
            <a:ext cx="2496312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201168" bIns="201168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5E5A52"/>
                </a:solidFill>
                <a:latin typeface="Avenir Next"/>
              </a:defRPr>
            </a:pPr>
            <a:r>
              <a:t>03</a:t>
            </a:r>
          </a:p>
          <a:p>
            <a:pPr>
              <a:spcAft>
                <a:spcPts val="200"/>
              </a:spcAft>
              <a:defRPr sz="1600" b="1">
                <a:solidFill>
                  <a:srgbClr val="1F1E1C"/>
                </a:solidFill>
                <a:latin typeface="Georgia"/>
              </a:defRPr>
            </a:pPr>
            <a:r>
              <a:t>Consent gate</a:t>
            </a:r>
          </a:p>
          <a:p>
            <a:pPr>
              <a:spcAft>
                <a:spcPts val="1400"/>
              </a:spcAft>
              <a:defRPr sz="1100" b="1">
                <a:solidFill>
                  <a:srgbClr val="B85C3E"/>
                </a:solidFill>
                <a:latin typeface="Avenir Next"/>
              </a:defRPr>
            </a:pPr>
            <a:r>
              <a:t>Member control</a:t>
            </a:r>
          </a:p>
          <a:p>
            <a:pPr>
              <a:lnSpc>
                <a:spcPct val="120000"/>
              </a:lnSpc>
              <a:defRPr sz="1150">
                <a:solidFill>
                  <a:srgbClr val="5E5A52"/>
                </a:solidFill>
                <a:latin typeface="Avenir Next"/>
              </a:defRPr>
            </a:pPr>
            <a:r>
              <a:t>A high-risk threshold triggers pre-auth. The member chooses, or approves autopilot in advance.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04504" y="3794760"/>
            <a:ext cx="38100" cy="128016"/>
          </a:xfrm>
          <a:prstGeom prst="rect">
            <a:avLst/>
          </a:prstGeom>
          <a:solidFill>
            <a:srgbClr val="E4E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769096" y="1874519"/>
            <a:ext cx="2496312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201168" bIns="201168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5E5A52"/>
                </a:solidFill>
                <a:latin typeface="Avenir Next"/>
              </a:defRPr>
            </a:pPr>
            <a:r>
              <a:t>04</a:t>
            </a:r>
          </a:p>
          <a:p>
            <a:pPr>
              <a:spcAft>
                <a:spcPts val="200"/>
              </a:spcAft>
              <a:defRPr sz="1600" b="1">
                <a:solidFill>
                  <a:srgbClr val="1F1E1C"/>
                </a:solidFill>
                <a:latin typeface="Georgia"/>
              </a:defRPr>
            </a:pPr>
            <a:r>
              <a:t>Act &amp; settle</a:t>
            </a:r>
          </a:p>
          <a:p>
            <a:pPr>
              <a:spcAft>
                <a:spcPts val="1400"/>
              </a:spcAft>
              <a:defRPr sz="1100" b="1">
                <a:solidFill>
                  <a:srgbClr val="B85C3E"/>
                </a:solidFill>
                <a:latin typeface="Avenir Next"/>
              </a:defRPr>
            </a:pPr>
            <a:r>
              <a:t>~11s recovery</a:t>
            </a:r>
          </a:p>
          <a:p>
            <a:pPr>
              <a:lnSpc>
                <a:spcPct val="120000"/>
              </a:lnSpc>
              <a:defRPr sz="1150">
                <a:solidFill>
                  <a:srgbClr val="5E5A52"/>
                </a:solidFill>
                <a:latin typeface="Avenir Next"/>
              </a:defRPr>
            </a:pPr>
            <a:r>
              <a:t>The confirmed booking executes instantly. DGCA duty-of-care claims are filed automatically.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5C3E"/>
                </a:solidFill>
                <a:latin typeface="Avenir Next"/>
              </a:defRPr>
            </a:pPr>
            <a:r>
              <a:t>ZKD CONCIERGE  ·  AMERICAN EXPRESS  /  CODESTREET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0">
                <a:solidFill>
                  <a:srgbClr val="1F1E1C"/>
                </a:solidFill>
                <a:latin typeface="Georgia"/>
              </a:defRPr>
            </a:pPr>
            <a:r>
              <a:t>Policy intelligence via RAG &amp; multi-regulation compliance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81328"/>
            <a:ext cx="502920" cy="4445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E5A52"/>
                </a:solidFill>
                <a:latin typeface="Avenir Next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120640" cy="425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1F1E1C"/>
                </a:solidFill>
                <a:latin typeface="Georgia"/>
              </a:defRPr>
            </a:pPr>
            <a:r>
              <a:t>Multi-regulation scope (beyond DGCA)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Not just DGCA (Indian domestic aviation) — international frameworks too: EU261 and UK261.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Carrier-specific contract clauses and operating terms (e.g. British Airways vs Emirates entitlements).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Amex card product benefit terms (server/myca.ts): cabin ceilings, lounge access, per-transaction rules.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Jurisdiction routing automatically detects which regulatory framework governs the PNR.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166360" cy="4251960"/>
          </a:xfrm>
          <a:prstGeom prst="roundRect">
            <a:avLst>
              <a:gd name="adj" fmla="val 6000"/>
            </a:avLst>
          </a:prstGeom>
          <a:solidFill>
            <a:srgbClr val="F3E3DB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B85C3E"/>
                </a:solidFill>
                <a:latin typeface="Georgia"/>
              </a:defRPr>
            </a:pPr>
            <a:r>
              <a:t>RAG &amp; default-deny policy engine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RAG ingestion automatically vectorizes and indexes aviation regulations, fare rules, and card terms.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Context retrieval dynamically queries relevant clauses when a disruption occurs for a given PNR.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OPA policy gate (server/policy/): default-deny rule engine, evaluated in-process in under 1ms.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Incomplete policy inputs trigger default-deny — nothing executes without an explicit allow.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5C3E"/>
                </a:solidFill>
                <a:latin typeface="Avenir Next"/>
              </a:defRPr>
            </a:pPr>
            <a:r>
              <a:t>ZKD CONCIERGE  ·  AMERICAN EXPRESS  /  CODESTREET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0">
                <a:solidFill>
                  <a:srgbClr val="1F1E1C"/>
                </a:solidFill>
                <a:latin typeface="Georgia"/>
              </a:defRPr>
            </a:pPr>
            <a:r>
              <a:t>System architecture &amp; multi-device state sync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81328"/>
            <a:ext cx="502920" cy="4445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E5A52"/>
                </a:solidFill>
                <a:latin typeface="Avenir Next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120640" cy="425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1F1E1C"/>
                </a:solidFill>
                <a:latin typeface="Georgia"/>
              </a:defRPr>
            </a:pPr>
            <a:r>
              <a:t>Server-authoritative simulation engine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Module-level simulation engine (server/engine/simulation.ts) runs the whole lifecycle.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Real setTimeout/setInterval chains resolve on schedule whether devices watch or not.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Single source of truth: the shared state ledger (server/decisionLedger.ts).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Zero GPU on the critical path — 95% of the time is network wait on supplier APIs.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166360" cy="4251960"/>
          </a:xfrm>
          <a:prstGeom prst="roundRect">
            <a:avLst>
              <a:gd name="adj" fmla="val 6000"/>
            </a:avLst>
          </a:prstGeom>
          <a:solidFill>
            <a:srgbClr val="F3E3DB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B85C3E"/>
                </a:solidFill>
                <a:latin typeface="Georgia"/>
              </a:defRPr>
            </a:pPr>
            <a:r>
              <a:t>Multi-device sync &amp; identity switchers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Stateless clients: the Next.js web app (zkd-app/) and the Expo React Native app (zkd-android/).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Clean polling architecture: GET /api/passengers/[id]/schedule.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Identity switcher (?as=p-priya vs ?as=p-arjun): two tabs side by side prove independent tenant state.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5E5A52"/>
                </a:solidFill>
                <a:latin typeface="Avenir Next"/>
              </a:defRPr>
            </a:pPr>
            <a:r>
              <a:t>—  Actions on mobile and web instantly converge via the shared backend.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5C3E"/>
                </a:solidFill>
                <a:latin typeface="Avenir Next"/>
              </a:defRPr>
            </a:pPr>
            <a:r>
              <a:t>ZKD CONCIERGE  ·  AMERICAN EXPRESS  /  CODESTREET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0">
                <a:solidFill>
                  <a:srgbClr val="1F1E1C"/>
                </a:solidFill>
                <a:latin typeface="Georgia"/>
              </a:defRPr>
            </a:pPr>
            <a:r>
              <a:t>Customer experience KPIs — strictly no revenue proxies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81328"/>
            <a:ext cx="502920" cy="4445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E5A52"/>
                </a:solidFill>
                <a:latin typeface="Avenir Next"/>
              </a:defRPr>
            </a:pPr>
            <a:r>
              <a:t>08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83080"/>
          <a:ext cx="1072591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53512"/>
                <a:gridCol w="1737360"/>
                <a:gridCol w="4023360"/>
              </a:tblGrid>
              <a:tr h="84124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7F5F0"/>
                          </a:solidFill>
                          <a:latin typeface="Avenir Next"/>
                        </a:defRPr>
                      </a:pPr>
                      <a:r>
                        <a:t>Category</a:t>
                      </a:r>
                    </a:p>
                  </a:txBody>
                  <a:tcPr marL="128016" marT="73152" anchor="ctr">
                    <a:solidFill>
                      <a:srgbClr val="1F1E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7F5F0"/>
                          </a:solidFill>
                          <a:latin typeface="Avenir Next"/>
                        </a:defRPr>
                      </a:pPr>
                      <a:r>
                        <a:t>Metric name</a:t>
                      </a:r>
                    </a:p>
                  </a:txBody>
                  <a:tcPr marL="128016" marT="73152" anchor="ctr">
                    <a:solidFill>
                      <a:srgbClr val="1F1E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7F5F0"/>
                          </a:solidFill>
                          <a:latin typeface="Avenir Next"/>
                        </a:defRPr>
                      </a:pPr>
                      <a:r>
                        <a:t>Status</a:t>
                      </a:r>
                    </a:p>
                  </a:txBody>
                  <a:tcPr marL="128016" marT="73152" anchor="ctr">
                    <a:solidFill>
                      <a:srgbClr val="1F1E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7F5F0"/>
                          </a:solidFill>
                          <a:latin typeface="Avenir Next"/>
                        </a:defRPr>
                      </a:pPr>
                      <a:r>
                        <a:t>System evidence / reality</a:t>
                      </a:r>
                    </a:p>
                  </a:txBody>
                  <a:tcPr marL="128016" marT="73152" anchor="ctr">
                    <a:solidFill>
                      <a:srgbClr val="1F1E1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1E1C"/>
                          </a:solidFill>
                          <a:latin typeface="Avenir Next"/>
                        </a:defRPr>
                      </a:pPr>
                      <a:r>
                        <a:t>Speed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E5A52"/>
                          </a:solidFill>
                          <a:latin typeface="Avenir Next"/>
                        </a:defRPr>
                      </a:pPr>
                      <a:r>
                        <a:t>Time to Plan Ready (A2)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B85C3E"/>
                          </a:solidFill>
                          <a:latin typeface="Avenir Next"/>
                        </a:defRPr>
                      </a:pPr>
                      <a:r>
                        <a:t>EXISTS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E5A52"/>
                          </a:solidFill>
                          <a:latin typeface="Avenir Next"/>
                        </a:defRPr>
                      </a:pPr>
                      <a:r>
                        <a:t>~11s measured via the pipeline journal (journal.ts).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1E1C"/>
                          </a:solidFill>
                          <a:latin typeface="Avenir Next"/>
                        </a:defRPr>
                      </a:pPr>
                      <a:r>
                        <a:t>Member effort</a:t>
                      </a:r>
                    </a:p>
                  </a:txBody>
                  <a:tcPr marL="128016" anchor="ctr"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E5A52"/>
                          </a:solidFill>
                          <a:latin typeface="Avenir Next"/>
                        </a:defRPr>
                      </a:pPr>
                      <a:r>
                        <a:t>Hand-off Rate (B2)</a:t>
                      </a:r>
                    </a:p>
                  </a:txBody>
                  <a:tcPr marL="128016" anchor="ctr"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B85C3E"/>
                          </a:solidFill>
                          <a:latin typeface="Avenir Next"/>
                        </a:defRPr>
                      </a:pPr>
                      <a:r>
                        <a:t>EXISTS</a:t>
                      </a:r>
                    </a:p>
                  </a:txBody>
                  <a:tcPr marL="128016" anchor="ctr"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E5A52"/>
                          </a:solidFill>
                          <a:latin typeface="Avenir Next"/>
                        </a:defRPr>
                      </a:pPr>
                      <a:r>
                        <a:t>Tracked via DisruptionResolution.kind === 'handed-over'.</a:t>
                      </a:r>
                    </a:p>
                  </a:txBody>
                  <a:tcPr marL="128016" anchor="ctr">
                    <a:solidFill>
                      <a:srgbClr val="F0EEE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1E1C"/>
                          </a:solidFill>
                          <a:latin typeface="Avenir Next"/>
                        </a:defRPr>
                      </a:pPr>
                      <a:r>
                        <a:t>Outcome quality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E5A52"/>
                          </a:solidFill>
                          <a:latin typeface="Avenir Next"/>
                        </a:defRPr>
                      </a:pPr>
                      <a:r>
                        <a:t>Plan Acceptance Rate (C1)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B85C3E"/>
                          </a:solidFill>
                          <a:latin typeface="Avenir Next"/>
                        </a:defRPr>
                      </a:pPr>
                      <a:r>
                        <a:t>EXISTS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E5A52"/>
                          </a:solidFill>
                          <a:latin typeface="Avenir Next"/>
                        </a:defRPr>
                      </a:pPr>
                      <a:r>
                        <a:t>Resolved as approved/autopilot over total recoveries.</a:t>
                      </a:r>
                    </a:p>
                  </a:txBody>
                  <a:tcPr marL="128016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1E1C"/>
                          </a:solidFill>
                          <a:latin typeface="Avenir Next"/>
                        </a:defRPr>
                      </a:pPr>
                      <a:r>
                        <a:t>Trust &amp; loyalty</a:t>
                      </a:r>
                    </a:p>
                  </a:txBody>
                  <a:tcPr marL="128016" anchor="ctr"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E5A52"/>
                          </a:solidFill>
                          <a:latin typeface="Avenir Next"/>
                        </a:defRPr>
                      </a:pPr>
                      <a:r>
                        <a:t>Autopilot Opt-in (E2)</a:t>
                      </a:r>
                    </a:p>
                  </a:txBody>
                  <a:tcPr marL="128016" anchor="ctr"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B85C3E"/>
                          </a:solidFill>
                          <a:latin typeface="Avenir Next"/>
                        </a:defRPr>
                      </a:pPr>
                      <a:r>
                        <a:t>EXISTS</a:t>
                      </a:r>
                    </a:p>
                  </a:txBody>
                  <a:tcPr marL="128016" anchor="ctr">
                    <a:solidFill>
                      <a:srgbClr val="F0EE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5E5A52"/>
                          </a:solidFill>
                          <a:latin typeface="Avenir Next"/>
                        </a:defRPr>
                      </a:pPr>
                      <a:r>
                        <a:t>Share of members trusting the system unsupervised.</a:t>
                      </a:r>
                    </a:p>
                  </a:txBody>
                  <a:tcPr marL="128016" anchor="ctr">
                    <a:solidFill>
                      <a:srgbClr val="F0EE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5C3E"/>
                </a:solidFill>
                <a:latin typeface="Avenir Next"/>
              </a:defRPr>
            </a:pPr>
            <a:r>
              <a:t>ZKD CONCIERGE  ·  AMERICAN EXPRESS  /  CODESTREET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0">
                <a:solidFill>
                  <a:srgbClr val="1F1E1C"/>
                </a:solidFill>
                <a:latin typeface="Georgia"/>
              </a:defRPr>
            </a:pPr>
            <a:r>
              <a:t>Engineering deep dive: the 11-second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81328"/>
            <a:ext cx="502920" cy="4445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E5A52"/>
                </a:solidFill>
                <a:latin typeface="Avenir Next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120640" cy="425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1F1E1C"/>
                </a:solidFill>
                <a:latin typeface="Georgia"/>
              </a:defRPr>
            </a:pPr>
            <a:r>
              <a:t>Where does the ~11s go?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300">
                <a:solidFill>
                  <a:srgbClr val="5E5A52"/>
                </a:solidFill>
                <a:latin typeface="Avenir Next"/>
              </a:defRPr>
            </a:pPr>
            <a:r>
              <a:t>—  95% of wall-clock time (~10.4s) is pure network I/O waiting on external supplier APIs (Duffel flight booking, LiteAPI hotel reservation).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300">
                <a:solidFill>
                  <a:srgbClr val="5E5A52"/>
                </a:solidFill>
                <a:latin typeface="Avenir Next"/>
              </a:defRPr>
            </a:pPr>
            <a:r>
              <a:t>—  Under 0.6s is computational overhead: preference scoring, allocation, 3 negotiation rounds, and OPA policy checks.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300">
                <a:solidFill>
                  <a:srgbClr val="5E5A52"/>
                </a:solidFill>
                <a:latin typeface="Avenir Next"/>
              </a:defRPr>
            </a:pPr>
            <a:r>
              <a:t>—  Zero GPU on the critical path — rule-based preference matching and heuristic ranking run instantly in-memory.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166360" cy="4251960"/>
          </a:xfrm>
          <a:prstGeom prst="roundRect">
            <a:avLst>
              <a:gd name="adj" fmla="val 6000"/>
            </a:avLst>
          </a:prstGeom>
          <a:solidFill>
            <a:srgbClr val="F3E3DB"/>
          </a:solidFill>
          <a:ln w="9525">
            <a:solidFill>
              <a:srgbClr val="E4E0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B85C3E"/>
                </a:solidFill>
                <a:latin typeface="Georgia"/>
              </a:defRPr>
            </a:pPr>
            <a:r>
              <a:t>Why prediction is the enabler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300">
                <a:solidFill>
                  <a:srgbClr val="5E5A52"/>
                </a:solidFill>
                <a:latin typeface="Avenir Next"/>
              </a:defRPr>
            </a:pPr>
            <a:r>
              <a:t>—  Prediction buys speed, not safety. A false positive costs one API call; a false negative costs 42 seconds.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300">
                <a:solidFill>
                  <a:srgbClr val="5E5A52"/>
                </a:solidFill>
                <a:latin typeface="Avenir Next"/>
              </a:defRPr>
            </a:pPr>
            <a:r>
              <a:t>—  Pre-caching alternative itineraries before cancellation means the choice set is already in memory when consent arrives.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300">
                <a:solidFill>
                  <a:srgbClr val="5E5A52"/>
                </a:solidFill>
                <a:latin typeface="Avenir Next"/>
              </a:defRPr>
            </a:pPr>
            <a:r>
              <a:t>—  Safety rests entirely on consent gates and notification ladders — never on a probability score.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B85C3E"/>
                </a:solidFill>
                <a:latin typeface="Avenir Next"/>
              </a:defRPr>
            </a:pPr>
            <a:r>
              <a:t>ZKD CONCIERGE  ·  AMERICAN EXPRESS  /  CODESTREET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04672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0">
                <a:solidFill>
                  <a:srgbClr val="1F1E1C"/>
                </a:solidFill>
                <a:latin typeface="Georgia"/>
              </a:defRPr>
            </a:pPr>
            <a:r>
              <a:t>Honest limitations, roadmap &amp;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81328"/>
            <a:ext cx="502920" cy="4445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E5A52"/>
                </a:solidFill>
                <a:latin typeface="Avenir Next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120640" cy="4251960"/>
          </a:xfrm>
          <a:prstGeom prst="roundRect">
            <a:avLst>
              <a:gd name="adj" fmla="val 6000"/>
            </a:avLst>
          </a:prstGeom>
          <a:solidFill>
            <a:srgbClr val="F4E4DF"/>
          </a:solidFill>
          <a:ln w="9525">
            <a:solidFill>
              <a:srgbClr val="E3C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8A3B2E"/>
                </a:solidFill>
                <a:latin typeface="Georgia"/>
              </a:defRPr>
            </a:pPr>
            <a:r>
              <a:t>Honest limitations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8A3B2E"/>
                </a:solidFill>
                <a:latin typeface="Avenir Next"/>
              </a:defRPr>
            </a:pPr>
            <a:r>
              <a:t>—  No Indian domestic training data yet: the risk model cold-starts to a population base rate until the retrain loop runs.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8A3B2E"/>
                </a:solidFill>
                <a:latin typeface="Avenir Next"/>
              </a:defRPr>
            </a:pPr>
            <a:r>
              <a:t>—  Payment is mocked — a vPayment contract test, no live payment gateway.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8A3B2E"/>
                </a:solidFill>
                <a:latin typeface="Avenir Next"/>
              </a:defRPr>
            </a:pPr>
            <a:r>
              <a:t>—  Pull-only API rate-limit constraints on flight status feeds.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783080"/>
            <a:ext cx="5166360" cy="4251960"/>
          </a:xfrm>
          <a:prstGeom prst="roundRect">
            <a:avLst>
              <a:gd name="adj" fmla="val 6000"/>
            </a:avLst>
          </a:prstGeom>
          <a:solidFill>
            <a:srgbClr val="E7EEE2"/>
          </a:solidFill>
          <a:ln w="9525">
            <a:solidFill>
              <a:srgbClr val="C9D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56032" bIns="256032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3F5D3A"/>
                </a:solidFill>
                <a:latin typeface="Georgia"/>
              </a:defRPr>
            </a:pPr>
            <a:r>
              <a:t>Roadmap &amp; closing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3F5D3A"/>
                </a:solidFill>
                <a:latin typeface="Avenir Next"/>
              </a:defRPr>
            </a:pPr>
            <a:r>
              <a:t>—  Production rollout: live webhook subscriptions and automated event loggers.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3F5D3A"/>
                </a:solidFill>
                <a:latin typeface="Avenir Next"/>
              </a:defRPr>
            </a:pPr>
            <a:r>
              <a:t>—  Full integration of the default-deny policy engine (server/policy/).</a:t>
            </a:r>
          </a:p>
          <a:p>
            <a:pPr>
              <a:lnSpc>
                <a:spcPct val="118000"/>
              </a:lnSpc>
              <a:spcAft>
                <a:spcPts val="800"/>
              </a:spcAft>
              <a:defRPr sz="1250">
                <a:solidFill>
                  <a:srgbClr val="3F5D3A"/>
                </a:solidFill>
                <a:latin typeface="Avenir Next"/>
              </a:defRPr>
            </a:pPr>
            <a:r>
              <a:t>—  Elevating American Express cardmember trust through uncompromising proactive service.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