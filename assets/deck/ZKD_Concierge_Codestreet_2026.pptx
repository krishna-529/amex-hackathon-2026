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7"/>
    <p:sldId id="262" r:id="rId8"/>
    <p:sldId id="264" r:id="rId10"/>
    <p:sldId id="265" r:id="rId11"/>
    <p:sldId id="267" r:id="rId13"/>
    <p:sldId id="268" r:id="rId19"/>
    <p:sldId id="269" r:id="rId20"/>
    <p:sldId id="270" r:id="rId12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12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0.xml"/><Relationship Id="rId20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Relationship Id="rId7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Relationship Id="rId9" Type="http://schemas.openxmlformats.org/officeDocument/2006/relationships/image" Target="../media/image-6-2.png"/><Relationship Id="rId10" Type="http://schemas.openxmlformats.org/officeDocument/2006/relationships/image" Target="../media/image-7-1.png"/><Relationship Id="rId11" Type="http://schemas.openxmlformats.org/officeDocument/2006/relationships/image" Target="../media/image-12-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5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6" Type="http://schemas.openxmlformats.org/officeDocument/2006/relationships/image" Target="../media/image-3-1.png"/><Relationship Id="rId7" Type="http://schemas.openxmlformats.org/officeDocument/2006/relationships/image" Target="../media/image-3-6.png"/><Relationship Id="rId8" Type="http://schemas.openxmlformats.org/officeDocument/2006/relationships/image" Target="../media/image-3-2.png"/><Relationship Id="rId9" Type="http://schemas.openxmlformats.org/officeDocument/2006/relationships/image" Target="../media/image-8-2.png"/><Relationship Id="rId10" Type="http://schemas.openxmlformats.org/officeDocument/2006/relationships/image" Target="../media/image-9-5.png"/><Relationship Id="rId11" Type="http://schemas.openxmlformats.org/officeDocument/2006/relationships/image" Target="../media/image-9-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Relationship Id="rId7" Type="http://schemas.openxmlformats.org/officeDocument/2006/relationships/image" Target="../media/image-3-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Relationship Id="rId9" Type="http://schemas.openxmlformats.org/officeDocument/2006/relationships/image" Target="../media/image-3-6.png"/><Relationship Id="rId10" Type="http://schemas.openxmlformats.org/officeDocument/2006/relationships/image" Target="../media/image-12-6.png"/><Relationship Id="rId11" Type="http://schemas.openxmlformats.org/officeDocument/2006/relationships/image" Target="../media/image-8-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Relationship Id="rId9" Type="http://schemas.openxmlformats.org/officeDocument/2006/relationships/image" Target="../media/image-3-5.png"/><Relationship Id="rId10" Type="http://schemas.openxmlformats.org/officeDocument/2006/relationships/image" Target="../media/image-3-3.png"/><Relationship Id="rId11" Type="http://schemas.openxmlformats.org/officeDocument/2006/relationships/image" Target="../media/image-12-3.png"/><Relationship Id="rId12" Type="http://schemas.openxmlformats.org/officeDocument/2006/relationships/image" Target="../media/image-2-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image" Target="../media/image-9-6.png"/><Relationship Id="rId3" Type="http://schemas.openxmlformats.org/officeDocument/2006/relationships/image" Target="../media/image-8-2.png"/><Relationship Id="rId4" Type="http://schemas.openxmlformats.org/officeDocument/2006/relationships/image" Target="../media/image-12-3.png"/><Relationship Id="rId5" Type="http://schemas.openxmlformats.org/officeDocument/2006/relationships/image" Target="../media/image-11-4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3.png"/><Relationship Id="rId2" Type="http://schemas.openxmlformats.org/officeDocument/2006/relationships/image" Target="../media/image-9-1.png"/><Relationship Id="rId3" Type="http://schemas.openxmlformats.org/officeDocument/2006/relationships/image" Target="../media/image-11-2.png"/><Relationship Id="rId4" Type="http://schemas.openxmlformats.org/officeDocument/2006/relationships/image" Target="../media/image-6-1.png"/><Relationship Id="rId5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7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00E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881360" y="-274320"/>
            <a:ext cx="2743200" cy="2743200"/>
          </a:xfrm>
          <a:prstGeom prst="ellipse">
            <a:avLst/>
          </a:prstGeom>
          <a:solidFill>
            <a:srgbClr val="0B2160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5486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EXPRESS CODESTREET 2026   ·   IIT MADRAS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14173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ZKD Concierge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242316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Travel-Disruption Concierge for Indian Domestic &amp; International Aviation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" y="3310128"/>
            <a:ext cx="5486400" cy="0"/>
          </a:xfrm>
          <a:prstGeom prst="line">
            <a:avLst/>
          </a:prstGeom>
          <a:noFill/>
          <a:ln w="12700">
            <a:solidFill>
              <a:srgbClr val="2E459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3474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521708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0B2160"/>
          </a:solidFill>
          <a:ln w="12700">
            <a:solidFill>
              <a:srgbClr val="2E4590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77824" y="4809744"/>
            <a:ext cx="658368" cy="658368"/>
          </a:xfrm>
          <a:prstGeom prst="ellipse">
            <a:avLst/>
          </a:prstGeom>
          <a:solidFill>
            <a:srgbClr val="00A9E0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3" name="Image 0" descr="icons/radar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412" y="4895332"/>
            <a:ext cx="487192" cy="48719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645920" y="47777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Detection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1645920" y="5116068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issues instantly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142232" y="4521708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0B2160"/>
          </a:solidFill>
          <a:ln w="12700">
            <a:solidFill>
              <a:srgbClr val="2E4590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4379976" y="4809744"/>
            <a:ext cx="658368" cy="658368"/>
          </a:xfrm>
          <a:prstGeom prst="ellipse">
            <a:avLst/>
          </a:prstGeom>
          <a:solidFill>
            <a:srgbClr val="00A9E0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8" name="Image 1" descr="icons/route_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5564" y="4895332"/>
            <a:ext cx="487192" cy="48719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148072" y="47777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Hold-First Rebooking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5148072" y="5116068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committed until you say go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7644384" y="4521708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0B2160"/>
          </a:solidFill>
          <a:ln w="12700">
            <a:solidFill>
              <a:srgbClr val="2E4590"/>
            </a:solidFill>
            <a:prstDash val="solid"/>
          </a:ln>
        </p:spPr>
        <p:txBody>
          <a:bodyPr/>
          <a:p/>
        </p:txBody>
      </p:sp>
      <p:sp>
        <p:nvSpPr>
          <p:cNvPr id="22" name="Shape 18"/>
          <p:cNvSpPr/>
          <p:nvPr/>
        </p:nvSpPr>
        <p:spPr>
          <a:xfrm>
            <a:off x="7882128" y="4809744"/>
            <a:ext cx="658368" cy="658368"/>
          </a:xfrm>
          <a:prstGeom prst="ellipse">
            <a:avLst/>
          </a:prstGeom>
          <a:solidFill>
            <a:srgbClr val="00A9E0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23" name="Image 2" descr="icons/check_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7716" y="4895332"/>
            <a:ext cx="487192" cy="487192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650224" y="47777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Consent-First Booking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8650224" y="5116068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before booking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548640" y="652881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ZKD Concierge  ·  Team ZKD, IIT Madras  ·  Amex Codestreet 2026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30" name="TextBox 29"/>
          <p:cNvSpPr txBox="1"/>
          <p:nvPr/>
        </p:nvSpPr>
        <p:spPr>
          <a:xfrm>
            <a:off x="585216" y="5815584"/>
            <a:ext cx="8686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9FB4E0"/>
                </a:solidFill>
                <a:latin typeface="Calibri"/>
              </a:rPr>
              <a:t>Trained on 7.89M real flights   ·   4 independent detection channels   ·   10-factor ranking model   ·   0.804 ROC-AUC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00A9E0"/>
                </a:solidFill>
                <a:latin typeface="Calibri"/>
              </a:rPr>
              <a:t>THE MEMBER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500" b="1" i="0">
                <a:solidFill>
                  <a:srgbClr val="00175A"/>
                </a:solidFill>
                <a:latin typeface="Cambria"/>
              </a:rPr>
              <a:t>Priya's Flight Was Cancelled. She Never Had To Deal With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6B7280"/>
                </a:solidFill>
                <a:latin typeface="Calibri"/>
              </a:rPr>
              <a:t>One real recovery, from the member's side of the screen — not the ops dashboard.</a:t>
            </a:r>
          </a:p>
        </p:txBody>
      </p:sp>
      <p:pic>
        <p:nvPicPr>
          <p:cNvPr id="5" name="Picture 4" descr="priya_comi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1691640"/>
            <a:ext cx="6903720" cy="376872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30352" y="1673352"/>
            <a:ext cx="6940296" cy="38053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iya_comi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1691640"/>
            <a:ext cx="6903720" cy="376872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63256" y="1691640"/>
            <a:ext cx="3941064" cy="713232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72984" y="179222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00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860" b="1" i="0">
                <a:solidFill>
                  <a:srgbClr val="FFFFFF"/>
                </a:solidFill>
                <a:latin typeface="Calibri"/>
              </a:rPr>
              <a:t>11:00 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72984" y="2075688"/>
            <a:ext cx="37216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6B7280"/>
                </a:solidFill>
                <a:latin typeface="Calibri"/>
              </a:rPr>
              <a:t>Deep in a pitch deadline. Phone face-down.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63256" y="2496312"/>
            <a:ext cx="3941064" cy="713232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872984" y="259689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00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860" b="1" i="0">
                <a:solidFill>
                  <a:srgbClr val="FFFFFF"/>
                </a:solidFill>
                <a:latin typeface="Calibri"/>
              </a:rPr>
              <a:t>12:00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2984" y="2880360"/>
            <a:ext cx="37216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6B7280"/>
                </a:solidFill>
                <a:latin typeface="Calibri"/>
              </a:rPr>
              <a:t>Her BOM flight is cancelled. She has no idea yet — the system already does.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63256" y="3300984"/>
            <a:ext cx="3941064" cy="713232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872984" y="34015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00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860" b="1" i="0">
                <a:solidFill>
                  <a:srgbClr val="FFFFFF"/>
                </a:solidFill>
                <a:latin typeface="Calibri"/>
              </a:rPr>
              <a:t>2:00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72984" y="3685032"/>
            <a:ext cx="37216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6B7280"/>
                </a:solidFill>
                <a:latin typeface="Calibri"/>
              </a:rPr>
              <a:t>She finally checks her phone: already rebooked, AI-202, 8:45 PM.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63256" y="4105656"/>
            <a:ext cx="3941064" cy="713232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872984" y="42062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00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860" b="1" i="0">
                <a:solidFill>
                  <a:srgbClr val="FFFFFF"/>
                </a:solidFill>
                <a:latin typeface="Calibri"/>
              </a:rPr>
              <a:t>At the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4" y="4489704"/>
            <a:ext cx="37216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60" b="0" i="0">
                <a:solidFill>
                  <a:srgbClr val="6B7280"/>
                </a:solidFill>
                <a:latin typeface="Calibri"/>
              </a:rPr>
              <a:t>Boards without one call, one hold, or one scramble.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643249"/>
            <a:ext cx="6903720" cy="475488"/>
          </a:xfrm>
          <a:prstGeom prst="roundRect">
            <a:avLst>
              <a:gd name="adj" fmla="val 5000"/>
            </a:avLst>
          </a:prstGeom>
          <a:solidFill>
            <a:srgbClr val="00175A"/>
          </a:solidFill>
          <a:ln>
            <a:noFill/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5643249"/>
            <a:ext cx="6464808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0 calls made  ·  3 hrs elapsed unnoticed  ·  1 new boarding pass, already waiting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28816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ZKD Concierge  ·  Team ZKD, IIT Madras  ·  Amex Codestreet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A9E0"/>
                </a:solidFill>
                <a:latin typeface="Calibri"/>
              </a:rPr>
              <a:t>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0175A"/>
                </a:solidFill>
                <a:latin typeface="Cambria"/>
              </a:rPr>
              <a:t>How Recovery Happens, 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25296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B7280"/>
                </a:solidFill>
                <a:latin typeface="Calibri"/>
              </a:rPr>
              <a:t>Four coordinated stages carry every disruption from the first signal to a booked, confirmed recovery — and every outcome makes the next decision smarter.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49824" cy="1481328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22376" y="1773936"/>
            <a:ext cx="566928" cy="566928"/>
          </a:xfrm>
          <a:prstGeom prst="ellipse">
            <a:avLst/>
          </a:prstGeom>
          <a:solidFill>
            <a:srgbClr val="00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084" y="1864644"/>
            <a:ext cx="385511" cy="3855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08176" y="1837944"/>
            <a:ext cx="444398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0175A"/>
                </a:solidFill>
                <a:latin typeface="Calibri"/>
              </a:rPr>
              <a:t>1 · Detection, Corroboration &amp; Notification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423160"/>
            <a:ext cx="4864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Push webhook, 5-min poll sweep &amp; corroborated member reports converge on one confirmed signal, then a 4-rung consent ladder notifies everyone.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1600200"/>
            <a:ext cx="5449824" cy="1481328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773936"/>
            <a:ext cx="566928" cy="566928"/>
          </a:xfrm>
          <a:prstGeom prst="ellipse">
            <a:avLst/>
          </a:prstGeom>
          <a:solidFill>
            <a:srgbClr val="00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8940" y="1864644"/>
            <a:ext cx="385511" cy="3855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14032" y="1837944"/>
            <a:ext cx="444398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0175A"/>
                </a:solidFill>
                <a:latin typeface="Calibri"/>
              </a:rPr>
              <a:t>2 · Risk &amp; Environmental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23160"/>
            <a:ext cx="4864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A model trained on 7.89M real flights (ROC-AUC 0.804) blends live weather, airspace &amp; news to predict risk before it is confirmed.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19272"/>
            <a:ext cx="5449824" cy="1481328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" y="3493008"/>
            <a:ext cx="566928" cy="566928"/>
          </a:xfrm>
          <a:prstGeom prst="ellipse">
            <a:avLst/>
          </a:prstGeom>
          <a:solidFill>
            <a:srgbClr val="00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3084" y="3583716"/>
            <a:ext cx="385511" cy="38551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08176" y="3557016"/>
            <a:ext cx="444398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0175A"/>
                </a:solidFill>
                <a:latin typeface="Calibri"/>
              </a:rPr>
              <a:t>3 · Rebooking &amp; Planning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142232"/>
            <a:ext cx="4864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A 7-step hold-first pipeline ranks flight, hotel &amp; ground with a 10-factor learned model — nothing booked or spent yet.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4496" y="3319272"/>
            <a:ext cx="5449824" cy="1481328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493008"/>
            <a:ext cx="566928" cy="566928"/>
          </a:xfrm>
          <a:prstGeom prst="ellipse">
            <a:avLst/>
          </a:prstGeom>
          <a:solidFill>
            <a:srgbClr val="00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8940" y="3583716"/>
            <a:ext cx="385511" cy="38551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114032" y="3557016"/>
            <a:ext cx="444398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0175A"/>
                </a:solidFill>
                <a:latin typeface="Calibri"/>
              </a:rPr>
              <a:t>4 · Smart Ranking &amp; Continuous Learning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4142232"/>
            <a:ext cx="4864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A discrete-choice model retrains every 30 minutes from real outcomes, only promoted if it measurably beats what is live.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528816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ZKD Concierge  ·  Team ZKD, IIT Madras  ·  Amex Codestreet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1389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1" i="0">
                <a:solidFill>
                  <a:srgbClr val="00175A"/>
                </a:solidFill>
                <a:latin typeface="Calibri"/>
              </a:rPr>
              <a:t>WHY IT MATTERS — THE PROBLEM AT SCALE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394960"/>
            <a:ext cx="3608832" cy="749808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468112"/>
            <a:ext cx="3316224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00175A"/>
                </a:solidFill>
                <a:latin typeface="Cambria"/>
              </a:rPr>
              <a:t>9.5B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5779008"/>
            <a:ext cx="3316224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80" b="0" i="0">
                <a:solidFill>
                  <a:srgbClr val="6B7280"/>
                </a:solidFill>
                <a:latin typeface="Calibri"/>
              </a:rPr>
              <a:t>global air passenger trips in 2024 — 104% of 2019 volume (ACI World / ICAO)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2064" y="5394960"/>
            <a:ext cx="3608832" cy="749808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68368" y="5468112"/>
            <a:ext cx="3316224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00175A"/>
                </a:solidFill>
                <a:latin typeface="Cambria"/>
              </a:rPr>
              <a:t>1.4%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8368" y="5779008"/>
            <a:ext cx="3316224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80" b="0" i="0">
                <a:solidFill>
                  <a:srgbClr val="6B7280"/>
                </a:solidFill>
                <a:latin typeface="Calibri"/>
              </a:rPr>
              <a:t>of all US flights cancelled in 2024 — still tens of millions of disrupted itineraries a year (US DOT)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5488" y="5394960"/>
            <a:ext cx="3608832" cy="749808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41792" y="5468112"/>
            <a:ext cx="3316224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00175A"/>
                </a:solidFill>
                <a:latin typeface="Cambria"/>
              </a:rPr>
              <a:t>457 vs 16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1792" y="5779008"/>
            <a:ext cx="3316224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80" b="0" i="0">
                <a:solidFill>
                  <a:srgbClr val="6B7280"/>
                </a:solidFill>
                <a:latin typeface="Calibri"/>
              </a:rPr>
              <a:t>average delay for a disrupted passenger vs. an on-time one — the entire cost sits in that tail (US GAO)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00A9E0"/>
                </a:solidFill>
                <a:latin typeface="Calibri"/>
              </a:rPr>
              <a:t>STAGE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700" b="1" i="0">
                <a:solidFill>
                  <a:srgbClr val="00175A"/>
                </a:solidFill>
                <a:latin typeface="Cambria"/>
              </a:rPr>
              <a:t>Detection, Corroboration &amp; Notification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25296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6B7280"/>
                </a:solidFill>
                <a:latin typeface="Calibri"/>
              </a:rPr>
              <a:t>Three lanes race to one confirmed signal; a member claim is corroborated before it moves the whole flight; a four-rung ladder verifies awareness before any spend.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98280" y="402336"/>
            <a:ext cx="2606040" cy="256032"/>
          </a:xfrm>
          <a:prstGeom prst="roundRect">
            <a:avLst>
              <a:gd name="adj" fmla="val 50000"/>
            </a:avLst>
          </a:prstGeom>
          <a:solidFill>
            <a:srgbClr val="00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860" b="1" i="0">
                <a:solidFill>
                  <a:srgbClr val="FFFFFF"/>
                </a:solidFill>
                <a:latin typeface="Calibri"/>
              </a:rPr>
              <a:t>NO HUMAN IN THE CRITICAL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1" i="0">
                <a:solidFill>
                  <a:srgbClr val="00175A"/>
                </a:solidFill>
                <a:latin typeface="Calibri"/>
              </a:rPr>
              <a:t>DETECT — 3 lanes racing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55648"/>
            <a:ext cx="3572256" cy="914400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7512" y="1865376"/>
            <a:ext cx="384048" cy="384048"/>
          </a:xfrm>
          <a:prstGeom prst="ellipse">
            <a:avLst/>
          </a:prstGeom>
          <a:solidFill>
            <a:srgbClr val="00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960" y="1926824"/>
            <a:ext cx="261152" cy="2611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5568" y="1837944"/>
            <a:ext cx="2886456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1" i="0">
                <a:solidFill>
                  <a:srgbClr val="00175A"/>
                </a:solidFill>
                <a:latin typeface="Calibri"/>
              </a:rPr>
              <a:t>Push / Webhook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176272"/>
            <a:ext cx="3297936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60" b="0" i="0">
                <a:solidFill>
                  <a:srgbClr val="6B7280"/>
                </a:solidFill>
                <a:latin typeface="Calibri"/>
              </a:rPr>
              <a:t>Fastest lane; per-flight subscription. Marked unhealthy after 6 hrs of silence — silence is treated as a fault, not good news.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0352" y="1755648"/>
            <a:ext cx="3572256" cy="914400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59224" y="1865376"/>
            <a:ext cx="384048" cy="384048"/>
          </a:xfrm>
          <a:prstGeom prst="ellipse">
            <a:avLst/>
          </a:prstGeom>
          <a:solidFill>
            <a:srgbClr val="00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20672" y="1926824"/>
            <a:ext cx="261152" cy="2611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07280" y="1837944"/>
            <a:ext cx="2886456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1" i="0">
                <a:solidFill>
                  <a:srgbClr val="00175A"/>
                </a:solidFill>
                <a:latin typeface="Calibri"/>
              </a:rPr>
              <a:t>Poll Sweep (backstop)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6656" y="2176272"/>
            <a:ext cx="3297936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60" b="0" i="0">
                <a:solidFill>
                  <a:srgbClr val="6B7280"/>
                </a:solidFill>
                <a:latin typeface="Calibri"/>
              </a:rPr>
              <a:t>Runs every 5 minutes over the active window. Catches a push the webhook silently dropped — recovers what a change-feed cannot.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2064" y="1755648"/>
            <a:ext cx="3572256" cy="914400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0936" y="1865376"/>
            <a:ext cx="384048" cy="384048"/>
          </a:xfrm>
          <a:prstGeom prst="ellipse">
            <a:avLst/>
          </a:prstGeom>
          <a:solidFill>
            <a:srgbClr val="00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12384" y="1926824"/>
            <a:ext cx="261152" cy="2611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698992" y="1837944"/>
            <a:ext cx="2886456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1" i="0">
                <a:solidFill>
                  <a:srgbClr val="00175A"/>
                </a:solidFill>
                <a:latin typeface="Calibri"/>
              </a:rPr>
              <a:t>Member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8368" y="2176272"/>
            <a:ext cx="3297936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60" b="0" i="0">
                <a:solidFill>
                  <a:srgbClr val="6B7280"/>
                </a:solidFill>
                <a:latin typeface="Calibri"/>
              </a:rPr>
              <a:t>A claim, not an event: corroborated by 3 reports, an ops mark, or a stored cancel flag — else one live provider poll settles it.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270760" y="2715768"/>
            <a:ext cx="0" cy="164592"/>
          </a:xfrm>
          <a:prstGeom prst="line">
            <a:avLst/>
          </a:prstGeom>
          <a:ln w="19050">
            <a:solidFill>
              <a:srgbClr val="00A9E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062472" y="2715768"/>
            <a:ext cx="0" cy="164592"/>
          </a:xfrm>
          <a:prstGeom prst="line">
            <a:avLst/>
          </a:prstGeom>
          <a:ln w="19050">
            <a:solidFill>
              <a:srgbClr val="00A9E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854184" y="2715768"/>
            <a:ext cx="0" cy="164592"/>
          </a:xfrm>
          <a:prstGeom prst="line">
            <a:avLst/>
          </a:prstGeom>
          <a:ln w="19050">
            <a:solidFill>
              <a:srgbClr val="00A9E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48640" y="2916936"/>
            <a:ext cx="11155680" cy="512064"/>
          </a:xfrm>
          <a:prstGeom prst="roundRect">
            <a:avLst>
              <a:gd name="adj" fmla="val 5000"/>
            </a:avLst>
          </a:prstGeom>
          <a:solidFill>
            <a:srgbClr val="00175A"/>
          </a:solidFill>
          <a:ln>
            <a:noFill/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2980944"/>
            <a:ext cx="1064361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1" i="0">
                <a:solidFill>
                  <a:srgbClr val="00A9E0"/>
                </a:solidFill>
                <a:latin typeface="Calibri"/>
              </a:rPr>
              <a:t>CONFIRMED  </a:t>
            </a:r>
            <a:r>
              <a:rPr sz="1050" b="0" i="0">
                <a:solidFill>
                  <a:srgbClr val="FFFFFF"/>
                </a:solidFill>
                <a:latin typeface="Calibri"/>
              </a:rPr>
              <a:t>detectDisruption(flightId) — idempotent, autonomous: first lane to report wins, every later report is a no-op.</a:t>
            </a:r>
          </a:p>
          <a:p>
            <a:pPr algn="l"/>
            <a:r>
              <a:rPr sz="869" b="0" i="0">
                <a:solidFill>
                  <a:srgbClr val="C9D6F2"/>
                </a:solidFill>
                <a:latin typeface="Calibri"/>
              </a:rPr>
              <a:t>Corroboration settles cheapest-evidence-first: an ops mark, 3 member reports, or a stored cancel flag — all free and instant; otherwise one live provider poll decides. No approval required.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126480" y="3474720"/>
            <a:ext cx="0" cy="146304"/>
          </a:xfrm>
          <a:prstGeom prst="line">
            <a:avLst/>
          </a:prstGeom>
          <a:ln w="19050">
            <a:solidFill>
              <a:srgbClr val="00A9E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3657600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1" i="0">
                <a:solidFill>
                  <a:srgbClr val="00175A"/>
                </a:solidFill>
                <a:latin typeface="Calibri"/>
              </a:rPr>
              <a:t>NOTIFY — fan-out to every passenger on the flight, 4-rung consent ladder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895344"/>
            <a:ext cx="2665476" cy="566928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3986784"/>
            <a:ext cx="265176" cy="26517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42416" y="3950208"/>
            <a:ext cx="20528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30" b="1" i="0">
                <a:solidFill>
                  <a:srgbClr val="00175A"/>
                </a:solidFill>
                <a:latin typeface="Calibri"/>
              </a:rPr>
              <a:t>Rung 1 · Risk Crossed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" y="4279392"/>
            <a:ext cx="242773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60" b="0" i="0">
                <a:solidFill>
                  <a:srgbClr val="6B7280"/>
                </a:solidFill>
                <a:latin typeface="Calibri"/>
              </a:rPr>
              <a:t>Alerted as risk crosses a warning band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232404" y="4178808"/>
            <a:ext cx="128016" cy="0"/>
          </a:xfrm>
          <a:prstGeom prst="line">
            <a:avLst/>
          </a:prstGeom>
          <a:ln w="15875">
            <a:solidFill>
              <a:srgbClr val="D7DEE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378708" y="3895344"/>
            <a:ext cx="2665476" cy="566928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06724" y="3986784"/>
            <a:ext cx="265176" cy="26517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3872484" y="3950208"/>
            <a:ext cx="20528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30" b="1" i="0">
                <a:solidFill>
                  <a:srgbClr val="00175A"/>
                </a:solidFill>
                <a:latin typeface="Calibri"/>
              </a:rPr>
              <a:t>Rung 2 · Cancelled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6724" y="4279392"/>
            <a:ext cx="242773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60" b="0" i="0">
                <a:solidFill>
                  <a:srgbClr val="6B7280"/>
                </a:solidFill>
                <a:latin typeface="Calibri"/>
              </a:rPr>
              <a:t>Immediate confirmed-cancellation notice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62472" y="4178808"/>
            <a:ext cx="128016" cy="0"/>
          </a:xfrm>
          <a:prstGeom prst="line">
            <a:avLst/>
          </a:prstGeom>
          <a:ln w="15875">
            <a:solidFill>
              <a:srgbClr val="D7DEE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208776" y="3895344"/>
            <a:ext cx="2665476" cy="566928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36792" y="3986784"/>
            <a:ext cx="265176" cy="26517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02552" y="3950208"/>
            <a:ext cx="20528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30" b="1" i="0">
                <a:solidFill>
                  <a:srgbClr val="00175A"/>
                </a:solidFill>
                <a:latin typeface="Calibri"/>
              </a:rPr>
              <a:t>Rung 3 · Pending Spend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6792" y="4279392"/>
            <a:ext cx="242773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60" b="0" i="0">
                <a:solidFill>
                  <a:srgbClr val="6B7280"/>
                </a:solidFill>
                <a:latin typeface="Calibri"/>
              </a:rPr>
              <a:t>Exact amount + countdown to cancel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892540" y="4178808"/>
            <a:ext cx="128016" cy="0"/>
          </a:xfrm>
          <a:prstGeom prst="line">
            <a:avLst/>
          </a:prstGeom>
          <a:ln w="15875">
            <a:solidFill>
              <a:srgbClr val="D7DEE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9038844" y="3895344"/>
            <a:ext cx="2665476" cy="566928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66860" y="3986784"/>
            <a:ext cx="265176" cy="265176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532620" y="3950208"/>
            <a:ext cx="20528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30" b="1" i="0">
                <a:solidFill>
                  <a:srgbClr val="00175A"/>
                </a:solidFill>
                <a:latin typeface="Calibri"/>
              </a:rPr>
              <a:t>Rung 4 · Booked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6860" y="4279392"/>
            <a:ext cx="242773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60" b="0" i="0">
                <a:solidFill>
                  <a:srgbClr val="6B7280"/>
                </a:solidFill>
                <a:latin typeface="Calibri"/>
              </a:rPr>
              <a:t>Final itinerary &amp; ticket confirmation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4544568"/>
            <a:ext cx="8823960" cy="475488"/>
          </a:xfrm>
          <a:prstGeom prst="roundRect">
            <a:avLst>
              <a:gd name="adj" fmla="val 5000"/>
            </a:avLst>
          </a:prstGeom>
          <a:solidFill>
            <a:srgbClr val="FBF3E2"/>
          </a:solidFill>
          <a:ln w="12700">
            <a:solidFill>
              <a:srgbClr val="EFDD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9808" y="4544568"/>
            <a:ext cx="84582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40" b="1" i="0">
                <a:solidFill>
                  <a:srgbClr val="8A5A00"/>
                </a:solidFill>
                <a:latin typeface="Calibri"/>
              </a:rPr>
              <a:t>Delivery-verified safety net  </a:t>
            </a:r>
          </a:p>
          <a:p>
            <a:pPr algn="l"/>
            <a:r>
              <a:rPr sz="869" b="0" i="0">
                <a:solidFill>
                  <a:srgbClr val="6B521E"/>
                </a:solidFill>
                <a:latin typeface="Calibri"/>
              </a:rPr>
              <a:t>Waits for confirmed delivery of the pending-spend alert, retries once. The system never books blind.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390888" y="4782312"/>
            <a:ext cx="283464" cy="0"/>
          </a:xfrm>
          <a:prstGeom prst="line">
            <a:avLst/>
          </a:prstGeom>
          <a:ln w="19050">
            <a:solidFill>
              <a:srgbClr val="B03A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9692640" y="4544568"/>
            <a:ext cx="2011680" cy="475488"/>
          </a:xfrm>
          <a:prstGeom prst="roundRect">
            <a:avLst>
              <a:gd name="adj" fmla="val 5000"/>
            </a:avLst>
          </a:prstGeom>
          <a:solidFill>
            <a:srgbClr val="FBECEC"/>
          </a:solidFill>
          <a:ln w="12700">
            <a:solidFill>
              <a:srgbClr val="B0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820656" y="4544568"/>
            <a:ext cx="1792224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30" b="1" i="0">
                <a:solidFill>
                  <a:srgbClr val="B03A3A"/>
                </a:solidFill>
                <a:latin typeface="Calibri"/>
              </a:rPr>
              <a:t>⚠ ESCALATE</a:t>
            </a:r>
          </a:p>
          <a:p>
            <a:pPr algn="l"/>
            <a:r>
              <a:rPr sz="740" b="0" i="0">
                <a:solidFill>
                  <a:srgbClr val="8A3030"/>
                </a:solidFill>
                <a:latin typeface="Calibri"/>
              </a:rPr>
              <a:t>Human handoff — only if delivery can’t be confirmed at all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" y="5138928"/>
            <a:ext cx="2665476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6656" y="5184648"/>
            <a:ext cx="240944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00A9E0"/>
                </a:solidFill>
                <a:latin typeface="Cambria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" y="5449824"/>
            <a:ext cx="2409444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730" b="0" i="0">
                <a:solidFill>
                  <a:srgbClr val="6B7280"/>
                </a:solidFill>
                <a:latin typeface="Calibri"/>
              </a:rPr>
              <a:t>detection channels — push, poll, member report, manual override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378708" y="5138928"/>
            <a:ext cx="2665476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06724" y="5184648"/>
            <a:ext cx="240944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00A9E0"/>
                </a:solidFill>
                <a:latin typeface="Cambria"/>
              </a:rPr>
              <a:t>5 min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06724" y="5449824"/>
            <a:ext cx="2409444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730" b="0" i="0">
                <a:solidFill>
                  <a:srgbClr val="6B7280"/>
                </a:solidFill>
                <a:latin typeface="Calibri"/>
              </a:rPr>
              <a:t>poll-sweep cadence, the reconciliation backstop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08776" y="5138928"/>
            <a:ext cx="2665476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36792" y="5184648"/>
            <a:ext cx="240944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00A9E0"/>
                </a:solidFill>
                <a:latin typeface="Cambria"/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36792" y="5449824"/>
            <a:ext cx="2409444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730" b="0" i="0">
                <a:solidFill>
                  <a:srgbClr val="6B7280"/>
                </a:solidFill>
                <a:latin typeface="Calibri"/>
              </a:rPr>
              <a:t>independent reports = free corroboration threshold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038844" y="5138928"/>
            <a:ext cx="2665476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66860" y="5184648"/>
            <a:ext cx="240944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00A9E0"/>
                </a:solidFill>
                <a:latin typeface="Cambria"/>
              </a:rPr>
              <a:t>Local-only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66860" y="5449824"/>
            <a:ext cx="2409444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730" b="0" i="0">
                <a:solidFill>
                  <a:srgbClr val="6B7280"/>
                </a:solidFill>
                <a:latin typeface="Calibri"/>
              </a:rPr>
              <a:t>Flutter push today — fires while app is open; FCM token path to the backend is not yet wired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6528816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ZKD Concierge  ·  Team ZKD, IIT Madras  ·  Amex Codestreet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A9E0"/>
                </a:solidFill>
                <a:latin typeface="Calibri"/>
              </a:rPr>
              <a:t>STAGE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00175A"/>
                </a:solidFill>
                <a:latin typeface="Cambria"/>
              </a:rPr>
              <a:t>Risk Prediction &amp; Environmental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25296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B7280"/>
                </a:solidFill>
                <a:latin typeface="Calibri"/>
              </a:rPr>
              <a:t>A gradient-boosted model trained on 7.89M real historical flights blends with live weather, airspace &amp; news signals to move ZKD from reactive to proactive.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665476" cy="786384"/>
          </a:xfrm>
          <a:prstGeom prst="roundRect">
            <a:avLst>
              <a:gd name="adj" fmla="val 5000"/>
            </a:avLst>
          </a:prstGeom>
          <a:solidFill>
            <a:srgbClr val="00175A"/>
          </a:solidFill>
          <a:ln>
            <a:noFill/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536192"/>
            <a:ext cx="23728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0A9E0"/>
                </a:solidFill>
                <a:latin typeface="Cambria"/>
              </a:rPr>
              <a:t>7.89M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865376"/>
            <a:ext cx="23728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 i="0">
                <a:solidFill>
                  <a:srgbClr val="C9D6F2"/>
                </a:solidFill>
                <a:latin typeface="Calibri"/>
              </a:rPr>
              <a:t>real historical flights trained on — 7.08M US DOT/BTS + 0.81M Brazil ANAC rows. Zero synthetic rows in the training table.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8708" y="1463040"/>
            <a:ext cx="2665476" cy="786384"/>
          </a:xfrm>
          <a:prstGeom prst="roundRect">
            <a:avLst>
              <a:gd name="adj" fmla="val 5000"/>
            </a:avLst>
          </a:prstGeom>
          <a:solidFill>
            <a:srgbClr val="00175A"/>
          </a:solidFill>
          <a:ln>
            <a:noFill/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5012" y="1536192"/>
            <a:ext cx="23728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0A9E0"/>
                </a:solidFill>
                <a:latin typeface="Cambria"/>
              </a:rPr>
              <a:t>0.804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5012" y="1865376"/>
            <a:ext cx="23728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 i="0">
                <a:solidFill>
                  <a:srgbClr val="C9D6F2"/>
                </a:solidFill>
                <a:latin typeface="Calibri"/>
              </a:rPr>
              <a:t>ROC-AUC — discrimination, not accuracy: odds a random cancelled flight is scored riskier than one that flew.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8776" y="1463040"/>
            <a:ext cx="2665476" cy="786384"/>
          </a:xfrm>
          <a:prstGeom prst="roundRect">
            <a:avLst>
              <a:gd name="adj" fmla="val 5000"/>
            </a:avLst>
          </a:prstGeom>
          <a:solidFill>
            <a:srgbClr val="00175A"/>
          </a:solidFill>
          <a:ln>
            <a:noFill/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36192"/>
            <a:ext cx="23728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0A9E0"/>
                </a:solidFill>
                <a:latin typeface="Cambria"/>
              </a:rPr>
              <a:t>0.123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865376"/>
            <a:ext cx="23728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 i="0">
                <a:solidFill>
                  <a:srgbClr val="C9D6F2"/>
                </a:solidFill>
                <a:latin typeface="Calibri"/>
              </a:rPr>
              <a:t>PR-AUC — precision/recall at a ~1% real cancellation base rate, where AUC alone flatters a rare event. ~12x the base rate.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38844" y="1463040"/>
            <a:ext cx="2665476" cy="786384"/>
          </a:xfrm>
          <a:prstGeom prst="roundRect">
            <a:avLst>
              <a:gd name="adj" fmla="val 5000"/>
            </a:avLst>
          </a:prstGeom>
          <a:solidFill>
            <a:srgbClr val="00175A"/>
          </a:solidFill>
          <a:ln>
            <a:noFill/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5148" y="1536192"/>
            <a:ext cx="23728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0A9E0"/>
                </a:solidFill>
                <a:latin typeface="Cambria"/>
              </a:rPr>
              <a:t>5.25x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5148" y="1865376"/>
            <a:ext cx="23728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 i="0">
                <a:solidFill>
                  <a:srgbClr val="C9D6F2"/>
                </a:solidFill>
                <a:latin typeface="Calibri"/>
              </a:rPr>
              <a:t>lift — flights in the riskiest 10% cancel 5.25x more often than the overall base rate.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1401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175A"/>
                </a:solidFill>
                <a:latin typeface="Calibri"/>
              </a:rPr>
              <a:t>LIVE ENVIRONMENTAL SIGNALS feeding the ranking of alternatives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670048"/>
            <a:ext cx="3608832" cy="676656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8368" y="2825496"/>
            <a:ext cx="365760" cy="365760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890" y="2884018"/>
            <a:ext cx="248716" cy="24871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78992" y="2761488"/>
            <a:ext cx="29504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175A"/>
                </a:solidFill>
                <a:latin typeface="Calibri"/>
              </a:rPr>
              <a:t>Live Weather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2999232"/>
            <a:ext cx="295046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 i="0">
                <a:solidFill>
                  <a:srgbClr val="6B7280"/>
                </a:solidFill>
                <a:latin typeface="Calibri"/>
              </a:rPr>
              <a:t>Real ceiling, visibility &amp; wind by airport — live, keyless, no cost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2064" y="2670048"/>
            <a:ext cx="3608832" cy="676656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31792" y="2825496"/>
            <a:ext cx="365760" cy="365760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314" y="2884018"/>
            <a:ext cx="248716" cy="24871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852416" y="2761488"/>
            <a:ext cx="29504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175A"/>
                </a:solidFill>
                <a:latin typeface="Calibri"/>
              </a:rPr>
              <a:t>Airspace Alerts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52416" y="2999232"/>
            <a:ext cx="295046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 i="0">
                <a:solidFill>
                  <a:srgbClr val="6B7280"/>
                </a:solidFill>
                <a:latin typeface="Calibri"/>
              </a:rPr>
              <a:t>Restriction/advisory feed — real integration, one-country coverage today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5488" y="2670048"/>
            <a:ext cx="3608832" cy="676656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05216" y="2825496"/>
            <a:ext cx="365760" cy="365760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3738" y="2884018"/>
            <a:ext cx="248716" cy="24871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625840" y="2761488"/>
            <a:ext cx="29504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175A"/>
                </a:solidFill>
                <a:latin typeface="Calibri"/>
              </a:rPr>
              <a:t>World Events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25840" y="2999232"/>
            <a:ext cx="295046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 i="0">
                <a:solidFill>
                  <a:srgbClr val="6B7280"/>
                </a:solidFill>
                <a:latin typeface="Calibri"/>
              </a:rPr>
              <a:t>Global news scan for unrest/strikes near the relevant airports — live, keyless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511296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175A"/>
                </a:solidFill>
                <a:latin typeface="Calibri"/>
              </a:rPr>
              <a:t>HOW A SCORE IS BUILT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3767328"/>
            <a:ext cx="2128723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0080" y="3849624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194584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0" i="0">
                <a:solidFill>
                  <a:srgbClr val="6B7280"/>
                </a:solidFill>
                <a:latin typeface="Calibri"/>
              </a:rPr>
              <a:t>Assemble features in the flight’s own local time (a naive UTC read skews 5.5 hrs for India)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2695651" y="4050792"/>
            <a:ext cx="91440" cy="0"/>
          </a:xfrm>
          <a:prstGeom prst="line">
            <a:avLst/>
          </a:prstGeom>
          <a:ln w="15875">
            <a:solidFill>
              <a:srgbClr val="D7DEE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2805379" y="3767328"/>
            <a:ext cx="2128723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96819" y="3849624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96819" y="4133088"/>
            <a:ext cx="194584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0" i="0">
                <a:solidFill>
                  <a:srgbClr val="6B7280"/>
                </a:solidFill>
                <a:latin typeface="Calibri"/>
              </a:rPr>
              <a:t>3-tier lookup per signal: real history → synthetic estimate → population average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952390" y="4050792"/>
            <a:ext cx="91440" cy="0"/>
          </a:xfrm>
          <a:prstGeom prst="line">
            <a:avLst/>
          </a:prstGeom>
          <a:ln w="15875">
            <a:solidFill>
              <a:srgbClr val="D7DEE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5062118" y="3767328"/>
            <a:ext cx="2128723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153558" y="3849624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53558" y="4133088"/>
            <a:ext cx="194584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0" i="0">
                <a:solidFill>
                  <a:srgbClr val="6B7280"/>
                </a:solidFill>
                <a:latin typeface="Calibri"/>
              </a:rPr>
              <a:t>Score + calibrate: gradient-boosted trees, in milliseconds — 8s/15s are abort ceilings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209129" y="4050792"/>
            <a:ext cx="91440" cy="0"/>
          </a:xfrm>
          <a:prstGeom prst="line">
            <a:avLst/>
          </a:prstGeom>
          <a:ln w="15875">
            <a:solidFill>
              <a:srgbClr val="D7DEE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7318857" y="3767328"/>
            <a:ext cx="2128723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410297" y="3849624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10297" y="4133088"/>
            <a:ext cx="194584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0" i="0">
                <a:solidFill>
                  <a:srgbClr val="6B7280"/>
                </a:solidFill>
                <a:latin typeface="Calibri"/>
              </a:rPr>
              <a:t>Adaptive thresholds: seat scarcity, time-to-departure &amp; confidence move 3 action bands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465868" y="4050792"/>
            <a:ext cx="91440" cy="0"/>
          </a:xfrm>
          <a:prstGeom prst="line">
            <a:avLst/>
          </a:prstGeom>
          <a:ln w="15875">
            <a:solidFill>
              <a:srgbClr val="D7DEE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9575596" y="3767328"/>
            <a:ext cx="2128723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667036" y="3849624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67036" y="4133088"/>
            <a:ext cx="194584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0" i="0">
                <a:solidFill>
                  <a:srgbClr val="6B7280"/>
                </a:solidFill>
                <a:latin typeface="Calibri"/>
              </a:rPr>
              <a:t>Alert, log to audit, and pre-cache alternatives once risk-percentile is high enough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" y="4480560"/>
            <a:ext cx="3608832" cy="457200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4944" y="4480560"/>
            <a:ext cx="331622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00175A"/>
                </a:solidFill>
                <a:latin typeface="Calibri"/>
              </a:rPr>
              <a:t>Critical · every 90s</a:t>
            </a:r>
          </a:p>
          <a:p>
            <a:pPr algn="l"/>
            <a:r>
              <a:rPr sz="780" b="0" i="0">
                <a:solidFill>
                  <a:srgbClr val="6B7280"/>
                </a:solidFill>
                <a:latin typeface="Calibri"/>
              </a:rPr>
              <a:t>at hold-gate/pre-authorise, or &lt;3 hrs to departure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22064" y="4480560"/>
            <a:ext cx="3608832" cy="457200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68368" y="4480560"/>
            <a:ext cx="331622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00175A"/>
                </a:solidFill>
                <a:latin typeface="Calibri"/>
              </a:rPr>
              <a:t>Standard · every 10 min</a:t>
            </a:r>
          </a:p>
          <a:p>
            <a:pPr algn="l"/>
            <a:r>
              <a:rPr sz="780" b="0" i="0">
                <a:solidFill>
                  <a:srgbClr val="6B7280"/>
                </a:solidFill>
                <a:latin typeface="Calibri"/>
              </a:rPr>
              <a:t>everything not critical or dormant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95488" y="4480560"/>
            <a:ext cx="3608832" cy="457200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41792" y="4480560"/>
            <a:ext cx="331622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00175A"/>
                </a:solidFill>
                <a:latin typeface="Calibri"/>
              </a:rPr>
              <a:t>Dormant · every 30 min</a:t>
            </a:r>
          </a:p>
          <a:p>
            <a:pPr algn="l"/>
            <a:r>
              <a:rPr sz="780" b="0" i="0">
                <a:solidFill>
                  <a:srgbClr val="6B7280"/>
                </a:solidFill>
                <a:latin typeface="Calibri"/>
              </a:rPr>
              <a:t>quiet and &gt;24 hrs from departure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5065776"/>
            <a:ext cx="11155680" cy="384048"/>
          </a:xfrm>
          <a:prstGeom prst="roundRect">
            <a:avLst>
              <a:gd name="adj" fmla="val 5000"/>
            </a:avLst>
          </a:prstGeom>
          <a:solidFill>
            <a:srgbClr val="F3F0FA"/>
          </a:solidFill>
          <a:ln w="12700">
            <a:solidFill>
              <a:srgbClr val="DDD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9808" y="5065776"/>
            <a:ext cx="1075334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30" b="1" i="0">
                <a:solidFill>
                  <a:srgbClr val="4B2E83"/>
                </a:solidFill>
                <a:latin typeface="Calibri"/>
              </a:rPr>
              <a:t>Honest cold-start  </a:t>
            </a:r>
            <a:r>
              <a:rPr sz="930" b="0" i="0">
                <a:solidFill>
                  <a:srgbClr val="5B4A78"/>
                </a:solidFill>
                <a:latin typeface="Calibri"/>
              </a:rPr>
              <a:t>No Indian per-flight dataset exists publicly — training rows are 100% US + Brazil. Every Indian flight is a real inference with population-average, honestly cold-started inputs, never a fabricated number.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6528816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ZKD Concierge  ·  Team ZKD, IIT Madras  ·  Amex Codestreet 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00A9E0"/>
                </a:solidFill>
                <a:latin typeface="Calibri"/>
              </a:rPr>
              <a:t>STAGE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400" b="1" i="0">
                <a:solidFill>
                  <a:srgbClr val="00175A"/>
                </a:solidFill>
                <a:latin typeface="Cambria"/>
              </a:rPr>
              <a:t>Rebooking &amp; Planning — Before Anything Is Booked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25296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6B7280"/>
                </a:solidFill>
                <a:latin typeface="Calibri"/>
              </a:rPr>
              <a:t>A hold-first engine ranks flight + hotel + ground with a real, self-learning discrete-choice model. Nothing is booked, held, or spent until the member says go.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98280" y="402336"/>
            <a:ext cx="2606040" cy="256032"/>
          </a:xfrm>
          <a:prstGeom prst="roundRect">
            <a:avLst>
              <a:gd name="adj" fmla="val 50000"/>
            </a:avLst>
          </a:prstGeom>
          <a:solidFill>
            <a:srgbClr val="00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860" b="1" i="0">
                <a:solidFill>
                  <a:srgbClr val="FFFFFF"/>
                </a:solidFill>
                <a:latin typeface="Calibri"/>
              </a:rPr>
              <a:t>NO HUMAN IN THE CRITICAL PATH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81328"/>
            <a:ext cx="3200400" cy="237744"/>
          </a:xfrm>
          <a:prstGeom prst="roundRect">
            <a:avLst>
              <a:gd name="adj" fmla="val 50000"/>
            </a:avLst>
          </a:prstGeom>
          <a:solidFill>
            <a:srgbClr val="D7D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1000" b="1" i="0">
                <a:solidFill>
                  <a:srgbClr val="00175A"/>
                </a:solidFill>
                <a:latin typeface="Calibri"/>
              </a:rPr>
              <a:t>INPUT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87368" y="1481328"/>
            <a:ext cx="4114800" cy="237744"/>
          </a:xfrm>
          <a:prstGeom prst="roundRect">
            <a:avLst>
              <a:gd name="adj" fmla="val 50000"/>
            </a:avLst>
          </a:prstGeom>
          <a:solidFill>
            <a:srgbClr val="00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PROCESSING — LEARNS &amp; RANKS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0496" y="1481328"/>
            <a:ext cx="3200400" cy="237744"/>
          </a:xfrm>
          <a:prstGeom prst="roundRect">
            <a:avLst>
              <a:gd name="adj" fmla="val 50000"/>
            </a:avLst>
          </a:prstGeom>
          <a:solidFill>
            <a:srgbClr val="D7D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1000" b="1" i="0">
                <a:solidFill>
                  <a:srgbClr val="00175A"/>
                </a:solidFill>
                <a:latin typeface="Calibri"/>
              </a:rPr>
              <a:t>OUTPUT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10512"/>
            <a:ext cx="3200400" cy="3063240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087368" y="1810512"/>
            <a:ext cx="4114800" cy="3063240"/>
          </a:xfrm>
          <a:prstGeom prst="roundRect">
            <a:avLst>
              <a:gd name="adj" fmla="val 5000"/>
            </a:avLst>
          </a:prstGeom>
          <a:solidFill>
            <a:srgbClr val="00175A"/>
          </a:solidFill>
          <a:ln>
            <a:noFill/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40496" y="1810512"/>
            <a:ext cx="3200400" cy="3063240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3767328" y="3241548"/>
            <a:ext cx="292608" cy="20116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8220456" y="3241548"/>
            <a:ext cx="292608" cy="20116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1901952"/>
            <a:ext cx="2944368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1965960"/>
            <a:ext cx="2779776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819" b="0" i="0">
                <a:solidFill>
                  <a:srgbClr val="6B7280"/>
                </a:solidFill>
                <a:latin typeface="Calibri"/>
              </a:rPr>
              <a:t>Disruption signal — 4 detection channels (push, poll, member report, manual)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6" y="2606040"/>
            <a:ext cx="2944368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670048"/>
            <a:ext cx="2779776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819" b="0" i="0">
                <a:solidFill>
                  <a:srgbClr val="6B7280"/>
                </a:solidFill>
                <a:latin typeface="Calibri"/>
              </a:rPr>
              <a:t>Live flight, hotel &amp; ground alternatives — searched fresh in parallel every time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656" y="3310128"/>
            <a:ext cx="2944368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374136"/>
            <a:ext cx="2779776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819" b="0" i="0">
                <a:solidFill>
                  <a:srgbClr val="6B7280"/>
                </a:solidFill>
                <a:latin typeface="Calibri"/>
              </a:rPr>
              <a:t>Live weather, airspace advisory &amp; news risk for the airports/carriers involved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" y="4014216"/>
            <a:ext cx="2944368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4078224"/>
            <a:ext cx="2779776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819" b="0" i="0">
                <a:solidFill>
                  <a:srgbClr val="6B7280"/>
                </a:solidFill>
                <a:latin typeface="Calibri"/>
              </a:rPr>
              <a:t>Member profile, preferences &amp; per-flight overrides — read fresh, never duplicated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33672" y="192024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1892808"/>
            <a:ext cx="3511296" cy="3611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19" b="1" i="0">
                <a:solidFill>
                  <a:srgbClr val="FFFFFF"/>
                </a:solidFill>
                <a:latin typeface="Calibri"/>
              </a:rPr>
              <a:t>Search  </a:t>
            </a:r>
            <a:r>
              <a:rPr sz="770" b="0" i="0">
                <a:solidFill>
                  <a:srgbClr val="C9D6F2"/>
                </a:solidFill>
                <a:latin typeface="Calibri"/>
              </a:rPr>
              <a:t>Live parallel search; builds its own connecting itineraries when direct is thin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33672" y="2318004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2290572"/>
            <a:ext cx="3511296" cy="3611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19" b="1" i="0">
                <a:solidFill>
                  <a:srgbClr val="FFFFFF"/>
                </a:solidFill>
                <a:latin typeface="Calibri"/>
              </a:rPr>
              <a:t>Filter (hard rules)  </a:t>
            </a:r>
            <a:r>
              <a:rPr sz="770" b="0" i="0">
                <a:solidFill>
                  <a:srgbClr val="C9D6F2"/>
                </a:solidFill>
                <a:latin typeface="Calibri"/>
              </a:rPr>
              <a:t>Disqualifies outright — blocked airline, missed deadline, split party, entitlement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33672" y="271576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2688336"/>
            <a:ext cx="3511296" cy="3611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19" b="1" i="0">
                <a:solidFill>
                  <a:srgbClr val="FFFFFF"/>
                </a:solidFill>
                <a:latin typeface="Calibri"/>
              </a:rPr>
              <a:t>Rank (10-factor model)  </a:t>
            </a:r>
            <a:r>
              <a:rPr sz="770" b="0" i="0">
                <a:solidFill>
                  <a:srgbClr val="C9D6F2"/>
                </a:solidFill>
                <a:latin typeface="Calibri"/>
              </a:rPr>
              <a:t>Real discrete-choice model — never ranks cheaper/earlier worse than costlier/slower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33672" y="311353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3086100"/>
            <a:ext cx="3511296" cy="3611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19" b="1" i="0">
                <a:solidFill>
                  <a:srgbClr val="FFFFFF"/>
                </a:solidFill>
                <a:latin typeface="Calibri"/>
              </a:rPr>
              <a:t>Overnight &amp; Ground  </a:t>
            </a:r>
            <a:r>
              <a:rPr sz="770" b="0" i="0">
                <a:solidFill>
                  <a:srgbClr val="C9D6F2"/>
                </a:solidFill>
                <a:latin typeface="Calibri"/>
              </a:rPr>
              <a:t>Hotel + ride added together, only if the gap genuinely spans overnight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33672" y="3511296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3483864"/>
            <a:ext cx="3511296" cy="3611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19" b="1" i="0">
                <a:solidFill>
                  <a:srgbClr val="FFFFFF"/>
                </a:solidFill>
                <a:latin typeface="Calibri"/>
              </a:rPr>
              <a:t>Hold — nothing spent  </a:t>
            </a:r>
            <a:r>
              <a:rPr sz="770" b="0" i="0">
                <a:solidFill>
                  <a:srgbClr val="C9D6F2"/>
                </a:solidFill>
                <a:latin typeface="Calibri"/>
              </a:rPr>
              <a:t>Plan is parked and kept fresh; nothing booked, held, or charged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33672" y="390906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3881628"/>
            <a:ext cx="3511296" cy="3611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19" b="1" i="0">
                <a:solidFill>
                  <a:srgbClr val="FFFFFF"/>
                </a:solidFill>
                <a:latin typeface="Calibri"/>
              </a:rPr>
              <a:t>Consent or Auto  </a:t>
            </a:r>
            <a:r>
              <a:rPr sz="770" b="0" i="0">
                <a:solidFill>
                  <a:srgbClr val="C9D6F2"/>
                </a:solidFill>
                <a:latin typeface="Calibri"/>
              </a:rPr>
              <a:t>Pre-approved / full-autonomy proceeds; else a time-bound window opens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33672" y="4306824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279392"/>
            <a:ext cx="3511296" cy="3611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19" b="1" i="0">
                <a:solidFill>
                  <a:srgbClr val="FFFFFF"/>
                </a:solidFill>
                <a:latin typeface="Calibri"/>
              </a:rPr>
              <a:t>Execute + Rollback  </a:t>
            </a:r>
            <a:r>
              <a:rPr sz="770" b="0" i="0">
                <a:solidFill>
                  <a:srgbClr val="C9D6F2"/>
                </a:solidFill>
                <a:latin typeface="Calibri"/>
              </a:rPr>
              <a:t>Pay → book → release old ticket last; essential failure unwinds cleanly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68512" y="1901952"/>
            <a:ext cx="2944368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59952" y="1965960"/>
            <a:ext cx="2779776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819" b="0" i="0">
                <a:solidFill>
                  <a:srgbClr val="6B7280"/>
                </a:solidFill>
                <a:latin typeface="Calibri"/>
              </a:rPr>
              <a:t>One ranked, rule-compliant plan per passenger — parked and ready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68512" y="2606040"/>
            <a:ext cx="2944368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59952" y="2670048"/>
            <a:ext cx="2779776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819" b="0" i="0">
                <a:solidFill>
                  <a:srgbClr val="6B7280"/>
                </a:solidFill>
                <a:latin typeface="Calibri"/>
              </a:rPr>
              <a:t>Nothing booked, held, or spent yet at this stage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68512" y="3310128"/>
            <a:ext cx="2944368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59952" y="3374136"/>
            <a:ext cx="2779776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819" b="0" i="0">
                <a:solidFill>
                  <a:srgbClr val="6B7280"/>
                </a:solidFill>
                <a:latin typeface="Calibri"/>
              </a:rPr>
              <a:t>Auto only if pre-approved, fully autonomous, or silence + confirmed alert delivery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68512" y="4014216"/>
            <a:ext cx="2944368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59952" y="4078224"/>
            <a:ext cx="2779776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819" b="0" i="0">
                <a:solidFill>
                  <a:srgbClr val="6B7280"/>
                </a:solidFill>
                <a:latin typeface="Calibri"/>
              </a:rPr>
              <a:t>Real rollback: essential failure unwinds cleanly; non-essential degrades honestly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4992624"/>
            <a:ext cx="11155680" cy="347472"/>
          </a:xfrm>
          <a:prstGeom prst="roundRect">
            <a:avLst>
              <a:gd name="adj" fmla="val 5000"/>
            </a:avLst>
          </a:prstGeom>
          <a:solidFill>
            <a:srgbClr val="FBF3E2"/>
          </a:solidFill>
          <a:ln w="12700">
            <a:solidFill>
              <a:srgbClr val="EFDD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8" y="4992624"/>
            <a:ext cx="10753344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10" b="1" i="0">
                <a:solidFill>
                  <a:srgbClr val="8A5A00"/>
                </a:solidFill>
                <a:latin typeface="Calibri"/>
              </a:rPr>
              <a:t>Never holds inventory  </a:t>
            </a:r>
            <a:r>
              <a:rPr sz="910" b="0" i="0">
                <a:solidFill>
                  <a:srgbClr val="6B521E"/>
                </a:solidFill>
                <a:latin typeface="Calibri"/>
              </a:rPr>
              <a:t>a carrier cancels duplicate holds. The system re-verifies the parked plan instead, with one last check immediately before booking.</a:t>
            </a:r>
          </a:p>
        </p:txBody>
      </p:sp>
      <p:sp>
        <p:nvSpPr>
          <p:cNvPr id="46" name="Oval 45"/>
          <p:cNvSpPr/>
          <p:nvPr/>
        </p:nvSpPr>
        <p:spPr>
          <a:xfrm>
            <a:off x="566928" y="5591556"/>
            <a:ext cx="82296" cy="82296"/>
          </a:xfrm>
          <a:prstGeom prst="ellipse">
            <a:avLst/>
          </a:prstGeom>
          <a:solidFill>
            <a:srgbClr val="B0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8096" y="5449824"/>
            <a:ext cx="1093622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30" b="1" i="0">
                <a:solidFill>
                  <a:srgbClr val="B03A3A"/>
                </a:solidFill>
                <a:latin typeface="Calibri"/>
              </a:rPr>
              <a:t>The one human step  </a:t>
            </a:r>
            <a:r>
              <a:rPr sz="930" b="0" i="0">
                <a:solidFill>
                  <a:srgbClr val="6B7280"/>
                </a:solidFill>
                <a:latin typeface="Calibri"/>
              </a:rPr>
              <a:t>if a decision window lapses without confirmed delivery of the spend alert, the case hands to a human — every other step above runs with zero human involvement.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528816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ZKD Concierge  ·  Team ZKD, IIT Madras  ·  Amex Codestreet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A9E0"/>
                </a:solidFill>
                <a:latin typeface="Calibri"/>
              </a:rPr>
              <a:t>STAGE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00175A"/>
                </a:solidFill>
                <a:latin typeface="Cambria"/>
              </a:rPr>
              <a:t>Smart Ranking &amp; Continuous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25296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B7280"/>
                </a:solidFill>
                <a:latin typeface="Calibri"/>
              </a:rPr>
              <a:t>A conditional-logit discrete-choice model orders every option from 10 signed signals, with a hard safety guarantee and a closed, self-improving training loop.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665476" cy="658368"/>
          </a:xfrm>
          <a:prstGeom prst="roundRect">
            <a:avLst>
              <a:gd name="adj" fmla="val 5000"/>
            </a:avLst>
          </a:prstGeom>
          <a:solidFill>
            <a:srgbClr val="00175A"/>
          </a:solidFill>
          <a:ln>
            <a:noFill/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536192"/>
            <a:ext cx="23728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0A9E0"/>
                </a:solidFill>
                <a:latin typeface="Cambria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828800"/>
            <a:ext cx="23728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C9D6F2"/>
                </a:solidFill>
                <a:latin typeface="Calibri"/>
              </a:rPr>
              <a:t>signed signals — arrival, cost, cabin, effort, loyalty, red-eye, seats, stability, weather, advisory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8708" y="1463040"/>
            <a:ext cx="2665476" cy="658368"/>
          </a:xfrm>
          <a:prstGeom prst="roundRect">
            <a:avLst>
              <a:gd name="adj" fmla="val 5000"/>
            </a:avLst>
          </a:prstGeom>
          <a:solidFill>
            <a:srgbClr val="00175A"/>
          </a:solidFill>
          <a:ln>
            <a:noFill/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5012" y="1536192"/>
            <a:ext cx="23728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0A9E0"/>
                </a:solidFill>
                <a:latin typeface="Cambria"/>
              </a:rPr>
              <a:t>4 tiers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5012" y="1828800"/>
            <a:ext cx="23728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C9D6F2"/>
                </a:solidFill>
                <a:latin typeface="Calibri"/>
              </a:rPr>
              <a:t>weight resolution: preset → profile warm-start → cross-member pattern → personal pattern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8776" y="1463040"/>
            <a:ext cx="2665476" cy="658368"/>
          </a:xfrm>
          <a:prstGeom prst="roundRect">
            <a:avLst>
              <a:gd name="adj" fmla="val 5000"/>
            </a:avLst>
          </a:prstGeom>
          <a:solidFill>
            <a:srgbClr val="00175A"/>
          </a:solidFill>
          <a:ln>
            <a:noFill/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36192"/>
            <a:ext cx="23728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0A9E0"/>
                </a:solidFill>
                <a:latin typeface="Cambria"/>
              </a:rPr>
              <a:t>30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828800"/>
            <a:ext cx="23728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C9D6F2"/>
                </a:solidFill>
                <a:latin typeface="Calibri"/>
              </a:rPr>
              <a:t>automatic retrain cadence — promotes only if it beats the live version on unseen data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38844" y="1463040"/>
            <a:ext cx="2665476" cy="658368"/>
          </a:xfrm>
          <a:prstGeom prst="roundRect">
            <a:avLst>
              <a:gd name="adj" fmla="val 5000"/>
            </a:avLst>
          </a:prstGeom>
          <a:solidFill>
            <a:srgbClr val="00175A"/>
          </a:solidFill>
          <a:ln>
            <a:noFill/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5148" y="1536192"/>
            <a:ext cx="23728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0A9E0"/>
                </a:solidFill>
                <a:latin typeface="Cambria"/>
              </a:rPr>
              <a:t>Never worse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5148" y="1828800"/>
            <a:ext cx="23728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C9D6F2"/>
                </a:solidFill>
                <a:latin typeface="Calibri"/>
              </a:rPr>
              <a:t>hard guarantee: a cheaper/earlier/less-downgraded option is never ranked below a worse 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28600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175A"/>
                </a:solidFill>
                <a:latin typeface="Calibri"/>
              </a:rPr>
              <a:t>CONTINUOUS LEARNING LOOP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542032"/>
            <a:ext cx="2114092" cy="914400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13662" y="2587752"/>
            <a:ext cx="384048" cy="384048"/>
          </a:xfrm>
          <a:prstGeom prst="ellipse">
            <a:avLst/>
          </a:prstGeom>
          <a:solidFill>
            <a:srgbClr val="00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5110" y="2649200"/>
            <a:ext cx="261152" cy="2611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0080" y="2999232"/>
            <a:ext cx="19312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0175A"/>
                </a:solidFill>
                <a:latin typeface="Calibri"/>
              </a:rPr>
              <a:t>Log What’s Shown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00400"/>
            <a:ext cx="19312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710" b="0" i="0">
                <a:solidFill>
                  <a:srgbClr val="6B7280"/>
                </a:solidFill>
                <a:latin typeface="Calibri"/>
              </a:rPr>
              <a:t>Every real ranking logged: full option set, signals, order &amp; probabilities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681020" y="2999232"/>
            <a:ext cx="109728" cy="0"/>
          </a:xfrm>
          <a:prstGeom prst="line">
            <a:avLst/>
          </a:prstGeom>
          <a:ln w="15875">
            <a:solidFill>
              <a:srgbClr val="D7DEE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809036" y="2542032"/>
            <a:ext cx="2114092" cy="914400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674058" y="2587752"/>
            <a:ext cx="384048" cy="384048"/>
          </a:xfrm>
          <a:prstGeom prst="ellipse">
            <a:avLst/>
          </a:prstGeom>
          <a:solidFill>
            <a:srgbClr val="00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35506" y="2649200"/>
            <a:ext cx="261152" cy="26115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900476" y="2999232"/>
            <a:ext cx="19312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0175A"/>
                </a:solidFill>
                <a:latin typeface="Calibri"/>
              </a:rPr>
              <a:t>Reconcile Outcomes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00476" y="3200400"/>
            <a:ext cx="19312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710" b="0" i="0">
                <a:solidFill>
                  <a:srgbClr val="6B7280"/>
                </a:solidFill>
                <a:latin typeface="Calibri"/>
              </a:rPr>
              <a:t>Completed recoveries matched back to what was shown, entirely offline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941416" y="2999232"/>
            <a:ext cx="109728" cy="0"/>
          </a:xfrm>
          <a:prstGeom prst="line">
            <a:avLst/>
          </a:prstGeom>
          <a:ln w="15875">
            <a:solidFill>
              <a:srgbClr val="D7DEE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069432" y="2542032"/>
            <a:ext cx="2114092" cy="914400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934454" y="2587752"/>
            <a:ext cx="384048" cy="384048"/>
          </a:xfrm>
          <a:prstGeom prst="ellipse">
            <a:avLst/>
          </a:prstGeom>
          <a:solidFill>
            <a:srgbClr val="00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95902" y="2649200"/>
            <a:ext cx="261152" cy="26115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160872" y="2999232"/>
            <a:ext cx="19312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0175A"/>
                </a:solidFill>
                <a:latin typeface="Calibri"/>
              </a:rPr>
              <a:t>Retrain (safeguarded)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60872" y="3200400"/>
            <a:ext cx="19312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710" b="0" i="0">
                <a:solidFill>
                  <a:srgbClr val="6B7280"/>
                </a:solidFill>
                <a:latin typeface="Calibri"/>
              </a:rPr>
              <a:t>Weights pulled toward the preset in proportion to real evidence; guarantee enforced every step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201812" y="2999232"/>
            <a:ext cx="109728" cy="0"/>
          </a:xfrm>
          <a:prstGeom prst="line">
            <a:avLst/>
          </a:prstGeom>
          <a:ln w="15875">
            <a:solidFill>
              <a:srgbClr val="D7DEE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329828" y="2542032"/>
            <a:ext cx="2114092" cy="914400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194850" y="2587752"/>
            <a:ext cx="384048" cy="384048"/>
          </a:xfrm>
          <a:prstGeom prst="ellipse">
            <a:avLst/>
          </a:prstGeom>
          <a:solidFill>
            <a:srgbClr val="00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6298" y="2649200"/>
            <a:ext cx="261152" cy="26115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421268" y="2999232"/>
            <a:ext cx="19312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0175A"/>
                </a:solidFill>
                <a:latin typeface="Calibri"/>
              </a:rPr>
              <a:t>Promote if Better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21268" y="3200400"/>
            <a:ext cx="19312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710" b="0" i="0">
                <a:solidFill>
                  <a:srgbClr val="6B7280"/>
                </a:solidFill>
                <a:latin typeface="Calibri"/>
              </a:rPr>
              <a:t>Adopted only if it out-predicts live, on data the fit never saw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462208" y="2999232"/>
            <a:ext cx="109728" cy="0"/>
          </a:xfrm>
          <a:prstGeom prst="line">
            <a:avLst/>
          </a:prstGeom>
          <a:ln w="15875">
            <a:solidFill>
              <a:srgbClr val="D7DEE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590224" y="2542032"/>
            <a:ext cx="2114092" cy="914400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455246" y="2587752"/>
            <a:ext cx="384048" cy="384048"/>
          </a:xfrm>
          <a:prstGeom prst="ellipse">
            <a:avLst/>
          </a:prstGeom>
          <a:solidFill>
            <a:srgbClr val="00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16694" y="2649200"/>
            <a:ext cx="261152" cy="26115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681664" y="2999232"/>
            <a:ext cx="19312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0175A"/>
                </a:solidFill>
                <a:latin typeface="Calibri"/>
              </a:rPr>
              <a:t>Live, Zero Downtime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81664" y="3200400"/>
            <a:ext cx="19312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710" b="0" i="0">
                <a:solidFill>
                  <a:srgbClr val="6B7280"/>
                </a:solidFill>
                <a:latin typeface="Calibri"/>
              </a:rPr>
              <a:t>Same running process reloads new weights instantly — no redeploy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3621024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175A"/>
                </a:solidFill>
                <a:latin typeface="Calibri"/>
              </a:rPr>
              <a:t>BOOKABILITY — A FIXED PENALTY THE MODEL CAN NEVER LEARN AWAY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3877056"/>
            <a:ext cx="3608832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4944" y="3877056"/>
            <a:ext cx="331622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0A9E0"/>
                </a:solidFill>
                <a:latin typeface="Cambria"/>
              </a:rPr>
              <a:t>~97%   </a:t>
            </a:r>
            <a:r>
              <a:rPr sz="850" b="0" i="0">
                <a:solidFill>
                  <a:srgbClr val="6B7280"/>
                </a:solidFill>
                <a:latin typeface="Calibri"/>
              </a:rPr>
              <a:t>a live, currently-valid offer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22064" y="3877056"/>
            <a:ext cx="3608832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68368" y="3877056"/>
            <a:ext cx="331622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0A9E0"/>
                </a:solidFill>
                <a:latin typeface="Cambria"/>
              </a:rPr>
              <a:t>~72%   </a:t>
            </a:r>
            <a:r>
              <a:rPr sz="850" b="0" i="0">
                <a:solidFill>
                  <a:srgbClr val="6B7280"/>
                </a:solidFill>
                <a:latin typeface="Calibri"/>
              </a:rPr>
              <a:t>a confirmed offer with no expiry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95488" y="3877056"/>
            <a:ext cx="3608832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41792" y="3877056"/>
            <a:ext cx="331622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0A9E0"/>
                </a:solidFill>
                <a:latin typeface="Cambria"/>
              </a:rPr>
              <a:t>~45%   </a:t>
            </a:r>
            <a:r>
              <a:rPr sz="850" b="0" i="0">
                <a:solidFill>
                  <a:srgbClr val="6B7280"/>
                </a:solidFill>
                <a:latin typeface="Calibri"/>
              </a:rPr>
              <a:t>anything else, refined as real bookings accumulate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48640" y="4517136"/>
            <a:ext cx="11155680" cy="384048"/>
          </a:xfrm>
          <a:prstGeom prst="roundRect">
            <a:avLst>
              <a:gd name="adj" fmla="val 5000"/>
            </a:avLst>
          </a:prstGeom>
          <a:solidFill>
            <a:srgbClr val="F3F0FA"/>
          </a:solidFill>
          <a:ln w="12700">
            <a:solidFill>
              <a:srgbClr val="DDD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9808" y="4517136"/>
            <a:ext cx="1075334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30" b="1" i="0">
                <a:solidFill>
                  <a:srgbClr val="4B2E83"/>
                </a:solidFill>
                <a:latin typeface="Calibri"/>
              </a:rPr>
              <a:t>Honest status today  </a:t>
            </a:r>
            <a:r>
              <a:rPr sz="930" b="0" i="0">
                <a:solidFill>
                  <a:srgbClr val="5B4A78"/>
                </a:solidFill>
                <a:latin typeface="Calibri"/>
              </a:rPr>
              <a:t>every ranking runs on preset + profile warm-start — real, personalized from message one, but not yet shaped by learned patterns. Learned layers auto-engage at ~100s of reconciled decisions/goal, or a few dozen per member.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528816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ZKD Concierge  ·  Team ZKD, IIT Madras  ·  Amex Codestreet 2026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17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00A9E0"/>
                </a:solidFill>
                <a:latin typeface="Calibri"/>
              </a:rPr>
              <a:t>BUSINESS IMPACT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667512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mbria"/>
              </a:rPr>
              <a:t>Driving Deep Engagement &amp; Loyalty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667512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B9C6E8"/>
                </a:solidFill>
                <a:latin typeface="Calibri"/>
              </a:rPr>
              <a:t>Proactive alerts and real, time-bound choices keep members engaged inside the Amex ecosystem — and every zero-surprise recovery compounds into lasting trust.</a:t>
            </a:r>
          </a:p>
        </p:txBody>
      </p:sp>
      <p:sp>
        <p:nvSpPr>
          <p:cNvPr id="5" name="Oval 4"/>
          <p:cNvSpPr/>
          <p:nvPr/>
        </p:nvSpPr>
        <p:spPr>
          <a:xfrm>
            <a:off x="603504" y="2587752"/>
            <a:ext cx="512064" cy="512064"/>
          </a:xfrm>
          <a:prstGeom prst="ellipse">
            <a:avLst/>
          </a:prstGeom>
          <a:solidFill>
            <a:srgbClr val="0B2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434" y="2669682"/>
            <a:ext cx="348203" cy="3482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25296" y="2532888"/>
            <a:ext cx="59436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Proactive, Not Reactive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5296" y="2825496"/>
            <a:ext cx="59436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60" b="0" i="0">
                <a:solidFill>
                  <a:srgbClr val="B9C6E8"/>
                </a:solidFill>
                <a:latin typeface="Calibri"/>
              </a:rPr>
              <a:t>Rung-1 risk alerts reach members before a disruption is even confirmed</a:t>
            </a:r>
          </a:p>
        </p:txBody>
      </p:sp>
      <p:sp>
        <p:nvSpPr>
          <p:cNvPr id="9" name="Oval 8"/>
          <p:cNvSpPr/>
          <p:nvPr/>
        </p:nvSpPr>
        <p:spPr>
          <a:xfrm>
            <a:off x="603504" y="3246120"/>
            <a:ext cx="512064" cy="512064"/>
          </a:xfrm>
          <a:prstGeom prst="ellipse">
            <a:avLst/>
          </a:prstGeom>
          <a:solidFill>
            <a:srgbClr val="0B2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434" y="3328050"/>
            <a:ext cx="348203" cy="34820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25296" y="3191256"/>
            <a:ext cx="59436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Interactive Decisions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6" y="3483864"/>
            <a:ext cx="59436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60" b="0" i="0">
                <a:solidFill>
                  <a:srgbClr val="B9C6E8"/>
                </a:solidFill>
                <a:latin typeface="Calibri"/>
              </a:rPr>
              <a:t>Members see live rebooking bundles and make a real, time-bound choice</a:t>
            </a:r>
          </a:p>
        </p:txBody>
      </p:sp>
      <p:sp>
        <p:nvSpPr>
          <p:cNvPr id="13" name="Oval 12"/>
          <p:cNvSpPr/>
          <p:nvPr/>
        </p:nvSpPr>
        <p:spPr>
          <a:xfrm>
            <a:off x="603504" y="3904488"/>
            <a:ext cx="512064" cy="512064"/>
          </a:xfrm>
          <a:prstGeom prst="ellipse">
            <a:avLst/>
          </a:prstGeom>
          <a:solidFill>
            <a:srgbClr val="0B2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434" y="3986418"/>
            <a:ext cx="348203" cy="34820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225296" y="3849624"/>
            <a:ext cx="59436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Trust Compounds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4142232"/>
            <a:ext cx="59436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60" b="0" i="0">
                <a:solidFill>
                  <a:srgbClr val="B9C6E8"/>
                </a:solidFill>
                <a:latin typeface="Calibri"/>
              </a:rPr>
              <a:t>A zero-blind-spend guarantee — members never get an unwelcome card surprise</a:t>
            </a:r>
          </a:p>
        </p:txBody>
      </p:sp>
      <p:sp>
        <p:nvSpPr>
          <p:cNvPr id="17" name="Oval 16"/>
          <p:cNvSpPr/>
          <p:nvPr/>
        </p:nvSpPr>
        <p:spPr>
          <a:xfrm>
            <a:off x="603504" y="4562856"/>
            <a:ext cx="512064" cy="512064"/>
          </a:xfrm>
          <a:prstGeom prst="ellipse">
            <a:avLst/>
          </a:prstGeom>
          <a:solidFill>
            <a:srgbClr val="0B2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5434" y="4644786"/>
            <a:ext cx="348203" cy="34820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225296" y="4507992"/>
            <a:ext cx="59436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One Seamless Bundle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4800600"/>
            <a:ext cx="59436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60" b="0" i="0">
                <a:solidFill>
                  <a:srgbClr val="B9C6E8"/>
                </a:solidFill>
                <a:latin typeface="Calibri"/>
              </a:rPr>
              <a:t>Flight + hotel + ground handled as one recovery, not three separate headaches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276088"/>
            <a:ext cx="3246120" cy="566928"/>
          </a:xfrm>
          <a:prstGeom prst="roundRect">
            <a:avLst>
              <a:gd name="adj" fmla="val 5000"/>
            </a:avLst>
          </a:prstGeom>
          <a:solidFill>
            <a:srgbClr val="0B2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" y="5276088"/>
            <a:ext cx="295351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1" i="0">
                <a:solidFill>
                  <a:srgbClr val="00A9E0"/>
                </a:solidFill>
                <a:latin typeface="Calibri"/>
              </a:rPr>
              <a:t>Consent Every Time</a:t>
            </a:r>
          </a:p>
          <a:p>
            <a:pPr algn="l"/>
            <a:r>
              <a:rPr sz="800" b="0" i="0">
                <a:solidFill>
                  <a:srgbClr val="B9C6E8"/>
                </a:solidFill>
                <a:latin typeface="Calibri"/>
              </a:rPr>
              <a:t>A time-bound window puts control back in the member’s hands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7640" y="5276088"/>
            <a:ext cx="3246120" cy="566928"/>
          </a:xfrm>
          <a:prstGeom prst="roundRect">
            <a:avLst>
              <a:gd name="adj" fmla="val 5000"/>
            </a:avLst>
          </a:prstGeom>
          <a:solidFill>
            <a:srgbClr val="0B2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23944" y="5276088"/>
            <a:ext cx="295351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1" i="0">
                <a:solidFill>
                  <a:srgbClr val="00A9E0"/>
                </a:solidFill>
                <a:latin typeface="Calibri"/>
              </a:rPr>
              <a:t>Amex-Native Experience</a:t>
            </a:r>
          </a:p>
          <a:p>
            <a:pPr algn="l"/>
            <a:r>
              <a:rPr sz="800" b="0" i="0">
                <a:solidFill>
                  <a:srgbClr val="B9C6E8"/>
                </a:solidFill>
                <a:latin typeface="Calibri"/>
              </a:rPr>
              <a:t>Every recovery reinforces the card that takes care of you mid-journey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18120" y="1481328"/>
            <a:ext cx="3886200" cy="4434840"/>
          </a:xfrm>
          <a:prstGeom prst="roundRect">
            <a:avLst>
              <a:gd name="adj" fmla="val 5000"/>
            </a:avLst>
          </a:prstGeom>
          <a:solidFill>
            <a:srgbClr val="0B287A"/>
          </a:solidFill>
          <a:ln>
            <a:noFill/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8120" y="1682496"/>
            <a:ext cx="3886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00A9E0"/>
                </a:solidFill>
                <a:latin typeface="Calibri"/>
              </a:rPr>
              <a:t>MEMBER TOUCHPOINTS</a:t>
            </a:r>
          </a:p>
        </p:txBody>
      </p:sp>
      <p:sp>
        <p:nvSpPr>
          <p:cNvPr id="27" name="Oval 26"/>
          <p:cNvSpPr/>
          <p:nvPr/>
        </p:nvSpPr>
        <p:spPr>
          <a:xfrm>
            <a:off x="8304276" y="2066544"/>
            <a:ext cx="566928" cy="566928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4984" y="2157252"/>
            <a:ext cx="385511" cy="38551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001000" y="2715768"/>
            <a:ext cx="11734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Push</a:t>
            </a:r>
          </a:p>
        </p:txBody>
      </p:sp>
      <p:sp>
        <p:nvSpPr>
          <p:cNvPr id="30" name="Oval 29"/>
          <p:cNvSpPr/>
          <p:nvPr/>
        </p:nvSpPr>
        <p:spPr>
          <a:xfrm>
            <a:off x="9477756" y="2066544"/>
            <a:ext cx="566928" cy="566928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68464" y="2157252"/>
            <a:ext cx="385511" cy="38551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174480" y="2715768"/>
            <a:ext cx="11734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SMS</a:t>
            </a:r>
          </a:p>
        </p:txBody>
      </p:sp>
      <p:sp>
        <p:nvSpPr>
          <p:cNvPr id="33" name="Oval 32"/>
          <p:cNvSpPr/>
          <p:nvPr/>
        </p:nvSpPr>
        <p:spPr>
          <a:xfrm>
            <a:off x="10651236" y="2066544"/>
            <a:ext cx="566928" cy="566928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1944" y="2157252"/>
            <a:ext cx="385511" cy="385511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347960" y="2715768"/>
            <a:ext cx="11734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WhatsApp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20" y="3355847"/>
            <a:ext cx="3886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mbria"/>
              </a:rPr>
              <a:t>69.57%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2440" y="3968496"/>
            <a:ext cx="33375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19" b="0" i="1">
                <a:solidFill>
                  <a:srgbClr val="B9C6E8"/>
                </a:solidFill>
                <a:latin typeface="Calibri"/>
              </a:rPr>
              <a:t>modelled same-day recovery rate — up from 65.48%, now driven by the risk model’s own measured recall, not a hand-picked guess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528816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ZKD Concierge  ·  Team ZKD, IIT Madras  ·  Amex Codestreet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00A9E0"/>
                </a:solidFill>
                <a:latin typeface="Calibri"/>
              </a:rPr>
              <a:t>BUSINESS IMPACT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400" b="1" i="0">
                <a:solidFill>
                  <a:srgbClr val="00175A"/>
                </a:solidFill>
                <a:latin typeface="Cambria"/>
              </a:rPr>
              <a:t>Experience, Metrics &amp; Growth KPIs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25296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6B7280"/>
                </a:solidFill>
                <a:latin typeface="Calibri"/>
              </a:rPr>
              <a:t>What each model reports today, in its own numbers — and exactly what we'll watch next, in plain English, no internal codes.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26464"/>
            <a:ext cx="5477256" cy="1353312"/>
          </a:xfrm>
          <a:prstGeom prst="roundRect">
            <a:avLst>
              <a:gd name="adj" fmla="val 5000"/>
            </a:avLst>
          </a:prstGeom>
          <a:solidFill>
            <a:srgbClr val="00175A"/>
          </a:solidFill>
          <a:ln>
            <a:noFill/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13232" y="1554480"/>
            <a:ext cx="2743200" cy="256032"/>
          </a:xfrm>
          <a:prstGeom prst="roundRect">
            <a:avLst>
              <a:gd name="adj" fmla="val 50000"/>
            </a:avLst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900" b="1" i="0">
                <a:solidFill>
                  <a:srgbClr val="00175A"/>
                </a:solidFill>
                <a:latin typeface="Calibri"/>
              </a:rPr>
              <a:t>RISK PREDICTION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38528"/>
            <a:ext cx="123215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00A9E0"/>
                </a:solidFill>
                <a:latin typeface="Cambria"/>
              </a:rPr>
              <a:t>7.89M</a:t>
            </a:r>
          </a:p>
          <a:p>
            <a:pPr algn="l"/>
            <a:r>
              <a:rPr sz="690" b="0" i="0">
                <a:solidFill>
                  <a:srgbClr val="C9D6F2"/>
                </a:solidFill>
                <a:latin typeface="Calibri"/>
              </a:rPr>
              <a:t>real flights trained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00250" y="1938528"/>
            <a:ext cx="123215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00A9E0"/>
                </a:solidFill>
                <a:latin typeface="Cambria"/>
              </a:rPr>
              <a:t>0.804</a:t>
            </a:r>
          </a:p>
          <a:p>
            <a:pPr algn="l"/>
            <a:r>
              <a:rPr sz="690" b="0" i="0">
                <a:solidFill>
                  <a:srgbClr val="C9D6F2"/>
                </a:solidFill>
                <a:latin typeface="Calibri"/>
              </a:rPr>
              <a:t>discrimination score, not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87268" y="1938528"/>
            <a:ext cx="123215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00A9E0"/>
                </a:solidFill>
                <a:latin typeface="Cambria"/>
              </a:rPr>
              <a:t>0.123</a:t>
            </a:r>
          </a:p>
          <a:p>
            <a:pPr algn="l"/>
            <a:r>
              <a:rPr sz="690" b="0" i="0">
                <a:solidFill>
                  <a:srgbClr val="C9D6F2"/>
                </a:solidFill>
                <a:latin typeface="Calibri"/>
              </a:rPr>
              <a:t>precision/recall at ~1% base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4286" y="1938528"/>
            <a:ext cx="123215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00A9E0"/>
                </a:solidFill>
                <a:latin typeface="Cambria"/>
              </a:rPr>
              <a:t>5.25x</a:t>
            </a:r>
          </a:p>
          <a:p>
            <a:pPr algn="l"/>
            <a:r>
              <a:rPr sz="690" b="0" i="0">
                <a:solidFill>
                  <a:srgbClr val="C9D6F2"/>
                </a:solidFill>
                <a:latin typeface="Calibri"/>
              </a:rPr>
              <a:t>riskiest decile vs. base rate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426464"/>
            <a:ext cx="5477256" cy="1353312"/>
          </a:xfrm>
          <a:prstGeom prst="roundRect">
            <a:avLst>
              <a:gd name="adj" fmla="val 5000"/>
            </a:avLst>
          </a:prstGeom>
          <a:solidFill>
            <a:srgbClr val="00175A"/>
          </a:solidFill>
          <a:ln>
            <a:noFill/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91656" y="1554480"/>
            <a:ext cx="2377440" cy="256032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RANKING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1938528"/>
            <a:ext cx="123215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B99CFB"/>
                </a:solidFill>
                <a:latin typeface="Cambria"/>
              </a:rPr>
              <a:t>10</a:t>
            </a:r>
          </a:p>
          <a:p>
            <a:pPr algn="l"/>
            <a:r>
              <a:rPr sz="690" b="0" i="0">
                <a:solidFill>
                  <a:srgbClr val="C9D6F2"/>
                </a:solidFill>
                <a:latin typeface="Calibri"/>
              </a:rPr>
              <a:t>real factors weighed together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78674" y="1938528"/>
            <a:ext cx="123215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B99CFB"/>
                </a:solidFill>
                <a:latin typeface="Cambria"/>
              </a:rPr>
              <a:t>30 min</a:t>
            </a:r>
          </a:p>
          <a:p>
            <a:pPr algn="l"/>
            <a:r>
              <a:rPr sz="690" b="0" i="0">
                <a:solidFill>
                  <a:srgbClr val="C9D6F2"/>
                </a:solidFill>
                <a:latin typeface="Calibri"/>
              </a:rPr>
              <a:t>automatic retrain cadence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5692" y="1938528"/>
            <a:ext cx="123215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B99CFB"/>
                </a:solidFill>
                <a:latin typeface="Cambria"/>
              </a:rPr>
              <a:t>Auto-checked</a:t>
            </a:r>
          </a:p>
          <a:p>
            <a:pPr algn="l"/>
            <a:r>
              <a:rPr sz="690" b="0" i="0">
                <a:solidFill>
                  <a:srgbClr val="C9D6F2"/>
                </a:solidFill>
                <a:latin typeface="Calibri"/>
              </a:rPr>
              <a:t>only promoted if it beats what’s live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52710" y="1938528"/>
            <a:ext cx="123215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B99CFB"/>
                </a:solidFill>
                <a:latin typeface="Cambria"/>
              </a:rPr>
              <a:t>Never worse</a:t>
            </a:r>
          </a:p>
          <a:p>
            <a:pPr algn="l"/>
            <a:r>
              <a:rPr sz="690" b="0" i="0">
                <a:solidFill>
                  <a:srgbClr val="C9D6F2"/>
                </a:solidFill>
                <a:latin typeface="Calibri"/>
              </a:rPr>
              <a:t>cheaper/earlier option never ranked below a worse 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907792"/>
            <a:ext cx="11155680" cy="384048"/>
          </a:xfrm>
          <a:prstGeom prst="roundRect">
            <a:avLst>
              <a:gd name="adj" fmla="val 5000"/>
            </a:avLst>
          </a:prstGeom>
          <a:solidFill>
            <a:srgbClr val="F3F0FA"/>
          </a:solidFill>
          <a:ln w="12700">
            <a:solidFill>
              <a:srgbClr val="DDD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907792"/>
            <a:ext cx="10753344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19" b="1" i="0">
                <a:solidFill>
                  <a:srgbClr val="4B2E83"/>
                </a:solidFill>
                <a:latin typeface="Calibri"/>
              </a:rPr>
              <a:t>Feeding the model back into the business case  </a:t>
            </a:r>
            <a:r>
              <a:rPr sz="919" b="0" i="0">
                <a:solidFill>
                  <a:srgbClr val="5B4A78"/>
                </a:solidFill>
                <a:latin typeface="Calibri"/>
              </a:rPr>
              <a:t>the risk model’s own real recall at its production gate (70% of cancellations caught, replacing a hand-picked 55% guess) lifts modelled same-day recovery from 65.48% to 69.57%.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41071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00175A"/>
                </a:solidFill>
                <a:latin typeface="Calibri"/>
              </a:rPr>
              <a:t>WHAT WE'LL MONITOR NEXT — IN PLAIN ENGLISH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657600"/>
            <a:ext cx="33375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19" b="1" i="0">
                <a:solidFill>
                  <a:srgbClr val="6B7280"/>
                </a:solidFill>
                <a:latin typeface="Calibri"/>
              </a:rPr>
              <a:t>WHAT WE TRACK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5656" y="3657600"/>
            <a:ext cx="5166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19" b="1" i="0">
                <a:solidFill>
                  <a:srgbClr val="6B7280"/>
                </a:solidFill>
                <a:latin typeface="Calibri"/>
              </a:rPr>
              <a:t>WHAT IT MEANS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3657600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19" b="1" i="0">
                <a:solidFill>
                  <a:srgbClr val="6B7280"/>
                </a:solidFill>
                <a:latin typeface="Calibri"/>
              </a:rPr>
              <a:t>STATUS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3858768"/>
            <a:ext cx="11155680" cy="0"/>
          </a:xfrm>
          <a:prstGeom prst="line">
            <a:avLst/>
          </a:prstGeom>
          <a:ln w="12700">
            <a:solidFill>
              <a:srgbClr val="C7CD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3922776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30" b="1" i="0">
                <a:solidFill>
                  <a:srgbClr val="00175A"/>
                </a:solidFill>
                <a:latin typeface="Calibri"/>
              </a:rPr>
              <a:t>How Fast We Notice a Problem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05656" y="3922776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40" b="0" i="0">
                <a:solidFill>
                  <a:srgbClr val="6B7280"/>
                </a:solidFill>
                <a:latin typeface="Calibri"/>
              </a:rPr>
              <a:t>Minutes between a disruption happening and our system actually knowing about it.</a:t>
            </a:r>
          </a:p>
        </p:txBody>
      </p:sp>
      <p:sp>
        <p:nvSpPr>
          <p:cNvPr id="26" name="Oval 25"/>
          <p:cNvSpPr/>
          <p:nvPr/>
        </p:nvSpPr>
        <p:spPr>
          <a:xfrm>
            <a:off x="9921240" y="3950208"/>
            <a:ext cx="82296" cy="82296"/>
          </a:xfrm>
          <a:prstGeom prst="ellipse">
            <a:avLst/>
          </a:prstGeom>
          <a:solidFill>
            <a:srgbClr val="B0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67544" y="3922776"/>
            <a:ext cx="1636776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40" b="1" i="0">
                <a:solidFill>
                  <a:srgbClr val="B03A3A"/>
                </a:solidFill>
                <a:latin typeface="Calibri"/>
              </a:rPr>
              <a:t>Not built yet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4242816"/>
            <a:ext cx="11155680" cy="0"/>
          </a:xfrm>
          <a:prstGeom prst="line">
            <a:avLst/>
          </a:prstGeom>
          <a:ln w="9525">
            <a:solidFill>
              <a:srgbClr val="ECEE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4288536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30" b="1" i="0">
                <a:solidFill>
                  <a:srgbClr val="00175A"/>
                </a:solidFill>
                <a:latin typeface="Calibri"/>
              </a:rPr>
              <a:t>How Fast We Get a Plan Ready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05656" y="4288536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40" b="0" i="0">
                <a:solidFill>
                  <a:srgbClr val="6B7280"/>
                </a:solidFill>
                <a:latin typeface="Calibri"/>
              </a:rPr>
              <a:t>From "we know" to a checked plan waiting for approval — on every real recovery.</a:t>
            </a:r>
          </a:p>
        </p:txBody>
      </p:sp>
      <p:sp>
        <p:nvSpPr>
          <p:cNvPr id="31" name="Oval 30"/>
          <p:cNvSpPr/>
          <p:nvPr/>
        </p:nvSpPr>
        <p:spPr>
          <a:xfrm>
            <a:off x="9921240" y="4315968"/>
            <a:ext cx="82296" cy="82296"/>
          </a:xfrm>
          <a:prstGeom prst="ellipse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67544" y="4288536"/>
            <a:ext cx="1636776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40" b="1" i="0">
                <a:solidFill>
                  <a:srgbClr val="1E8E5A"/>
                </a:solidFill>
                <a:latin typeface="Calibri"/>
              </a:rPr>
              <a:t>Measured today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4608576"/>
            <a:ext cx="11155680" cy="0"/>
          </a:xfrm>
          <a:prstGeom prst="line">
            <a:avLst/>
          </a:prstGeom>
          <a:ln w="9525">
            <a:solidFill>
              <a:srgbClr val="ECEE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4654296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30" b="1" i="0">
                <a:solidFill>
                  <a:srgbClr val="00175A"/>
                </a:solidFill>
                <a:latin typeface="Calibri"/>
              </a:rPr>
              <a:t>How Often a Human Had to Step 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05656" y="4654296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40" b="0" i="0">
                <a:solidFill>
                  <a:srgbClr val="6B7280"/>
                </a:solidFill>
                <a:latin typeface="Calibri"/>
              </a:rPr>
              <a:t>Share of cases where a member took over instead of letting the system finish.</a:t>
            </a:r>
          </a:p>
        </p:txBody>
      </p:sp>
      <p:sp>
        <p:nvSpPr>
          <p:cNvPr id="36" name="Oval 35"/>
          <p:cNvSpPr/>
          <p:nvPr/>
        </p:nvSpPr>
        <p:spPr>
          <a:xfrm>
            <a:off x="9921240" y="4681728"/>
            <a:ext cx="82296" cy="82296"/>
          </a:xfrm>
          <a:prstGeom prst="ellipse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67544" y="4654296"/>
            <a:ext cx="1636776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40" b="1" i="0">
                <a:solidFill>
                  <a:srgbClr val="1E8E5A"/>
                </a:solidFill>
                <a:latin typeface="Calibri"/>
              </a:rPr>
              <a:t>Measured today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48640" y="4974336"/>
            <a:ext cx="11155680" cy="0"/>
          </a:xfrm>
          <a:prstGeom prst="line">
            <a:avLst/>
          </a:prstGeom>
          <a:ln w="9525">
            <a:solidFill>
              <a:srgbClr val="ECEE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48640" y="5020056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30" b="1" i="0">
                <a:solidFill>
                  <a:srgbClr val="00175A"/>
                </a:solidFill>
                <a:latin typeface="Calibri"/>
              </a:rPr>
              <a:t>Was Our Warning Actually Right?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05656" y="5020056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40" b="0" i="0">
                <a:solidFill>
                  <a:srgbClr val="6B7280"/>
                </a:solidFill>
                <a:latin typeface="Calibri"/>
              </a:rPr>
              <a:t>Of the flights flagged as risky, how many really were — one logging step from live.</a:t>
            </a:r>
          </a:p>
        </p:txBody>
      </p:sp>
      <p:sp>
        <p:nvSpPr>
          <p:cNvPr id="41" name="Oval 40"/>
          <p:cNvSpPr/>
          <p:nvPr/>
        </p:nvSpPr>
        <p:spPr>
          <a:xfrm>
            <a:off x="9921240" y="5047488"/>
            <a:ext cx="82296" cy="82296"/>
          </a:xfrm>
          <a:prstGeom prst="ellipse">
            <a:avLst/>
          </a:prstGeom>
          <a:solidFill>
            <a:srgbClr val="B55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67544" y="5020056"/>
            <a:ext cx="1636776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40" b="1" i="0">
                <a:solidFill>
                  <a:srgbClr val="B55A1C"/>
                </a:solidFill>
                <a:latin typeface="Calibri"/>
              </a:rPr>
              <a:t>Blocked on one fix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48640" y="5340096"/>
            <a:ext cx="11155680" cy="0"/>
          </a:xfrm>
          <a:prstGeom prst="line">
            <a:avLst/>
          </a:prstGeom>
          <a:ln w="9525">
            <a:solidFill>
              <a:srgbClr val="ECEE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48640" y="5385816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30" b="1" i="0">
                <a:solidFill>
                  <a:srgbClr val="00175A"/>
                </a:solidFill>
                <a:latin typeface="Calibri"/>
              </a:rPr>
              <a:t>Did the Member Leave Happy?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05656" y="5385816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40" b="0" i="0">
                <a:solidFill>
                  <a:srgbClr val="6B7280"/>
                </a:solidFill>
                <a:latin typeface="Calibri"/>
              </a:rPr>
              <a:t>A direct rating captured right after a recovery closes — nothing collects this yet.</a:t>
            </a:r>
          </a:p>
        </p:txBody>
      </p:sp>
      <p:sp>
        <p:nvSpPr>
          <p:cNvPr id="46" name="Oval 45"/>
          <p:cNvSpPr/>
          <p:nvPr/>
        </p:nvSpPr>
        <p:spPr>
          <a:xfrm>
            <a:off x="9921240" y="5413248"/>
            <a:ext cx="82296" cy="82296"/>
          </a:xfrm>
          <a:prstGeom prst="ellipse">
            <a:avLst/>
          </a:prstGeom>
          <a:solidFill>
            <a:srgbClr val="B0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67544" y="5385816"/>
            <a:ext cx="1636776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40" b="1" i="0">
                <a:solidFill>
                  <a:srgbClr val="B03A3A"/>
                </a:solidFill>
                <a:latin typeface="Calibri"/>
              </a:rPr>
              <a:t>Not built yet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48640" y="5705856"/>
            <a:ext cx="11155680" cy="0"/>
          </a:xfrm>
          <a:prstGeom prst="line">
            <a:avLst/>
          </a:prstGeom>
          <a:ln w="9525">
            <a:solidFill>
              <a:srgbClr val="ECEE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548640" y="5788152"/>
            <a:ext cx="11155680" cy="347472"/>
          </a:xfrm>
          <a:prstGeom prst="roundRect">
            <a:avLst>
              <a:gd name="adj" fmla="val 5000"/>
            </a:avLst>
          </a:prstGeom>
          <a:solidFill>
            <a:srgbClr val="F3F0FA"/>
          </a:solidFill>
          <a:ln w="12700">
            <a:solidFill>
              <a:srgbClr val="DDD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9808" y="5788152"/>
            <a:ext cx="10753344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30" b="1" i="0">
                <a:solidFill>
                  <a:srgbClr val="4B2E83"/>
                </a:solidFill>
                <a:latin typeface="Calibri"/>
              </a:rPr>
              <a:t>Biggest single unlock  </a:t>
            </a:r>
            <a:r>
              <a:rPr sz="930" b="0" i="0">
                <a:solidFill>
                  <a:srgbClr val="5B4A78"/>
                </a:solidFill>
                <a:latin typeface="Calibri"/>
              </a:rPr>
              <a:t>one engineering change — logging what actually happened to each flight — switches on the accuracy check and most of what comes after it.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528816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ZKD Concierge  ·  Team ZKD, IIT Madras  ·  Amex Codestreet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00A9E0"/>
                </a:solidFill>
                <a:latin typeface="Calibri"/>
              </a:rPr>
              <a:t>FUTURE ASPECTS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700" b="1" i="0">
                <a:solidFill>
                  <a:srgbClr val="00175A"/>
                </a:solidFill>
                <a:latin typeface="Cambria"/>
              </a:rPr>
              <a:t>System Design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25296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6B7280"/>
                </a:solidFill>
                <a:latin typeface="Calibri"/>
              </a:rPr>
              <a:t>One continuous application process, a separate real risk-scoring service, and a consent ladder that shows the exact net amount — after the refund on the original ticket — before anything is charged.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472184"/>
            <a:ext cx="100584" cy="100584"/>
          </a:xfrm>
          <a:prstGeom prst="ellipse">
            <a:avLst/>
          </a:prstGeom>
          <a:solidFill>
            <a:srgbClr val="00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44752"/>
            <a:ext cx="163982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60" b="1" i="0">
                <a:solidFill>
                  <a:srgbClr val="00175A"/>
                </a:solidFill>
                <a:latin typeface="Calibri"/>
              </a:rPr>
              <a:t>Solid line  </a:t>
            </a:r>
          </a:p>
          <a:p>
            <a:pPr algn="l"/>
            <a:r>
              <a:rPr sz="740" b="0" i="0">
                <a:solidFill>
                  <a:srgbClr val="6B7280"/>
                </a:solidFill>
                <a:latin typeface="Calibri"/>
              </a:rPr>
              <a:t>real, wired, running today</a:t>
            </a:r>
          </a:p>
        </p:txBody>
      </p:sp>
      <p:sp>
        <p:nvSpPr>
          <p:cNvPr id="7" name="Oval 6"/>
          <p:cNvSpPr/>
          <p:nvPr/>
        </p:nvSpPr>
        <p:spPr>
          <a:xfrm>
            <a:off x="2407920" y="1472184"/>
            <a:ext cx="100584" cy="100584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90800" y="1444752"/>
            <a:ext cx="163982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60" b="1" i="0">
                <a:solidFill>
                  <a:srgbClr val="00175A"/>
                </a:solidFill>
                <a:latin typeface="Calibri"/>
              </a:rPr>
              <a:t>Dashed line  </a:t>
            </a:r>
          </a:p>
          <a:p>
            <a:pPr algn="l"/>
            <a:r>
              <a:rPr sz="740" b="0" i="0">
                <a:solidFill>
                  <a:srgbClr val="6B7280"/>
                </a:solidFill>
                <a:latin typeface="Calibri"/>
              </a:rPr>
              <a:t>built &amp; tested, not yet connected</a:t>
            </a:r>
          </a:p>
        </p:txBody>
      </p:sp>
      <p:sp>
        <p:nvSpPr>
          <p:cNvPr id="9" name="Oval 8"/>
          <p:cNvSpPr/>
          <p:nvPr/>
        </p:nvSpPr>
        <p:spPr>
          <a:xfrm>
            <a:off x="4267200" y="1472184"/>
            <a:ext cx="100584" cy="100584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0080" y="1444752"/>
            <a:ext cx="163982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60" b="1" i="0">
                <a:solidFill>
                  <a:srgbClr val="00175A"/>
                </a:solidFill>
                <a:latin typeface="Calibri"/>
              </a:rPr>
              <a:t>Blue  </a:t>
            </a:r>
          </a:p>
          <a:p>
            <a:pPr algn="l"/>
            <a:r>
              <a:rPr sz="740" b="0" i="0">
                <a:solidFill>
                  <a:srgbClr val="6B7280"/>
                </a:solidFill>
                <a:latin typeface="Calibri"/>
              </a:rPr>
              <a:t>core application logic</a:t>
            </a:r>
          </a:p>
        </p:txBody>
      </p:sp>
      <p:sp>
        <p:nvSpPr>
          <p:cNvPr id="11" name="Oval 10"/>
          <p:cNvSpPr/>
          <p:nvPr/>
        </p:nvSpPr>
        <p:spPr>
          <a:xfrm>
            <a:off x="6126480" y="1472184"/>
            <a:ext cx="100584" cy="100584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444752"/>
            <a:ext cx="163982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60" b="1" i="0">
                <a:solidFill>
                  <a:srgbClr val="00175A"/>
                </a:solidFill>
                <a:latin typeface="Calibri"/>
              </a:rPr>
              <a:t>Violet  </a:t>
            </a:r>
          </a:p>
          <a:p>
            <a:pPr algn="l"/>
            <a:r>
              <a:rPr sz="740" b="0" i="0">
                <a:solidFill>
                  <a:srgbClr val="6B7280"/>
                </a:solidFill>
                <a:latin typeface="Calibri"/>
              </a:rPr>
              <a:t>prediction &amp; ranking intelligence</a:t>
            </a:r>
          </a:p>
        </p:txBody>
      </p:sp>
      <p:sp>
        <p:nvSpPr>
          <p:cNvPr id="13" name="Oval 12"/>
          <p:cNvSpPr/>
          <p:nvPr/>
        </p:nvSpPr>
        <p:spPr>
          <a:xfrm>
            <a:off x="7985760" y="1472184"/>
            <a:ext cx="100584" cy="100584"/>
          </a:xfrm>
          <a:prstGeom prst="ellipse">
            <a:avLst/>
          </a:prstGeom>
          <a:solidFill>
            <a:srgbClr val="C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8640" y="1444752"/>
            <a:ext cx="163982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60" b="1" i="0">
                <a:solidFill>
                  <a:srgbClr val="00175A"/>
                </a:solidFill>
                <a:latin typeface="Calibri"/>
              </a:rPr>
              <a:t>Amber  </a:t>
            </a:r>
          </a:p>
          <a:p>
            <a:pPr algn="l"/>
            <a:r>
              <a:rPr sz="740" b="0" i="0">
                <a:solidFill>
                  <a:srgbClr val="6B7280"/>
                </a:solidFill>
                <a:latin typeface="Calibri"/>
              </a:rPr>
              <a:t>consent &amp; member notifications</a:t>
            </a:r>
          </a:p>
        </p:txBody>
      </p:sp>
      <p:sp>
        <p:nvSpPr>
          <p:cNvPr id="15" name="Oval 14"/>
          <p:cNvSpPr/>
          <p:nvPr/>
        </p:nvSpPr>
        <p:spPr>
          <a:xfrm>
            <a:off x="9845040" y="1472184"/>
            <a:ext cx="100584" cy="100584"/>
          </a:xfrm>
          <a:prstGeom prst="ellipse">
            <a:avLst/>
          </a:prstGeom>
          <a:solidFill>
            <a:srgbClr val="B0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27920" y="1444752"/>
            <a:ext cx="163982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60" b="1" i="0">
                <a:solidFill>
                  <a:srgbClr val="00175A"/>
                </a:solidFill>
                <a:latin typeface="Calibri"/>
              </a:rPr>
              <a:t>Red  </a:t>
            </a:r>
          </a:p>
          <a:p>
            <a:pPr algn="l"/>
            <a:r>
              <a:rPr sz="740" b="0" i="0">
                <a:solidFill>
                  <a:srgbClr val="6B7280"/>
                </a:solidFill>
                <a:latin typeface="Calibri"/>
              </a:rPr>
              <a:t>irreversible, or the one human handoff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1883664"/>
            <a:ext cx="3596640" cy="3310128"/>
          </a:xfrm>
          <a:prstGeom prst="roundRect">
            <a:avLst>
              <a:gd name="adj" fmla="val 5000"/>
            </a:avLst>
          </a:prstGeom>
          <a:solidFill>
            <a:srgbClr val="00175A"/>
          </a:solidFill>
          <a:ln>
            <a:noFill/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1993392"/>
            <a:ext cx="3304032" cy="237744"/>
          </a:xfrm>
          <a:prstGeom prst="roundRect">
            <a:avLst>
              <a:gd name="adj" fmla="val 50000"/>
            </a:avLst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900" b="1" i="0">
                <a:solidFill>
                  <a:srgbClr val="00175A"/>
                </a:solidFill>
                <a:latin typeface="Calibri"/>
              </a:rPr>
              <a:t>ONE APPLICATION PROCESS</a:t>
            </a:r>
          </a:p>
        </p:txBody>
      </p:sp>
      <p:sp>
        <p:nvSpPr>
          <p:cNvPr id="19" name="Oval 18"/>
          <p:cNvSpPr/>
          <p:nvPr/>
        </p:nvSpPr>
        <p:spPr>
          <a:xfrm>
            <a:off x="694944" y="2322576"/>
            <a:ext cx="82296" cy="82296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2304288"/>
            <a:ext cx="3139440" cy="3063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69" b="1" i="0">
                <a:solidFill>
                  <a:srgbClr val="FFFFFF"/>
                </a:solidFill>
                <a:latin typeface="Calibri"/>
              </a:rPr>
              <a:t>Detection  </a:t>
            </a:r>
            <a:r>
              <a:rPr sz="710" b="0" i="0">
                <a:solidFill>
                  <a:srgbClr val="C9D6F2"/>
                </a:solidFill>
                <a:latin typeface="Calibri"/>
              </a:rPr>
              <a:t>webhook status poll + member report, 3 lanes</a:t>
            </a:r>
          </a:p>
        </p:txBody>
      </p:sp>
      <p:sp>
        <p:nvSpPr>
          <p:cNvPr id="21" name="Oval 20"/>
          <p:cNvSpPr/>
          <p:nvPr/>
        </p:nvSpPr>
        <p:spPr>
          <a:xfrm>
            <a:off x="694944" y="2628900"/>
            <a:ext cx="82296" cy="82296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2610612"/>
            <a:ext cx="3139440" cy="3063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69" b="1" i="0">
                <a:solidFill>
                  <a:srgbClr val="FFFFFF"/>
                </a:solidFill>
                <a:latin typeface="Calibri"/>
              </a:rPr>
              <a:t>Risk Forecast Client  </a:t>
            </a:r>
            <a:r>
              <a:rPr sz="710" b="0" i="0">
                <a:solidFill>
                  <a:srgbClr val="C9D6F2"/>
                </a:solidFill>
                <a:latin typeface="Calibri"/>
              </a:rPr>
              <a:t>assembles features, reads adaptive bands</a:t>
            </a:r>
          </a:p>
        </p:txBody>
      </p:sp>
      <p:sp>
        <p:nvSpPr>
          <p:cNvPr id="23" name="Oval 22"/>
          <p:cNvSpPr/>
          <p:nvPr/>
        </p:nvSpPr>
        <p:spPr>
          <a:xfrm>
            <a:off x="694944" y="2935224"/>
            <a:ext cx="82296" cy="82296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2916936"/>
            <a:ext cx="3139440" cy="3063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69" b="1" i="0">
                <a:solidFill>
                  <a:srgbClr val="FFFFFF"/>
                </a:solidFill>
                <a:latin typeface="Calibri"/>
              </a:rPr>
              <a:t>Preference Intent  </a:t>
            </a:r>
            <a:r>
              <a:rPr sz="710" b="0" i="0">
                <a:solidFill>
                  <a:srgbClr val="C9D6F2"/>
                </a:solidFill>
                <a:latin typeface="Calibri"/>
              </a:rPr>
              <a:t>free-text chat, live before booking</a:t>
            </a:r>
          </a:p>
        </p:txBody>
      </p:sp>
      <p:sp>
        <p:nvSpPr>
          <p:cNvPr id="25" name="Oval 24"/>
          <p:cNvSpPr/>
          <p:nvPr/>
        </p:nvSpPr>
        <p:spPr>
          <a:xfrm>
            <a:off x="694944" y="3241548"/>
            <a:ext cx="82296" cy="82296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223260"/>
            <a:ext cx="3139440" cy="3063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69" b="1" i="0">
                <a:solidFill>
                  <a:srgbClr val="FFFFFF"/>
                </a:solidFill>
                <a:latin typeface="Calibri"/>
              </a:rPr>
              <a:t>Lifecycle Engine  </a:t>
            </a:r>
            <a:r>
              <a:rPr sz="710" b="0" i="0">
                <a:solidFill>
                  <a:srgbClr val="C9D6F2"/>
                </a:solidFill>
                <a:latin typeface="Calibri"/>
              </a:rPr>
              <a:t>deciding → waiting → choosing → acting</a:t>
            </a:r>
          </a:p>
        </p:txBody>
      </p:sp>
      <p:sp>
        <p:nvSpPr>
          <p:cNvPr id="27" name="Oval 26"/>
          <p:cNvSpPr/>
          <p:nvPr/>
        </p:nvSpPr>
        <p:spPr>
          <a:xfrm>
            <a:off x="694944" y="3547872"/>
            <a:ext cx="82296" cy="82296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3529584"/>
            <a:ext cx="3139440" cy="3063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69" b="1" i="0">
                <a:solidFill>
                  <a:srgbClr val="FFFFFF"/>
                </a:solidFill>
                <a:latin typeface="Calibri"/>
              </a:rPr>
              <a:t>Policy Gate  </a:t>
            </a:r>
            <a:r>
              <a:rPr sz="710" b="0" i="0">
                <a:solidFill>
                  <a:srgbClr val="C9D6F2"/>
                </a:solidFill>
                <a:latin typeface="Calibri"/>
              </a:rPr>
              <a:t>default-deny hard checks — built &amp; tested</a:t>
            </a:r>
          </a:p>
        </p:txBody>
      </p:sp>
      <p:sp>
        <p:nvSpPr>
          <p:cNvPr id="29" name="Oval 28"/>
          <p:cNvSpPr/>
          <p:nvPr/>
        </p:nvSpPr>
        <p:spPr>
          <a:xfrm>
            <a:off x="694944" y="3854196"/>
            <a:ext cx="82296" cy="82296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835908"/>
            <a:ext cx="3139440" cy="3063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69" b="1" i="0">
                <a:solidFill>
                  <a:srgbClr val="FFFFFF"/>
                </a:solidFill>
                <a:latin typeface="Calibri"/>
              </a:rPr>
              <a:t>Ranking Engine  </a:t>
            </a:r>
            <a:r>
              <a:rPr sz="710" b="0" i="0">
                <a:solidFill>
                  <a:srgbClr val="C9D6F2"/>
                </a:solidFill>
                <a:latin typeface="Calibri"/>
              </a:rPr>
              <a:t>learned discrete-choice model over the portfolio</a:t>
            </a:r>
          </a:p>
        </p:txBody>
      </p:sp>
      <p:sp>
        <p:nvSpPr>
          <p:cNvPr id="31" name="Oval 30"/>
          <p:cNvSpPr/>
          <p:nvPr/>
        </p:nvSpPr>
        <p:spPr>
          <a:xfrm>
            <a:off x="694944" y="4160520"/>
            <a:ext cx="82296" cy="82296"/>
          </a:xfrm>
          <a:prstGeom prst="ellipse">
            <a:avLst/>
          </a:prstGeom>
          <a:solidFill>
            <a:srgbClr val="B0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4142232"/>
            <a:ext cx="3139440" cy="3063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69" b="1" i="0">
                <a:solidFill>
                  <a:srgbClr val="FFFFFF"/>
                </a:solidFill>
                <a:latin typeface="Calibri"/>
              </a:rPr>
              <a:t>Execution Saga  </a:t>
            </a:r>
            <a:r>
              <a:rPr sz="710" b="0" i="0">
                <a:solidFill>
                  <a:srgbClr val="C9D6F2"/>
                </a:solidFill>
                <a:latin typeface="Calibri"/>
              </a:rPr>
              <a:t>reserve → flight → hotel → ground → dispose original</a:t>
            </a:r>
          </a:p>
        </p:txBody>
      </p:sp>
      <p:sp>
        <p:nvSpPr>
          <p:cNvPr id="33" name="Oval 32"/>
          <p:cNvSpPr/>
          <p:nvPr/>
        </p:nvSpPr>
        <p:spPr>
          <a:xfrm>
            <a:off x="694944" y="4466844"/>
            <a:ext cx="82296" cy="82296"/>
          </a:xfrm>
          <a:prstGeom prst="ellipse">
            <a:avLst/>
          </a:prstGeom>
          <a:solidFill>
            <a:srgbClr val="C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4448556"/>
            <a:ext cx="3139440" cy="3063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69" b="1" i="0">
                <a:solidFill>
                  <a:srgbClr val="FFFFFF"/>
                </a:solidFill>
                <a:latin typeface="Calibri"/>
              </a:rPr>
              <a:t>Notification Dispatch  </a:t>
            </a:r>
            <a:r>
              <a:rPr sz="710" b="0" i="0">
                <a:solidFill>
                  <a:srgbClr val="C9D6F2"/>
                </a:solidFill>
                <a:latin typeface="Calibri"/>
              </a:rPr>
              <a:t>four-rung consent ladder</a:t>
            </a:r>
          </a:p>
        </p:txBody>
      </p:sp>
      <p:sp>
        <p:nvSpPr>
          <p:cNvPr id="35" name="Oval 34"/>
          <p:cNvSpPr/>
          <p:nvPr/>
        </p:nvSpPr>
        <p:spPr>
          <a:xfrm>
            <a:off x="694944" y="4773168"/>
            <a:ext cx="82296" cy="82296"/>
          </a:xfrm>
          <a:prstGeom prst="ellipse">
            <a:avLst/>
          </a:prstGeom>
          <a:solidFill>
            <a:srgbClr val="B0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4754880"/>
            <a:ext cx="3139440" cy="3063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69" b="1" i="0">
                <a:solidFill>
                  <a:srgbClr val="FFFFFF"/>
                </a:solidFill>
                <a:latin typeface="Calibri"/>
              </a:rPr>
              <a:t>Escalation Classifier  </a:t>
            </a:r>
            <a:r>
              <a:rPr sz="710" b="0" i="0">
                <a:solidFill>
                  <a:srgbClr val="C9D6F2"/>
                </a:solidFill>
                <a:latin typeface="Calibri"/>
              </a:rPr>
              <a:t>the ONE human handoff — fires only when consent/delivery can’t resolve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8160" y="1883664"/>
            <a:ext cx="3596640" cy="3310128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474464" y="1993392"/>
            <a:ext cx="3304032" cy="237744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 SEPARATE, REAL SERVICE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74464" y="2340864"/>
            <a:ext cx="3304032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02480" y="2450592"/>
            <a:ext cx="304800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00175A"/>
                </a:solidFill>
                <a:latin typeface="Calibri"/>
              </a:rPr>
              <a:t>Risk-scoring service</a:t>
            </a:r>
          </a:p>
          <a:p>
            <a:pPr algn="l"/>
            <a:r>
              <a:rPr sz="800" b="0" i="0">
                <a:solidFill>
                  <a:srgbClr val="6B7280"/>
                </a:solidFill>
                <a:latin typeface="Calibri"/>
              </a:rPr>
              <a:t>Python · gradient-boosted trees, trained on 7.9M real US + Brazil flights. Runs locally, real &amp; reachable today.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74464" y="3520440"/>
            <a:ext cx="3304032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02480" y="3630168"/>
            <a:ext cx="304800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Cloud deployment  </a:t>
            </a:r>
            <a:r>
              <a:rPr sz="800" b="1" i="1">
                <a:solidFill>
                  <a:srgbClr val="6B7280"/>
                </a:solidFill>
                <a:latin typeface="Calibri"/>
              </a:rPr>
              <a:t>(dashed)</a:t>
            </a:r>
          </a:p>
          <a:p>
            <a:pPr algn="l"/>
            <a:r>
              <a:rPr sz="800" b="0" i="0">
                <a:solidFill>
                  <a:srgbClr val="6B7280"/>
                </a:solidFill>
                <a:latin typeface="Calibri"/>
              </a:rPr>
              <a:t>Weekly retrain, built &amp; validated infra-as-code — never switched on. $140 credit reserved for demo week.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74464" y="4681728"/>
            <a:ext cx="330403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50" b="0" i="1">
                <a:solidFill>
                  <a:srgbClr val="6B7280"/>
                </a:solidFill>
                <a:latin typeface="Calibri"/>
              </a:rPr>
              <a:t>Contact: one network call. Either side can be down without crashing the other.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07680" y="1883664"/>
            <a:ext cx="3596640" cy="3310128"/>
          </a:xfrm>
          <a:prstGeom prst="roundRect">
            <a:avLst>
              <a:gd name="adj" fmla="val 5000"/>
            </a:avLst>
          </a:prstGeom>
          <a:solidFill>
            <a:srgbClr val="EDF1F8"/>
          </a:solidFill>
          <a:ln w="12700">
            <a:solidFill>
              <a:srgbClr val="D7DEEE"/>
            </a:solidFill>
          </a:ln>
          <a:effectLst/>
          <a:effectLst>
            <a:outerShdw blurRad="101600" dist="25400" dir="5400000" algn="bl" rotWithShape="0">
              <a:srgbClr val="1B2A5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253984" y="1993392"/>
            <a:ext cx="3304032" cy="237744"/>
          </a:xfrm>
          <a:prstGeom prst="roundRect">
            <a:avLst>
              <a:gd name="adj" fmla="val 50000"/>
            </a:avLst>
          </a:prstGeom>
          <a:solidFill>
            <a:srgbClr val="00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EXTERNAL SUPPLIERS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53984" y="2340864"/>
            <a:ext cx="3304032" cy="4709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63712" y="2386584"/>
            <a:ext cx="2545080" cy="3794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00175A"/>
                </a:solidFill>
                <a:latin typeface="Calibri"/>
              </a:rPr>
              <a:t>Duffel</a:t>
            </a:r>
          </a:p>
          <a:p>
            <a:pPr algn="l"/>
            <a:r>
              <a:rPr sz="720" b="0" i="0">
                <a:solidFill>
                  <a:srgbClr val="6B7280"/>
                </a:solidFill>
                <a:latin typeface="Calibri"/>
              </a:rPr>
              <a:t>flights — search + write, real cancel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744200" y="2441448"/>
            <a:ext cx="786384" cy="201168"/>
          </a:xfrm>
          <a:prstGeom prst="roundRect">
            <a:avLst>
              <a:gd name="adj" fmla="val 50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Calibri"/>
              </a:rPr>
              <a:t>wired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53984" y="2866644"/>
            <a:ext cx="3304032" cy="4709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63712" y="2912364"/>
            <a:ext cx="2545080" cy="3794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00175A"/>
                </a:solidFill>
                <a:latin typeface="Calibri"/>
              </a:rPr>
              <a:t>OAG</a:t>
            </a:r>
          </a:p>
          <a:p>
            <a:pPr algn="l"/>
            <a:r>
              <a:rPr sz="720" b="0" i="0">
                <a:solidFill>
                  <a:srgbClr val="6B7280"/>
                </a:solidFill>
                <a:latin typeface="Calibri"/>
              </a:rPr>
              <a:t>schedules — real, needs detection subscription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744200" y="2967228"/>
            <a:ext cx="786384" cy="201168"/>
          </a:xfrm>
          <a:prstGeom prst="roundRect">
            <a:avLst>
              <a:gd name="adj" fmla="val 50000"/>
            </a:avLst>
          </a:prstGeom>
          <a:solidFill>
            <a:srgbClr val="C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Calibri"/>
              </a:rPr>
              <a:t>wired (search)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53984" y="3392424"/>
            <a:ext cx="3304032" cy="4709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63712" y="3438144"/>
            <a:ext cx="2545080" cy="3794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00175A"/>
                </a:solidFill>
                <a:latin typeface="Calibri"/>
              </a:rPr>
              <a:t>Travelport</a:t>
            </a:r>
          </a:p>
          <a:p>
            <a:pPr algn="l"/>
            <a:r>
              <a:rPr sz="720" b="0" i="0">
                <a:solidFill>
                  <a:srgbClr val="6B7280"/>
                </a:solidFill>
                <a:latin typeface="Calibri"/>
              </a:rPr>
              <a:t>flights — sandbox, non-live inventory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744200" y="3493008"/>
            <a:ext cx="786384" cy="201168"/>
          </a:xfrm>
          <a:prstGeom prst="roundRect">
            <a:avLst>
              <a:gd name="adj" fmla="val 50000"/>
            </a:avLst>
          </a:prstGeom>
          <a:solidFill>
            <a:srgbClr val="C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Calibri"/>
              </a:rPr>
              <a:t>sandbox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253984" y="3918204"/>
            <a:ext cx="3304032" cy="4709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63712" y="3963924"/>
            <a:ext cx="2545080" cy="3794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00175A"/>
                </a:solidFill>
                <a:latin typeface="Calibri"/>
              </a:rPr>
              <a:t>LiteAPI</a:t>
            </a:r>
          </a:p>
          <a:p>
            <a:pPr algn="l"/>
            <a:r>
              <a:rPr sz="720" b="0" i="0">
                <a:solidFill>
                  <a:srgbClr val="6B7280"/>
                </a:solidFill>
                <a:latin typeface="Calibri"/>
              </a:rPr>
              <a:t>hotels — real, sandbox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744200" y="4018788"/>
            <a:ext cx="786384" cy="201168"/>
          </a:xfrm>
          <a:prstGeom prst="roundRect">
            <a:avLst>
              <a:gd name="adj" fmla="val 50000"/>
            </a:avLst>
          </a:prstGeom>
          <a:solidFill>
            <a:srgbClr val="C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Calibri"/>
              </a:rPr>
              <a:t>sandbox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253984" y="4443984"/>
            <a:ext cx="3304032" cy="4709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63712" y="4489704"/>
            <a:ext cx="2545080" cy="3794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00175A"/>
                </a:solidFill>
                <a:latin typeface="Calibri"/>
              </a:rPr>
              <a:t>Uber Sandbox</a:t>
            </a:r>
          </a:p>
          <a:p>
            <a:pPr algn="l"/>
            <a:r>
              <a:rPr sz="720" b="0" i="0">
                <a:solidFill>
                  <a:srgbClr val="6B7280"/>
                </a:solidFill>
                <a:latin typeface="Calibri"/>
              </a:rPr>
              <a:t>ground — real, cancel/rollback tested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744200" y="4544568"/>
            <a:ext cx="786384" cy="201168"/>
          </a:xfrm>
          <a:prstGeom prst="roundRect">
            <a:avLst>
              <a:gd name="adj" fmla="val 50000"/>
            </a:avLst>
          </a:prstGeom>
          <a:solidFill>
            <a:srgbClr val="C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000" rIns="30000" tIns="0" bIns="0" wrap="square">
            <a:no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Calibri"/>
              </a:rPr>
              <a:t>sandbox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48640" y="5321808"/>
            <a:ext cx="11155680" cy="347472"/>
          </a:xfrm>
          <a:prstGeom prst="roundRect">
            <a:avLst>
              <a:gd name="adj" fmla="val 5000"/>
            </a:avLst>
          </a:prstGeom>
          <a:solidFill>
            <a:srgbClr val="FBF3E2"/>
          </a:solidFill>
          <a:ln w="12700">
            <a:solidFill>
              <a:srgbClr val="EFDD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9808" y="5321808"/>
            <a:ext cx="10753344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10" b="1" i="0">
                <a:solidFill>
                  <a:srgbClr val="8A5A00"/>
                </a:solidFill>
                <a:latin typeface="Calibri"/>
              </a:rPr>
              <a:t>Critical path, ranked  </a:t>
            </a:r>
            <a:r>
              <a:rPr sz="910" b="0" i="0">
                <a:solidFill>
                  <a:srgbClr val="6B521E"/>
                </a:solidFill>
                <a:latin typeface="Calibri"/>
              </a:rPr>
              <a:t>flight-status push feed → booking API with real cancel → single-use payment credential → push transport. Weather/history improve lead time, not correctness.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8640" y="6528816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ZKD Concierge  ·  Team ZKD, IIT Madras  ·  Amex Codestreet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17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A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ASPECTS ·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Hackathon Build to Production-Ready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recovery engine already works end-to-end. Here's what we'd build next to take it into members' hands.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567178" cy="2514600"/>
          </a:xfrm>
          <a:prstGeom prst="roundRect">
            <a:avLst>
              <a:gd name="adj" fmla="val 3273"/>
            </a:avLst>
          </a:prstGeom>
          <a:solidFill>
            <a:srgbClr val="0B2160"/>
          </a:solidFill>
          <a:ln w="12700">
            <a:solidFill>
              <a:srgbClr val="2E459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03045" y="2551176"/>
            <a:ext cx="658368" cy="658368"/>
          </a:xfrm>
          <a:prstGeom prst="ellipse">
            <a:avLst/>
          </a:prstGeom>
          <a:solidFill>
            <a:srgbClr val="00A9E0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7" name="Image 0" descr="icons/handshake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8633" y="2636764"/>
            <a:ext cx="487192" cy="48719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3337560"/>
            <a:ext cx="220141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Airline &amp; Hotel Partnerships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49808" y="3977640"/>
            <a:ext cx="216484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sandbox test integrations to live, licensed booking partnerships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390138" y="2331720"/>
            <a:ext cx="2567178" cy="2514600"/>
          </a:xfrm>
          <a:prstGeom prst="roundRect">
            <a:avLst>
              <a:gd name="adj" fmla="val 3273"/>
            </a:avLst>
          </a:prstGeom>
          <a:solidFill>
            <a:srgbClr val="0B2160"/>
          </a:solidFill>
          <a:ln w="12700">
            <a:solidFill>
              <a:srgbClr val="2E459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344543" y="2551176"/>
            <a:ext cx="658368" cy="658368"/>
          </a:xfrm>
          <a:prstGeom prst="ellipse">
            <a:avLst/>
          </a:prstGeom>
          <a:solidFill>
            <a:srgbClr val="00A9E0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2" name="Image 1" descr="icons/gear_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131" y="2636764"/>
            <a:ext cx="487192" cy="48719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73018" y="3337560"/>
            <a:ext cx="220141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Reschedule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591306" y="3977640"/>
            <a:ext cx="216484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members reschedule their existing ticket directly, not just rebook a new one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231636" y="2331720"/>
            <a:ext cx="2567178" cy="2514600"/>
          </a:xfrm>
          <a:prstGeom prst="roundRect">
            <a:avLst>
              <a:gd name="adj" fmla="val 3273"/>
            </a:avLst>
          </a:prstGeom>
          <a:solidFill>
            <a:srgbClr val="0B2160"/>
          </a:solidFill>
          <a:ln w="12700">
            <a:solidFill>
              <a:srgbClr val="2E4590"/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7186041" y="2551176"/>
            <a:ext cx="658368" cy="658368"/>
          </a:xfrm>
          <a:prstGeom prst="ellipse">
            <a:avLst/>
          </a:prstGeom>
          <a:solidFill>
            <a:srgbClr val="00A9E0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7" name="Image 2" descr="icons/route_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1629" y="2636764"/>
            <a:ext cx="487192" cy="48719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14516" y="3337560"/>
            <a:ext cx="220141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Wider Disruption Coverage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432804" y="3977640"/>
            <a:ext cx="216484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beyond cancellations to delays, missed connections &amp; multi-city trips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9073134" y="2331720"/>
            <a:ext cx="2567178" cy="2514600"/>
          </a:xfrm>
          <a:prstGeom prst="roundRect">
            <a:avLst>
              <a:gd name="adj" fmla="val 3273"/>
            </a:avLst>
          </a:prstGeom>
          <a:solidFill>
            <a:srgbClr val="0B2160"/>
          </a:solidFill>
          <a:ln w="12700">
            <a:solidFill>
              <a:srgbClr val="2E4590"/>
            </a:solidFill>
            <a:prstDash val="solid"/>
          </a:ln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10027539" y="2551176"/>
            <a:ext cx="658368" cy="658368"/>
          </a:xfrm>
          <a:prstGeom prst="ellipse">
            <a:avLst/>
          </a:prstGeom>
          <a:solidFill>
            <a:srgbClr val="00A9E0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22" name="Image 3" descr="icons/brain_blu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127" y="2636764"/>
            <a:ext cx="487192" cy="48719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56014" y="3337560"/>
            <a:ext cx="220141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at Scale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9274302" y="3977640"/>
            <a:ext cx="216484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preference-learning loop across millions of members, improving every trip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548640" y="652881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ZKD Concierge  ·  Team ZKD, IIT Madras  ·  Amex Codestreet 2026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7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69680" y="-1828800"/>
            <a:ext cx="5943600" cy="5943600"/>
          </a:xfrm>
          <a:prstGeom prst="ellipse">
            <a:avLst/>
          </a:prstGeom>
          <a:solidFill>
            <a:srgbClr val="0B2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66960" y="-914400"/>
            <a:ext cx="3931920" cy="3931920"/>
          </a:xfrm>
          <a:prstGeom prst="ellipse">
            <a:avLst/>
          </a:prstGeom>
          <a:solidFill>
            <a:srgbClr val="081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00A9E0"/>
                </a:solidFill>
                <a:latin typeface="Calibri"/>
              </a:rPr>
              <a:t>AMERICAN EXPRESS CODESTREET 2026   ·   IIT MADRAS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822960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75895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0" i="1">
                <a:solidFill>
                  <a:srgbClr val="C9D6F2"/>
                </a:solidFill>
                <a:latin typeface="Calibri"/>
              </a:rPr>
              <a:t>Built end-to-end, run live, and honest about what still needs a human — for now.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3520440"/>
            <a:ext cx="3749040" cy="0"/>
          </a:xfrm>
          <a:prstGeom prst="line">
            <a:avLst/>
          </a:prstGeom>
          <a:ln w="12700">
            <a:solidFill>
              <a:srgbClr val="354E9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794760"/>
            <a:ext cx="25146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1" i="0">
                <a:solidFill>
                  <a:srgbClr val="00A9E0"/>
                </a:solidFill>
                <a:latin typeface="Cambria"/>
              </a:rPr>
              <a:t>69.57%</a:t>
            </a:r>
          </a:p>
          <a:p>
            <a:pPr algn="l"/>
            <a:r>
              <a:rPr sz="900" b="0" i="0">
                <a:solidFill>
                  <a:srgbClr val="B9C6E8"/>
                </a:solidFill>
                <a:latin typeface="Calibri"/>
              </a:rPr>
              <a:t>modelled same-day recovery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4408" y="3794760"/>
            <a:ext cx="25146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1" i="0">
                <a:solidFill>
                  <a:srgbClr val="00A9E0"/>
                </a:solidFill>
                <a:latin typeface="Cambria"/>
              </a:rPr>
              <a:t>7.89M</a:t>
            </a:r>
          </a:p>
          <a:p>
            <a:pPr algn="l"/>
            <a:r>
              <a:rPr sz="900" b="0" i="0">
                <a:solidFill>
                  <a:srgbClr val="B9C6E8"/>
                </a:solidFill>
                <a:latin typeface="Calibri"/>
              </a:rPr>
              <a:t>real flights trained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0176" y="3794760"/>
            <a:ext cx="25146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1" i="0">
                <a:solidFill>
                  <a:srgbClr val="00A9E0"/>
                </a:solidFill>
                <a:latin typeface="Cambria"/>
              </a:rPr>
              <a:t>4</a:t>
            </a:r>
          </a:p>
          <a:p>
            <a:pPr algn="l"/>
            <a:r>
              <a:rPr sz="900" b="0" i="0">
                <a:solidFill>
                  <a:srgbClr val="B9C6E8"/>
                </a:solidFill>
                <a:latin typeface="Calibri"/>
              </a:rPr>
              <a:t>independent detection channels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95944" y="3794760"/>
            <a:ext cx="25146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1" i="0">
                <a:solidFill>
                  <a:srgbClr val="00A9E0"/>
                </a:solidFill>
                <a:latin typeface="Cambria"/>
              </a:rPr>
              <a:t>0 humans</a:t>
            </a:r>
          </a:p>
          <a:p>
            <a:pPr algn="l"/>
            <a:r>
              <a:rPr sz="900" b="0" i="0">
                <a:solidFill>
                  <a:srgbClr val="B9C6E8"/>
                </a:solidFill>
                <a:latin typeface="Calibri"/>
              </a:rPr>
              <a:t>in the critical path, by default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7C8FC7"/>
                </a:solidFill>
                <a:latin typeface="Calibri"/>
              </a:rPr>
              <a:t>TEAM ZKD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28816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ZKD Concierge  ·  Team ZKD, IIT Madras  ·  Amex Codestreet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2026-08-23T12:35:06Z</dcterms:created>
  <dcterms:modified xsi:type="dcterms:W3CDTF">2026-08-23T12:35:06Z</dcterms:modified>
</cp:coreProperties>
</file>